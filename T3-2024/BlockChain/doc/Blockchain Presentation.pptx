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1" r:id="rId4"/>
  </p:sldMasterIdLst>
  <p:sldIdLst>
    <p:sldId id="256" r:id="rId5"/>
    <p:sldId id="268" r:id="rId6"/>
    <p:sldId id="258" r:id="rId7"/>
    <p:sldId id="287" r:id="rId8"/>
    <p:sldId id="275" r:id="rId9"/>
    <p:sldId id="276" r:id="rId10"/>
    <p:sldId id="269" r:id="rId11"/>
    <p:sldId id="257" r:id="rId12"/>
    <p:sldId id="285" r:id="rId13"/>
    <p:sldId id="297" r:id="rId14"/>
    <p:sldId id="286" r:id="rId15"/>
    <p:sldId id="259" r:id="rId16"/>
    <p:sldId id="279" r:id="rId17"/>
    <p:sldId id="290" r:id="rId18"/>
    <p:sldId id="293" r:id="rId19"/>
    <p:sldId id="291" r:id="rId20"/>
    <p:sldId id="295" r:id="rId21"/>
    <p:sldId id="298" r:id="rId22"/>
    <p:sldId id="299" r:id="rId23"/>
    <p:sldId id="292" r:id="rId24"/>
    <p:sldId id="288" r:id="rId25"/>
    <p:sldId id="289" r:id="rId26"/>
    <p:sldId id="263" r:id="rId27"/>
    <p:sldId id="27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2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606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887" y="284176"/>
            <a:ext cx="7930112" cy="150876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559" y="268714"/>
            <a:ext cx="3061446" cy="155209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-65504" y="1354073"/>
            <a:ext cx="30700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800" b="1" dirty="0"/>
              <a:t>©  All rights</a:t>
            </a:r>
            <a:r>
              <a:rPr lang="en-MY" sz="800" b="1" baseline="0" dirty="0"/>
              <a:t> reserved with Tarique A Bhuiyan, strictly confidential</a:t>
            </a:r>
            <a:endParaRPr lang="en-MY" sz="800" b="1" dirty="0"/>
          </a:p>
        </p:txBody>
      </p:sp>
    </p:spTree>
    <p:extLst>
      <p:ext uri="{BB962C8B-B14F-4D97-AF65-F5344CB8AC3E}">
        <p14:creationId xmlns:p14="http://schemas.microsoft.com/office/powerpoint/2010/main" val="1595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525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21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18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5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932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72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62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50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9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31037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88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Relationship Id="rId9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28" y="766474"/>
            <a:ext cx="7218730" cy="365975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7548" y="4426224"/>
            <a:ext cx="5460017" cy="2041820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en-AU" b="1" dirty="0">
                <a:solidFill>
                  <a:srgbClr val="002060"/>
                </a:solidFill>
              </a:rPr>
              <a:t>Presented @ Blockchain Seminar @ Deakin University</a:t>
            </a:r>
          </a:p>
          <a:p>
            <a:pPr algn="r"/>
            <a:r>
              <a:rPr lang="en-AU" b="1" dirty="0">
                <a:solidFill>
                  <a:srgbClr val="002060"/>
                </a:solidFill>
              </a:rPr>
              <a:t>Presented By </a:t>
            </a:r>
          </a:p>
          <a:p>
            <a:pPr algn="r"/>
            <a:r>
              <a:rPr lang="en-AU" b="1" dirty="0">
                <a:solidFill>
                  <a:srgbClr val="002060"/>
                </a:solidFill>
              </a:rPr>
              <a:t>Tarique A Bhuiyan</a:t>
            </a:r>
          </a:p>
          <a:p>
            <a:pPr algn="r"/>
            <a:r>
              <a:rPr lang="en-AU" b="1" dirty="0">
                <a:solidFill>
                  <a:srgbClr val="002060"/>
                </a:solidFill>
              </a:rPr>
              <a:t>Founder, CEO &amp; CTO</a:t>
            </a:r>
          </a:p>
          <a:p>
            <a:pPr algn="r"/>
            <a:r>
              <a:rPr lang="en-AU" b="1" dirty="0">
                <a:solidFill>
                  <a:srgbClr val="002060"/>
                </a:solidFill>
              </a:rPr>
              <a:t>Hashkloud Pty Ltd</a:t>
            </a:r>
          </a:p>
          <a:p>
            <a:pPr algn="r"/>
            <a:r>
              <a:rPr lang="en-AU" b="1" dirty="0">
                <a:solidFill>
                  <a:srgbClr val="002060"/>
                </a:solidFill>
              </a:rPr>
              <a:t>Dec 05, 2017 </a:t>
            </a:r>
          </a:p>
        </p:txBody>
      </p:sp>
    </p:spTree>
    <p:extLst>
      <p:ext uri="{BB962C8B-B14F-4D97-AF65-F5344CB8AC3E}">
        <p14:creationId xmlns:p14="http://schemas.microsoft.com/office/powerpoint/2010/main" val="110791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3299794"/>
            <a:ext cx="5168348" cy="1739347"/>
          </a:xfrm>
        </p:spPr>
        <p:txBody>
          <a:bodyPr>
            <a:normAutofit fontScale="90000"/>
          </a:bodyPr>
          <a:lstStyle/>
          <a:p>
            <a:r>
              <a:rPr lang="en-AU" sz="5400" b="1" dirty="0">
                <a:solidFill>
                  <a:srgbClr val="002060"/>
                </a:solidFill>
              </a:rPr>
              <a:t>A brief history of bitcoin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8348" y="3299794"/>
            <a:ext cx="7023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sz="2400" b="1" dirty="0">
                <a:solidFill>
                  <a:srgbClr val="002060"/>
                </a:solidFill>
              </a:rPr>
              <a:t>Origins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sz="2400" b="1" dirty="0">
                <a:solidFill>
                  <a:srgbClr val="002060"/>
                </a:solidFill>
              </a:rPr>
              <a:t>Bitcoin vs Other Crypto-currencies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96" y="-96400"/>
            <a:ext cx="4930490" cy="249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4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6340904" y="3170581"/>
            <a:ext cx="3733800" cy="4254720"/>
            <a:chOff x="6340904" y="3170581"/>
            <a:chExt cx="3733800" cy="4254720"/>
          </a:xfrm>
        </p:grpSpPr>
        <p:grpSp>
          <p:nvGrpSpPr>
            <p:cNvPr id="19" name="Group 18"/>
            <p:cNvGrpSpPr/>
            <p:nvPr/>
          </p:nvGrpSpPr>
          <p:grpSpPr>
            <a:xfrm>
              <a:off x="6340904" y="3691501"/>
              <a:ext cx="3733800" cy="3733800"/>
              <a:chOff x="4495800" y="1219200"/>
              <a:chExt cx="3733800" cy="3733800"/>
            </a:xfrm>
            <a:solidFill>
              <a:schemeClr val="tx1">
                <a:lumMod val="20000"/>
                <a:lumOff val="80000"/>
              </a:schemeClr>
            </a:solidFill>
            <a:effectLst/>
            <a:scene3d>
              <a:camera prst="perspectiveRelaxedModerately">
                <a:rot lat="19190633" lon="0" rev="0"/>
              </a:camera>
              <a:lightRig rig="flat" dir="t"/>
            </a:scene3d>
          </p:grpSpPr>
          <p:sp>
            <p:nvSpPr>
              <p:cNvPr id="20" name="Oval 19"/>
              <p:cNvSpPr/>
              <p:nvPr/>
            </p:nvSpPr>
            <p:spPr>
              <a:xfrm>
                <a:off x="4495800" y="1219200"/>
                <a:ext cx="3733800" cy="3733800"/>
              </a:xfrm>
              <a:prstGeom prst="ellipse">
                <a:avLst/>
              </a:prstGeom>
              <a:grpFill/>
              <a:ln>
                <a:noFill/>
              </a:ln>
              <a:sp3d extrusionH="127000" prstMaterial="clear">
                <a:extrusionClr>
                  <a:schemeClr val="bg2">
                    <a:lumMod val="50000"/>
                  </a:schemeClr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1" name="Oval 20"/>
              <p:cNvSpPr>
                <a:spLocks noChangeAspect="1"/>
              </p:cNvSpPr>
              <p:nvPr/>
            </p:nvSpPr>
            <p:spPr>
              <a:xfrm>
                <a:off x="4682490" y="1405890"/>
                <a:ext cx="3360420" cy="3360420"/>
              </a:xfrm>
              <a:prstGeom prst="ellipse">
                <a:avLst/>
              </a:prstGeom>
              <a:grpFill/>
              <a:ln>
                <a:noFill/>
              </a:ln>
              <a:sp3d extrusionH="127000" prstMaterial="clear">
                <a:extrusionClr>
                  <a:schemeClr val="bg2">
                    <a:lumMod val="50000"/>
                  </a:schemeClr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2" name="Oval 21"/>
              <p:cNvSpPr>
                <a:spLocks noChangeAspect="1"/>
              </p:cNvSpPr>
              <p:nvPr/>
            </p:nvSpPr>
            <p:spPr>
              <a:xfrm>
                <a:off x="4850511" y="1573911"/>
                <a:ext cx="3024378" cy="3024378"/>
              </a:xfrm>
              <a:prstGeom prst="ellipse">
                <a:avLst/>
              </a:prstGeom>
              <a:grpFill/>
              <a:ln>
                <a:noFill/>
              </a:ln>
              <a:sp3d extrusionH="127000" prstMaterial="clear">
                <a:extrusionClr>
                  <a:schemeClr val="bg2">
                    <a:lumMod val="50000"/>
                  </a:schemeClr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3" name="Oval 22"/>
              <p:cNvSpPr>
                <a:spLocks noChangeAspect="1"/>
              </p:cNvSpPr>
              <p:nvPr/>
            </p:nvSpPr>
            <p:spPr>
              <a:xfrm>
                <a:off x="5001730" y="1725130"/>
                <a:ext cx="2721940" cy="2721940"/>
              </a:xfrm>
              <a:prstGeom prst="ellipse">
                <a:avLst/>
              </a:prstGeom>
              <a:grpFill/>
              <a:ln>
                <a:noFill/>
              </a:ln>
              <a:sp3d extrusionH="127000" prstMaterial="clear">
                <a:extrusionClr>
                  <a:schemeClr val="bg2">
                    <a:lumMod val="50000"/>
                  </a:schemeClr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4" name="Oval 23"/>
              <p:cNvSpPr>
                <a:spLocks noChangeAspect="1"/>
              </p:cNvSpPr>
              <p:nvPr/>
            </p:nvSpPr>
            <p:spPr>
              <a:xfrm>
                <a:off x="5137827" y="1861227"/>
                <a:ext cx="2449746" cy="2449746"/>
              </a:xfrm>
              <a:prstGeom prst="ellipse">
                <a:avLst/>
              </a:prstGeom>
              <a:grpFill/>
              <a:ln>
                <a:noFill/>
              </a:ln>
              <a:sp3d extrusionH="127000" prstMaterial="clear">
                <a:extrusionClr>
                  <a:schemeClr val="bg2">
                    <a:lumMod val="50000"/>
                  </a:schemeClr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5" name="Oval 24"/>
              <p:cNvSpPr>
                <a:spLocks noChangeAspect="1"/>
              </p:cNvSpPr>
              <p:nvPr/>
            </p:nvSpPr>
            <p:spPr>
              <a:xfrm>
                <a:off x="5260315" y="1983715"/>
                <a:ext cx="2204771" cy="2204771"/>
              </a:xfrm>
              <a:prstGeom prst="ellipse">
                <a:avLst/>
              </a:prstGeom>
              <a:grpFill/>
              <a:ln>
                <a:noFill/>
              </a:ln>
              <a:sp3d extrusionH="127000" prstMaterial="clear">
                <a:extrusionClr>
                  <a:schemeClr val="bg2">
                    <a:lumMod val="50000"/>
                  </a:schemeClr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 dirty="0"/>
              </a:p>
            </p:txBody>
          </p:sp>
          <p:sp>
            <p:nvSpPr>
              <p:cNvPr id="26" name="Oval 25"/>
              <p:cNvSpPr>
                <a:spLocks noChangeAspect="1"/>
              </p:cNvSpPr>
              <p:nvPr/>
            </p:nvSpPr>
            <p:spPr>
              <a:xfrm>
                <a:off x="5767412" y="2490812"/>
                <a:ext cx="1190576" cy="1190576"/>
              </a:xfrm>
              <a:prstGeom prst="ellipse">
                <a:avLst/>
              </a:prstGeom>
              <a:grpFill/>
              <a:ln>
                <a:noFill/>
              </a:ln>
              <a:sp3d extrusionH="127000" prstMaterial="clear">
                <a:extrusionClr>
                  <a:schemeClr val="bg2">
                    <a:lumMod val="50000"/>
                  </a:schemeClr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 dirty="0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050675" y="3170581"/>
              <a:ext cx="2619877" cy="2547060"/>
              <a:chOff x="2191777" y="3208923"/>
              <a:chExt cx="2619877" cy="2547060"/>
            </a:xfrm>
          </p:grpSpPr>
          <p:pic>
            <p:nvPicPr>
              <p:cNvPr id="4" name="Picture 3" descr="question mark gold.png"/>
              <p:cNvPicPr>
                <a:picLocks noChangeAspect="1"/>
              </p:cNvPicPr>
              <p:nvPr/>
            </p:nvPicPr>
            <p:blipFill>
              <a:blip r:embed="rId2" cstate="email"/>
              <a:srcRect/>
              <a:stretch>
                <a:fillRect/>
              </a:stretch>
            </p:blipFill>
            <p:spPr>
              <a:xfrm>
                <a:off x="2191777" y="3208923"/>
                <a:ext cx="2619877" cy="1955135"/>
              </a:xfrm>
              <a:prstGeom prst="rect">
                <a:avLst/>
              </a:prstGeom>
              <a:noFill/>
            </p:spPr>
          </p:pic>
          <p:sp>
            <p:nvSpPr>
              <p:cNvPr id="5" name="Freeform 4"/>
              <p:cNvSpPr>
                <a:spLocks noEditPoints="1"/>
              </p:cNvSpPr>
              <p:nvPr/>
            </p:nvSpPr>
            <p:spPr bwMode="auto">
              <a:xfrm>
                <a:off x="2969930" y="3733081"/>
                <a:ext cx="624549" cy="2022902"/>
              </a:xfrm>
              <a:custGeom>
                <a:avLst/>
                <a:gdLst/>
                <a:ahLst/>
                <a:cxnLst>
                  <a:cxn ang="0">
                    <a:pos x="249" y="226"/>
                  </a:cxn>
                  <a:cxn ang="0">
                    <a:pos x="243" y="172"/>
                  </a:cxn>
                  <a:cxn ang="0">
                    <a:pos x="238" y="145"/>
                  </a:cxn>
                  <a:cxn ang="0">
                    <a:pos x="218" y="127"/>
                  </a:cxn>
                  <a:cxn ang="0">
                    <a:pos x="171" y="109"/>
                  </a:cxn>
                  <a:cxn ang="0">
                    <a:pos x="154" y="97"/>
                  </a:cxn>
                  <a:cxn ang="0">
                    <a:pos x="146" y="75"/>
                  </a:cxn>
                  <a:cxn ang="0">
                    <a:pos x="151" y="49"/>
                  </a:cxn>
                  <a:cxn ang="0">
                    <a:pos x="94" y="6"/>
                  </a:cxn>
                  <a:cxn ang="0">
                    <a:pos x="72" y="68"/>
                  </a:cxn>
                  <a:cxn ang="0">
                    <a:pos x="84" y="96"/>
                  </a:cxn>
                  <a:cxn ang="0">
                    <a:pos x="89" y="124"/>
                  </a:cxn>
                  <a:cxn ang="0">
                    <a:pos x="63" y="151"/>
                  </a:cxn>
                  <a:cxn ang="0">
                    <a:pos x="44" y="169"/>
                  </a:cxn>
                  <a:cxn ang="0">
                    <a:pos x="38" y="200"/>
                  </a:cxn>
                  <a:cxn ang="0">
                    <a:pos x="35" y="256"/>
                  </a:cxn>
                  <a:cxn ang="0">
                    <a:pos x="31" y="289"/>
                  </a:cxn>
                  <a:cxn ang="0">
                    <a:pos x="23" y="316"/>
                  </a:cxn>
                  <a:cxn ang="0">
                    <a:pos x="24" y="344"/>
                  </a:cxn>
                  <a:cxn ang="0">
                    <a:pos x="12" y="370"/>
                  </a:cxn>
                  <a:cxn ang="0">
                    <a:pos x="0" y="415"/>
                  </a:cxn>
                  <a:cxn ang="0">
                    <a:pos x="23" y="413"/>
                  </a:cxn>
                  <a:cxn ang="0">
                    <a:pos x="31" y="463"/>
                  </a:cxn>
                  <a:cxn ang="0">
                    <a:pos x="50" y="612"/>
                  </a:cxn>
                  <a:cxn ang="0">
                    <a:pos x="69" y="686"/>
                  </a:cxn>
                  <a:cxn ang="0">
                    <a:pos x="83" y="753"/>
                  </a:cxn>
                  <a:cxn ang="0">
                    <a:pos x="90" y="777"/>
                  </a:cxn>
                  <a:cxn ang="0">
                    <a:pos x="86" y="785"/>
                  </a:cxn>
                  <a:cxn ang="0">
                    <a:pos x="64" y="791"/>
                  </a:cxn>
                  <a:cxn ang="0">
                    <a:pos x="42" y="803"/>
                  </a:cxn>
                  <a:cxn ang="0">
                    <a:pos x="42" y="810"/>
                  </a:cxn>
                  <a:cxn ang="0">
                    <a:pos x="78" y="817"/>
                  </a:cxn>
                  <a:cxn ang="0">
                    <a:pos x="121" y="804"/>
                  </a:cxn>
                  <a:cxn ang="0">
                    <a:pos x="141" y="810"/>
                  </a:cxn>
                  <a:cxn ang="0">
                    <a:pos x="171" y="804"/>
                  </a:cxn>
                  <a:cxn ang="0">
                    <a:pos x="171" y="813"/>
                  </a:cxn>
                  <a:cxn ang="0">
                    <a:pos x="161" y="826"/>
                  </a:cxn>
                  <a:cxn ang="0">
                    <a:pos x="152" y="838"/>
                  </a:cxn>
                  <a:cxn ang="0">
                    <a:pos x="176" y="849"/>
                  </a:cxn>
                  <a:cxn ang="0">
                    <a:pos x="226" y="836"/>
                  </a:cxn>
                  <a:cxn ang="0">
                    <a:pos x="228" y="810"/>
                  </a:cxn>
                  <a:cxn ang="0">
                    <a:pos x="231" y="792"/>
                  </a:cxn>
                  <a:cxn ang="0">
                    <a:pos x="221" y="748"/>
                  </a:cxn>
                  <a:cxn ang="0">
                    <a:pos x="221" y="680"/>
                  </a:cxn>
                  <a:cxn ang="0">
                    <a:pos x="210" y="593"/>
                  </a:cxn>
                  <a:cxn ang="0">
                    <a:pos x="205" y="474"/>
                  </a:cxn>
                  <a:cxn ang="0">
                    <a:pos x="202" y="415"/>
                  </a:cxn>
                  <a:cxn ang="0">
                    <a:pos x="218" y="397"/>
                  </a:cxn>
                  <a:cxn ang="0">
                    <a:pos x="231" y="379"/>
                  </a:cxn>
                  <a:cxn ang="0">
                    <a:pos x="235" y="362"/>
                  </a:cxn>
                  <a:cxn ang="0">
                    <a:pos x="250" y="312"/>
                  </a:cxn>
                  <a:cxn ang="0">
                    <a:pos x="150" y="695"/>
                  </a:cxn>
                  <a:cxn ang="0">
                    <a:pos x="141" y="608"/>
                  </a:cxn>
                  <a:cxn ang="0">
                    <a:pos x="145" y="596"/>
                  </a:cxn>
                  <a:cxn ang="0">
                    <a:pos x="152" y="647"/>
                  </a:cxn>
                  <a:cxn ang="0">
                    <a:pos x="159" y="722"/>
                  </a:cxn>
                  <a:cxn ang="0">
                    <a:pos x="157" y="744"/>
                  </a:cxn>
                  <a:cxn ang="0">
                    <a:pos x="160" y="746"/>
                  </a:cxn>
                  <a:cxn ang="0">
                    <a:pos x="170" y="798"/>
                  </a:cxn>
                  <a:cxn ang="0">
                    <a:pos x="167" y="783"/>
                  </a:cxn>
                </a:cxnLst>
                <a:rect l="0" t="0" r="r" b="b"/>
                <a:pathLst>
                  <a:path w="258" h="850">
                    <a:moveTo>
                      <a:pt x="258" y="276"/>
                    </a:moveTo>
                    <a:cubicBezTo>
                      <a:pt x="258" y="274"/>
                      <a:pt x="257" y="270"/>
                      <a:pt x="257" y="266"/>
                    </a:cubicBezTo>
                    <a:cubicBezTo>
                      <a:pt x="257" y="262"/>
                      <a:pt x="256" y="259"/>
                      <a:pt x="256" y="256"/>
                    </a:cubicBezTo>
                    <a:cubicBezTo>
                      <a:pt x="255" y="254"/>
                      <a:pt x="253" y="246"/>
                      <a:pt x="253" y="244"/>
                    </a:cubicBezTo>
                    <a:cubicBezTo>
                      <a:pt x="252" y="242"/>
                      <a:pt x="252" y="239"/>
                      <a:pt x="251" y="237"/>
                    </a:cubicBezTo>
                    <a:cubicBezTo>
                      <a:pt x="250" y="234"/>
                      <a:pt x="249" y="227"/>
                      <a:pt x="249" y="226"/>
                    </a:cubicBezTo>
                    <a:cubicBezTo>
                      <a:pt x="249" y="225"/>
                      <a:pt x="250" y="222"/>
                      <a:pt x="250" y="221"/>
                    </a:cubicBezTo>
                    <a:cubicBezTo>
                      <a:pt x="250" y="219"/>
                      <a:pt x="250" y="214"/>
                      <a:pt x="250" y="210"/>
                    </a:cubicBezTo>
                    <a:cubicBezTo>
                      <a:pt x="250" y="206"/>
                      <a:pt x="250" y="204"/>
                      <a:pt x="249" y="200"/>
                    </a:cubicBezTo>
                    <a:cubicBezTo>
                      <a:pt x="249" y="196"/>
                      <a:pt x="247" y="188"/>
                      <a:pt x="246" y="186"/>
                    </a:cubicBezTo>
                    <a:cubicBezTo>
                      <a:pt x="246" y="183"/>
                      <a:pt x="245" y="181"/>
                      <a:pt x="244" y="179"/>
                    </a:cubicBezTo>
                    <a:cubicBezTo>
                      <a:pt x="244" y="177"/>
                      <a:pt x="243" y="173"/>
                      <a:pt x="243" y="172"/>
                    </a:cubicBezTo>
                    <a:cubicBezTo>
                      <a:pt x="243" y="171"/>
                      <a:pt x="243" y="168"/>
                      <a:pt x="243" y="167"/>
                    </a:cubicBezTo>
                    <a:cubicBezTo>
                      <a:pt x="242" y="166"/>
                      <a:pt x="242" y="164"/>
                      <a:pt x="242" y="164"/>
                    </a:cubicBezTo>
                    <a:cubicBezTo>
                      <a:pt x="242" y="163"/>
                      <a:pt x="242" y="161"/>
                      <a:pt x="241" y="159"/>
                    </a:cubicBezTo>
                    <a:cubicBezTo>
                      <a:pt x="241" y="158"/>
                      <a:pt x="241" y="158"/>
                      <a:pt x="241" y="157"/>
                    </a:cubicBezTo>
                    <a:cubicBezTo>
                      <a:pt x="241" y="156"/>
                      <a:pt x="240" y="153"/>
                      <a:pt x="240" y="151"/>
                    </a:cubicBezTo>
                    <a:cubicBezTo>
                      <a:pt x="239" y="148"/>
                      <a:pt x="238" y="146"/>
                      <a:pt x="238" y="145"/>
                    </a:cubicBezTo>
                    <a:cubicBezTo>
                      <a:pt x="238" y="144"/>
                      <a:pt x="237" y="142"/>
                      <a:pt x="237" y="140"/>
                    </a:cubicBezTo>
                    <a:cubicBezTo>
                      <a:pt x="236" y="139"/>
                      <a:pt x="235" y="138"/>
                      <a:pt x="234" y="136"/>
                    </a:cubicBezTo>
                    <a:cubicBezTo>
                      <a:pt x="233" y="135"/>
                      <a:pt x="230" y="133"/>
                      <a:pt x="230" y="132"/>
                    </a:cubicBezTo>
                    <a:cubicBezTo>
                      <a:pt x="229" y="132"/>
                      <a:pt x="227" y="130"/>
                      <a:pt x="226" y="130"/>
                    </a:cubicBezTo>
                    <a:cubicBezTo>
                      <a:pt x="225" y="130"/>
                      <a:pt x="225" y="130"/>
                      <a:pt x="224" y="129"/>
                    </a:cubicBezTo>
                    <a:cubicBezTo>
                      <a:pt x="223" y="128"/>
                      <a:pt x="219" y="127"/>
                      <a:pt x="218" y="127"/>
                    </a:cubicBezTo>
                    <a:cubicBezTo>
                      <a:pt x="216" y="127"/>
                      <a:pt x="215" y="126"/>
                      <a:pt x="213" y="125"/>
                    </a:cubicBezTo>
                    <a:cubicBezTo>
                      <a:pt x="212" y="124"/>
                      <a:pt x="203" y="122"/>
                      <a:pt x="199" y="120"/>
                    </a:cubicBezTo>
                    <a:cubicBezTo>
                      <a:pt x="195" y="118"/>
                      <a:pt x="187" y="115"/>
                      <a:pt x="185" y="114"/>
                    </a:cubicBezTo>
                    <a:cubicBezTo>
                      <a:pt x="182" y="112"/>
                      <a:pt x="177" y="111"/>
                      <a:pt x="176" y="111"/>
                    </a:cubicBezTo>
                    <a:cubicBezTo>
                      <a:pt x="174" y="110"/>
                      <a:pt x="172" y="110"/>
                      <a:pt x="172" y="110"/>
                    </a:cubicBezTo>
                    <a:cubicBezTo>
                      <a:pt x="171" y="110"/>
                      <a:pt x="171" y="109"/>
                      <a:pt x="171" y="109"/>
                    </a:cubicBezTo>
                    <a:cubicBezTo>
                      <a:pt x="171" y="108"/>
                      <a:pt x="170" y="108"/>
                      <a:pt x="169" y="108"/>
                    </a:cubicBezTo>
                    <a:cubicBezTo>
                      <a:pt x="169" y="108"/>
                      <a:pt x="168" y="108"/>
                      <a:pt x="167" y="107"/>
                    </a:cubicBezTo>
                    <a:cubicBezTo>
                      <a:pt x="166" y="107"/>
                      <a:pt x="165" y="105"/>
                      <a:pt x="164" y="104"/>
                    </a:cubicBezTo>
                    <a:cubicBezTo>
                      <a:pt x="162" y="102"/>
                      <a:pt x="160" y="100"/>
                      <a:pt x="160" y="99"/>
                    </a:cubicBezTo>
                    <a:cubicBezTo>
                      <a:pt x="159" y="98"/>
                      <a:pt x="159" y="97"/>
                      <a:pt x="158" y="97"/>
                    </a:cubicBezTo>
                    <a:cubicBezTo>
                      <a:pt x="156" y="97"/>
                      <a:pt x="155" y="97"/>
                      <a:pt x="154" y="97"/>
                    </a:cubicBezTo>
                    <a:cubicBezTo>
                      <a:pt x="154" y="97"/>
                      <a:pt x="153" y="97"/>
                      <a:pt x="153" y="96"/>
                    </a:cubicBezTo>
                    <a:cubicBezTo>
                      <a:pt x="152" y="95"/>
                      <a:pt x="151" y="93"/>
                      <a:pt x="150" y="91"/>
                    </a:cubicBezTo>
                    <a:cubicBezTo>
                      <a:pt x="149" y="89"/>
                      <a:pt x="149" y="90"/>
                      <a:pt x="149" y="89"/>
                    </a:cubicBezTo>
                    <a:cubicBezTo>
                      <a:pt x="148" y="88"/>
                      <a:pt x="147" y="87"/>
                      <a:pt x="147" y="87"/>
                    </a:cubicBezTo>
                    <a:cubicBezTo>
                      <a:pt x="146" y="87"/>
                      <a:pt x="146" y="87"/>
                      <a:pt x="146" y="85"/>
                    </a:cubicBezTo>
                    <a:cubicBezTo>
                      <a:pt x="146" y="84"/>
                      <a:pt x="146" y="76"/>
                      <a:pt x="146" y="75"/>
                    </a:cubicBezTo>
                    <a:cubicBezTo>
                      <a:pt x="146" y="74"/>
                      <a:pt x="146" y="74"/>
                      <a:pt x="146" y="73"/>
                    </a:cubicBezTo>
                    <a:cubicBezTo>
                      <a:pt x="147" y="73"/>
                      <a:pt x="147" y="73"/>
                      <a:pt x="148" y="72"/>
                    </a:cubicBezTo>
                    <a:cubicBezTo>
                      <a:pt x="149" y="70"/>
                      <a:pt x="150" y="68"/>
                      <a:pt x="150" y="67"/>
                    </a:cubicBezTo>
                    <a:cubicBezTo>
                      <a:pt x="151" y="66"/>
                      <a:pt x="152" y="64"/>
                      <a:pt x="152" y="62"/>
                    </a:cubicBezTo>
                    <a:cubicBezTo>
                      <a:pt x="152" y="60"/>
                      <a:pt x="153" y="56"/>
                      <a:pt x="153" y="54"/>
                    </a:cubicBezTo>
                    <a:cubicBezTo>
                      <a:pt x="153" y="52"/>
                      <a:pt x="152" y="50"/>
                      <a:pt x="151" y="49"/>
                    </a:cubicBezTo>
                    <a:cubicBezTo>
                      <a:pt x="151" y="48"/>
                      <a:pt x="151" y="47"/>
                      <a:pt x="150" y="46"/>
                    </a:cubicBezTo>
                    <a:cubicBezTo>
                      <a:pt x="150" y="45"/>
                      <a:pt x="148" y="45"/>
                      <a:pt x="147" y="45"/>
                    </a:cubicBezTo>
                    <a:cubicBezTo>
                      <a:pt x="147" y="45"/>
                      <a:pt x="147" y="45"/>
                      <a:pt x="147" y="43"/>
                    </a:cubicBezTo>
                    <a:cubicBezTo>
                      <a:pt x="147" y="41"/>
                      <a:pt x="146" y="33"/>
                      <a:pt x="144" y="30"/>
                    </a:cubicBezTo>
                    <a:cubicBezTo>
                      <a:pt x="139" y="16"/>
                      <a:pt x="130" y="9"/>
                      <a:pt x="121" y="4"/>
                    </a:cubicBezTo>
                    <a:cubicBezTo>
                      <a:pt x="112" y="0"/>
                      <a:pt x="99" y="4"/>
                      <a:pt x="94" y="6"/>
                    </a:cubicBezTo>
                    <a:cubicBezTo>
                      <a:pt x="89" y="9"/>
                      <a:pt x="76" y="15"/>
                      <a:pt x="72" y="24"/>
                    </a:cubicBezTo>
                    <a:cubicBezTo>
                      <a:pt x="68" y="34"/>
                      <a:pt x="72" y="49"/>
                      <a:pt x="73" y="51"/>
                    </a:cubicBezTo>
                    <a:cubicBezTo>
                      <a:pt x="73" y="54"/>
                      <a:pt x="73" y="54"/>
                      <a:pt x="72" y="54"/>
                    </a:cubicBezTo>
                    <a:cubicBezTo>
                      <a:pt x="71" y="54"/>
                      <a:pt x="71" y="55"/>
                      <a:pt x="71" y="56"/>
                    </a:cubicBezTo>
                    <a:cubicBezTo>
                      <a:pt x="71" y="57"/>
                      <a:pt x="71" y="59"/>
                      <a:pt x="71" y="61"/>
                    </a:cubicBezTo>
                    <a:cubicBezTo>
                      <a:pt x="71" y="62"/>
                      <a:pt x="72" y="66"/>
                      <a:pt x="72" y="68"/>
                    </a:cubicBezTo>
                    <a:cubicBezTo>
                      <a:pt x="73" y="69"/>
                      <a:pt x="73" y="73"/>
                      <a:pt x="74" y="74"/>
                    </a:cubicBezTo>
                    <a:cubicBezTo>
                      <a:pt x="75" y="75"/>
                      <a:pt x="75" y="76"/>
                      <a:pt x="76" y="78"/>
                    </a:cubicBezTo>
                    <a:cubicBezTo>
                      <a:pt x="77" y="80"/>
                      <a:pt x="78" y="80"/>
                      <a:pt x="78" y="81"/>
                    </a:cubicBezTo>
                    <a:cubicBezTo>
                      <a:pt x="79" y="81"/>
                      <a:pt x="79" y="82"/>
                      <a:pt x="79" y="82"/>
                    </a:cubicBezTo>
                    <a:cubicBezTo>
                      <a:pt x="80" y="83"/>
                      <a:pt x="80" y="87"/>
                      <a:pt x="81" y="89"/>
                    </a:cubicBezTo>
                    <a:cubicBezTo>
                      <a:pt x="82" y="92"/>
                      <a:pt x="83" y="94"/>
                      <a:pt x="84" y="96"/>
                    </a:cubicBezTo>
                    <a:cubicBezTo>
                      <a:pt x="85" y="98"/>
                      <a:pt x="88" y="100"/>
                      <a:pt x="89" y="102"/>
                    </a:cubicBezTo>
                    <a:cubicBezTo>
                      <a:pt x="90" y="103"/>
                      <a:pt x="90" y="103"/>
                      <a:pt x="91" y="104"/>
                    </a:cubicBezTo>
                    <a:cubicBezTo>
                      <a:pt x="91" y="105"/>
                      <a:pt x="92" y="110"/>
                      <a:pt x="93" y="111"/>
                    </a:cubicBezTo>
                    <a:cubicBezTo>
                      <a:pt x="93" y="112"/>
                      <a:pt x="93" y="112"/>
                      <a:pt x="92" y="113"/>
                    </a:cubicBezTo>
                    <a:cubicBezTo>
                      <a:pt x="92" y="114"/>
                      <a:pt x="91" y="115"/>
                      <a:pt x="91" y="117"/>
                    </a:cubicBezTo>
                    <a:cubicBezTo>
                      <a:pt x="90" y="119"/>
                      <a:pt x="89" y="123"/>
                      <a:pt x="89" y="124"/>
                    </a:cubicBezTo>
                    <a:cubicBezTo>
                      <a:pt x="89" y="125"/>
                      <a:pt x="88" y="127"/>
                      <a:pt x="88" y="127"/>
                    </a:cubicBezTo>
                    <a:cubicBezTo>
                      <a:pt x="87" y="128"/>
                      <a:pt x="87" y="128"/>
                      <a:pt x="87" y="129"/>
                    </a:cubicBezTo>
                    <a:cubicBezTo>
                      <a:pt x="86" y="129"/>
                      <a:pt x="86" y="129"/>
                      <a:pt x="85" y="130"/>
                    </a:cubicBezTo>
                    <a:cubicBezTo>
                      <a:pt x="84" y="131"/>
                      <a:pt x="81" y="134"/>
                      <a:pt x="80" y="135"/>
                    </a:cubicBezTo>
                    <a:cubicBezTo>
                      <a:pt x="79" y="136"/>
                      <a:pt x="72" y="142"/>
                      <a:pt x="71" y="143"/>
                    </a:cubicBezTo>
                    <a:cubicBezTo>
                      <a:pt x="70" y="144"/>
                      <a:pt x="64" y="150"/>
                      <a:pt x="63" y="151"/>
                    </a:cubicBezTo>
                    <a:cubicBezTo>
                      <a:pt x="61" y="153"/>
                      <a:pt x="56" y="157"/>
                      <a:pt x="56" y="158"/>
                    </a:cubicBezTo>
                    <a:cubicBezTo>
                      <a:pt x="55" y="159"/>
                      <a:pt x="53" y="160"/>
                      <a:pt x="52" y="160"/>
                    </a:cubicBezTo>
                    <a:cubicBezTo>
                      <a:pt x="51" y="160"/>
                      <a:pt x="51" y="161"/>
                      <a:pt x="50" y="161"/>
                    </a:cubicBezTo>
                    <a:cubicBezTo>
                      <a:pt x="50" y="162"/>
                      <a:pt x="48" y="163"/>
                      <a:pt x="47" y="164"/>
                    </a:cubicBezTo>
                    <a:cubicBezTo>
                      <a:pt x="46" y="165"/>
                      <a:pt x="46" y="166"/>
                      <a:pt x="45" y="167"/>
                    </a:cubicBezTo>
                    <a:cubicBezTo>
                      <a:pt x="45" y="167"/>
                      <a:pt x="45" y="168"/>
                      <a:pt x="44" y="169"/>
                    </a:cubicBezTo>
                    <a:cubicBezTo>
                      <a:pt x="44" y="170"/>
                      <a:pt x="44" y="170"/>
                      <a:pt x="43" y="171"/>
                    </a:cubicBezTo>
                    <a:cubicBezTo>
                      <a:pt x="42" y="172"/>
                      <a:pt x="42" y="174"/>
                      <a:pt x="41" y="175"/>
                    </a:cubicBezTo>
                    <a:cubicBezTo>
                      <a:pt x="41" y="176"/>
                      <a:pt x="41" y="177"/>
                      <a:pt x="40" y="178"/>
                    </a:cubicBezTo>
                    <a:cubicBezTo>
                      <a:pt x="39" y="180"/>
                      <a:pt x="39" y="183"/>
                      <a:pt x="39" y="185"/>
                    </a:cubicBezTo>
                    <a:cubicBezTo>
                      <a:pt x="39" y="188"/>
                      <a:pt x="38" y="192"/>
                      <a:pt x="38" y="194"/>
                    </a:cubicBezTo>
                    <a:cubicBezTo>
                      <a:pt x="38" y="196"/>
                      <a:pt x="38" y="199"/>
                      <a:pt x="38" y="200"/>
                    </a:cubicBezTo>
                    <a:cubicBezTo>
                      <a:pt x="38" y="202"/>
                      <a:pt x="38" y="204"/>
                      <a:pt x="38" y="206"/>
                    </a:cubicBezTo>
                    <a:cubicBezTo>
                      <a:pt x="38" y="207"/>
                      <a:pt x="37" y="213"/>
                      <a:pt x="37" y="215"/>
                    </a:cubicBezTo>
                    <a:cubicBezTo>
                      <a:pt x="37" y="218"/>
                      <a:pt x="36" y="223"/>
                      <a:pt x="36" y="226"/>
                    </a:cubicBezTo>
                    <a:cubicBezTo>
                      <a:pt x="35" y="228"/>
                      <a:pt x="36" y="231"/>
                      <a:pt x="36" y="234"/>
                    </a:cubicBezTo>
                    <a:cubicBezTo>
                      <a:pt x="36" y="236"/>
                      <a:pt x="36" y="240"/>
                      <a:pt x="35" y="245"/>
                    </a:cubicBezTo>
                    <a:cubicBezTo>
                      <a:pt x="35" y="250"/>
                      <a:pt x="35" y="254"/>
                      <a:pt x="35" y="256"/>
                    </a:cubicBezTo>
                    <a:cubicBezTo>
                      <a:pt x="35" y="258"/>
                      <a:pt x="35" y="262"/>
                      <a:pt x="34" y="264"/>
                    </a:cubicBezTo>
                    <a:cubicBezTo>
                      <a:pt x="34" y="266"/>
                      <a:pt x="33" y="269"/>
                      <a:pt x="33" y="270"/>
                    </a:cubicBezTo>
                    <a:cubicBezTo>
                      <a:pt x="33" y="271"/>
                      <a:pt x="32" y="274"/>
                      <a:pt x="32" y="276"/>
                    </a:cubicBezTo>
                    <a:cubicBezTo>
                      <a:pt x="32" y="278"/>
                      <a:pt x="32" y="281"/>
                      <a:pt x="32" y="282"/>
                    </a:cubicBezTo>
                    <a:cubicBezTo>
                      <a:pt x="32" y="283"/>
                      <a:pt x="32" y="286"/>
                      <a:pt x="32" y="287"/>
                    </a:cubicBezTo>
                    <a:cubicBezTo>
                      <a:pt x="32" y="288"/>
                      <a:pt x="32" y="288"/>
                      <a:pt x="31" y="289"/>
                    </a:cubicBezTo>
                    <a:cubicBezTo>
                      <a:pt x="29" y="291"/>
                      <a:pt x="28" y="293"/>
                      <a:pt x="27" y="294"/>
                    </a:cubicBezTo>
                    <a:cubicBezTo>
                      <a:pt x="27" y="295"/>
                      <a:pt x="26" y="298"/>
                      <a:pt x="26" y="299"/>
                    </a:cubicBezTo>
                    <a:cubicBezTo>
                      <a:pt x="26" y="301"/>
                      <a:pt x="27" y="304"/>
                      <a:pt x="27" y="305"/>
                    </a:cubicBezTo>
                    <a:cubicBezTo>
                      <a:pt x="28" y="306"/>
                      <a:pt x="27" y="307"/>
                      <a:pt x="27" y="308"/>
                    </a:cubicBezTo>
                    <a:cubicBezTo>
                      <a:pt x="26" y="310"/>
                      <a:pt x="25" y="312"/>
                      <a:pt x="24" y="312"/>
                    </a:cubicBezTo>
                    <a:cubicBezTo>
                      <a:pt x="24" y="313"/>
                      <a:pt x="23" y="315"/>
                      <a:pt x="23" y="316"/>
                    </a:cubicBezTo>
                    <a:cubicBezTo>
                      <a:pt x="22" y="317"/>
                      <a:pt x="22" y="320"/>
                      <a:pt x="23" y="321"/>
                    </a:cubicBezTo>
                    <a:cubicBezTo>
                      <a:pt x="23" y="322"/>
                      <a:pt x="24" y="327"/>
                      <a:pt x="24" y="329"/>
                    </a:cubicBezTo>
                    <a:cubicBezTo>
                      <a:pt x="25" y="331"/>
                      <a:pt x="27" y="335"/>
                      <a:pt x="27" y="336"/>
                    </a:cubicBezTo>
                    <a:cubicBezTo>
                      <a:pt x="27" y="336"/>
                      <a:pt x="27" y="336"/>
                      <a:pt x="27" y="337"/>
                    </a:cubicBezTo>
                    <a:cubicBezTo>
                      <a:pt x="27" y="337"/>
                      <a:pt x="27" y="338"/>
                      <a:pt x="26" y="339"/>
                    </a:cubicBezTo>
                    <a:cubicBezTo>
                      <a:pt x="25" y="340"/>
                      <a:pt x="24" y="343"/>
                      <a:pt x="24" y="344"/>
                    </a:cubicBezTo>
                    <a:cubicBezTo>
                      <a:pt x="24" y="345"/>
                      <a:pt x="24" y="348"/>
                      <a:pt x="25" y="348"/>
                    </a:cubicBezTo>
                    <a:cubicBezTo>
                      <a:pt x="25" y="349"/>
                      <a:pt x="25" y="349"/>
                      <a:pt x="25" y="350"/>
                    </a:cubicBezTo>
                    <a:cubicBezTo>
                      <a:pt x="24" y="350"/>
                      <a:pt x="24" y="351"/>
                      <a:pt x="24" y="352"/>
                    </a:cubicBezTo>
                    <a:cubicBezTo>
                      <a:pt x="24" y="352"/>
                      <a:pt x="23" y="353"/>
                      <a:pt x="22" y="354"/>
                    </a:cubicBezTo>
                    <a:cubicBezTo>
                      <a:pt x="21" y="356"/>
                      <a:pt x="18" y="360"/>
                      <a:pt x="18" y="361"/>
                    </a:cubicBezTo>
                    <a:cubicBezTo>
                      <a:pt x="17" y="363"/>
                      <a:pt x="14" y="367"/>
                      <a:pt x="12" y="370"/>
                    </a:cubicBezTo>
                    <a:cubicBezTo>
                      <a:pt x="9" y="374"/>
                      <a:pt x="6" y="380"/>
                      <a:pt x="6" y="382"/>
                    </a:cubicBezTo>
                    <a:cubicBezTo>
                      <a:pt x="5" y="383"/>
                      <a:pt x="2" y="392"/>
                      <a:pt x="1" y="394"/>
                    </a:cubicBezTo>
                    <a:cubicBezTo>
                      <a:pt x="1" y="396"/>
                      <a:pt x="0" y="399"/>
                      <a:pt x="0" y="401"/>
                    </a:cubicBezTo>
                    <a:cubicBezTo>
                      <a:pt x="0" y="403"/>
                      <a:pt x="0" y="409"/>
                      <a:pt x="1" y="410"/>
                    </a:cubicBezTo>
                    <a:cubicBezTo>
                      <a:pt x="1" y="411"/>
                      <a:pt x="0" y="412"/>
                      <a:pt x="0" y="413"/>
                    </a:cubicBezTo>
                    <a:cubicBezTo>
                      <a:pt x="0" y="414"/>
                      <a:pt x="0" y="415"/>
                      <a:pt x="0" y="415"/>
                    </a:cubicBezTo>
                    <a:cubicBezTo>
                      <a:pt x="0" y="416"/>
                      <a:pt x="1" y="417"/>
                      <a:pt x="2" y="418"/>
                    </a:cubicBezTo>
                    <a:cubicBezTo>
                      <a:pt x="3" y="419"/>
                      <a:pt x="5" y="420"/>
                      <a:pt x="5" y="420"/>
                    </a:cubicBezTo>
                    <a:cubicBezTo>
                      <a:pt x="5" y="420"/>
                      <a:pt x="5" y="420"/>
                      <a:pt x="8" y="420"/>
                    </a:cubicBezTo>
                    <a:cubicBezTo>
                      <a:pt x="11" y="420"/>
                      <a:pt x="16" y="419"/>
                      <a:pt x="17" y="418"/>
                    </a:cubicBezTo>
                    <a:cubicBezTo>
                      <a:pt x="19" y="417"/>
                      <a:pt x="22" y="414"/>
                      <a:pt x="22" y="413"/>
                    </a:cubicBezTo>
                    <a:cubicBezTo>
                      <a:pt x="23" y="412"/>
                      <a:pt x="23" y="413"/>
                      <a:pt x="23" y="413"/>
                    </a:cubicBezTo>
                    <a:cubicBezTo>
                      <a:pt x="23" y="414"/>
                      <a:pt x="24" y="416"/>
                      <a:pt x="24" y="418"/>
                    </a:cubicBezTo>
                    <a:cubicBezTo>
                      <a:pt x="24" y="419"/>
                      <a:pt x="24" y="423"/>
                      <a:pt x="24" y="425"/>
                    </a:cubicBezTo>
                    <a:cubicBezTo>
                      <a:pt x="24" y="426"/>
                      <a:pt x="24" y="427"/>
                      <a:pt x="24" y="429"/>
                    </a:cubicBezTo>
                    <a:cubicBezTo>
                      <a:pt x="25" y="430"/>
                      <a:pt x="25" y="431"/>
                      <a:pt x="26" y="433"/>
                    </a:cubicBezTo>
                    <a:cubicBezTo>
                      <a:pt x="26" y="435"/>
                      <a:pt x="27" y="439"/>
                      <a:pt x="28" y="444"/>
                    </a:cubicBezTo>
                    <a:cubicBezTo>
                      <a:pt x="29" y="451"/>
                      <a:pt x="30" y="458"/>
                      <a:pt x="31" y="463"/>
                    </a:cubicBezTo>
                    <a:cubicBezTo>
                      <a:pt x="31" y="468"/>
                      <a:pt x="32" y="479"/>
                      <a:pt x="32" y="483"/>
                    </a:cubicBezTo>
                    <a:cubicBezTo>
                      <a:pt x="33" y="487"/>
                      <a:pt x="36" y="511"/>
                      <a:pt x="36" y="513"/>
                    </a:cubicBezTo>
                    <a:cubicBezTo>
                      <a:pt x="36" y="516"/>
                      <a:pt x="37" y="526"/>
                      <a:pt x="38" y="531"/>
                    </a:cubicBezTo>
                    <a:cubicBezTo>
                      <a:pt x="38" y="535"/>
                      <a:pt x="41" y="557"/>
                      <a:pt x="42" y="562"/>
                    </a:cubicBezTo>
                    <a:cubicBezTo>
                      <a:pt x="43" y="567"/>
                      <a:pt x="46" y="587"/>
                      <a:pt x="46" y="593"/>
                    </a:cubicBezTo>
                    <a:cubicBezTo>
                      <a:pt x="47" y="599"/>
                      <a:pt x="49" y="608"/>
                      <a:pt x="50" y="612"/>
                    </a:cubicBezTo>
                    <a:cubicBezTo>
                      <a:pt x="50" y="616"/>
                      <a:pt x="53" y="628"/>
                      <a:pt x="53" y="631"/>
                    </a:cubicBezTo>
                    <a:cubicBezTo>
                      <a:pt x="54" y="633"/>
                      <a:pt x="56" y="643"/>
                      <a:pt x="57" y="645"/>
                    </a:cubicBezTo>
                    <a:cubicBezTo>
                      <a:pt x="57" y="648"/>
                      <a:pt x="60" y="656"/>
                      <a:pt x="60" y="658"/>
                    </a:cubicBezTo>
                    <a:cubicBezTo>
                      <a:pt x="61" y="661"/>
                      <a:pt x="64" y="668"/>
                      <a:pt x="64" y="671"/>
                    </a:cubicBezTo>
                    <a:cubicBezTo>
                      <a:pt x="65" y="673"/>
                      <a:pt x="68" y="680"/>
                      <a:pt x="68" y="681"/>
                    </a:cubicBezTo>
                    <a:cubicBezTo>
                      <a:pt x="68" y="682"/>
                      <a:pt x="68" y="684"/>
                      <a:pt x="69" y="686"/>
                    </a:cubicBezTo>
                    <a:cubicBezTo>
                      <a:pt x="69" y="688"/>
                      <a:pt x="70" y="698"/>
                      <a:pt x="70" y="700"/>
                    </a:cubicBezTo>
                    <a:cubicBezTo>
                      <a:pt x="70" y="702"/>
                      <a:pt x="71" y="713"/>
                      <a:pt x="71" y="715"/>
                    </a:cubicBezTo>
                    <a:cubicBezTo>
                      <a:pt x="72" y="717"/>
                      <a:pt x="73" y="724"/>
                      <a:pt x="73" y="726"/>
                    </a:cubicBezTo>
                    <a:cubicBezTo>
                      <a:pt x="74" y="728"/>
                      <a:pt x="75" y="735"/>
                      <a:pt x="76" y="737"/>
                    </a:cubicBezTo>
                    <a:cubicBezTo>
                      <a:pt x="76" y="739"/>
                      <a:pt x="79" y="745"/>
                      <a:pt x="80" y="747"/>
                    </a:cubicBezTo>
                    <a:cubicBezTo>
                      <a:pt x="81" y="749"/>
                      <a:pt x="82" y="751"/>
                      <a:pt x="83" y="753"/>
                    </a:cubicBezTo>
                    <a:cubicBezTo>
                      <a:pt x="85" y="754"/>
                      <a:pt x="86" y="756"/>
                      <a:pt x="87" y="758"/>
                    </a:cubicBezTo>
                    <a:cubicBezTo>
                      <a:pt x="88" y="759"/>
                      <a:pt x="88" y="760"/>
                      <a:pt x="88" y="761"/>
                    </a:cubicBezTo>
                    <a:cubicBezTo>
                      <a:pt x="88" y="762"/>
                      <a:pt x="88" y="764"/>
                      <a:pt x="88" y="764"/>
                    </a:cubicBezTo>
                    <a:cubicBezTo>
                      <a:pt x="88" y="765"/>
                      <a:pt x="88" y="765"/>
                      <a:pt x="88" y="765"/>
                    </a:cubicBezTo>
                    <a:cubicBezTo>
                      <a:pt x="88" y="765"/>
                      <a:pt x="88" y="767"/>
                      <a:pt x="89" y="769"/>
                    </a:cubicBezTo>
                    <a:cubicBezTo>
                      <a:pt x="89" y="771"/>
                      <a:pt x="90" y="776"/>
                      <a:pt x="90" y="777"/>
                    </a:cubicBezTo>
                    <a:cubicBezTo>
                      <a:pt x="91" y="778"/>
                      <a:pt x="91" y="779"/>
                      <a:pt x="91" y="779"/>
                    </a:cubicBezTo>
                    <a:cubicBezTo>
                      <a:pt x="91" y="779"/>
                      <a:pt x="92" y="780"/>
                      <a:pt x="91" y="780"/>
                    </a:cubicBezTo>
                    <a:cubicBezTo>
                      <a:pt x="91" y="780"/>
                      <a:pt x="90" y="781"/>
                      <a:pt x="90" y="781"/>
                    </a:cubicBezTo>
                    <a:cubicBezTo>
                      <a:pt x="89" y="781"/>
                      <a:pt x="87" y="783"/>
                      <a:pt x="87" y="783"/>
                    </a:cubicBezTo>
                    <a:cubicBezTo>
                      <a:pt x="86" y="783"/>
                      <a:pt x="86" y="784"/>
                      <a:pt x="86" y="784"/>
                    </a:cubicBezTo>
                    <a:cubicBezTo>
                      <a:pt x="87" y="784"/>
                      <a:pt x="86" y="785"/>
                      <a:pt x="86" y="785"/>
                    </a:cubicBezTo>
                    <a:cubicBezTo>
                      <a:pt x="86" y="786"/>
                      <a:pt x="85" y="786"/>
                      <a:pt x="84" y="787"/>
                    </a:cubicBezTo>
                    <a:cubicBezTo>
                      <a:pt x="83" y="787"/>
                      <a:pt x="82" y="788"/>
                      <a:pt x="81" y="788"/>
                    </a:cubicBezTo>
                    <a:cubicBezTo>
                      <a:pt x="80" y="788"/>
                      <a:pt x="77" y="789"/>
                      <a:pt x="76" y="789"/>
                    </a:cubicBezTo>
                    <a:cubicBezTo>
                      <a:pt x="75" y="789"/>
                      <a:pt x="73" y="789"/>
                      <a:pt x="72" y="789"/>
                    </a:cubicBezTo>
                    <a:cubicBezTo>
                      <a:pt x="71" y="789"/>
                      <a:pt x="69" y="790"/>
                      <a:pt x="68" y="790"/>
                    </a:cubicBezTo>
                    <a:cubicBezTo>
                      <a:pt x="66" y="791"/>
                      <a:pt x="65" y="791"/>
                      <a:pt x="64" y="791"/>
                    </a:cubicBezTo>
                    <a:cubicBezTo>
                      <a:pt x="62" y="791"/>
                      <a:pt x="59" y="791"/>
                      <a:pt x="58" y="791"/>
                    </a:cubicBezTo>
                    <a:cubicBezTo>
                      <a:pt x="56" y="791"/>
                      <a:pt x="54" y="791"/>
                      <a:pt x="52" y="791"/>
                    </a:cubicBezTo>
                    <a:cubicBezTo>
                      <a:pt x="51" y="792"/>
                      <a:pt x="48" y="792"/>
                      <a:pt x="46" y="794"/>
                    </a:cubicBezTo>
                    <a:cubicBezTo>
                      <a:pt x="44" y="795"/>
                      <a:pt x="42" y="797"/>
                      <a:pt x="42" y="798"/>
                    </a:cubicBezTo>
                    <a:cubicBezTo>
                      <a:pt x="41" y="798"/>
                      <a:pt x="41" y="800"/>
                      <a:pt x="41" y="801"/>
                    </a:cubicBezTo>
                    <a:cubicBezTo>
                      <a:pt x="41" y="802"/>
                      <a:pt x="42" y="802"/>
                      <a:pt x="42" y="803"/>
                    </a:cubicBezTo>
                    <a:cubicBezTo>
                      <a:pt x="43" y="804"/>
                      <a:pt x="42" y="804"/>
                      <a:pt x="42" y="804"/>
                    </a:cubicBezTo>
                    <a:cubicBezTo>
                      <a:pt x="41" y="804"/>
                      <a:pt x="41" y="804"/>
                      <a:pt x="41" y="804"/>
                    </a:cubicBezTo>
                    <a:cubicBezTo>
                      <a:pt x="41" y="804"/>
                      <a:pt x="40" y="804"/>
                      <a:pt x="39" y="805"/>
                    </a:cubicBezTo>
                    <a:cubicBezTo>
                      <a:pt x="38" y="805"/>
                      <a:pt x="38" y="805"/>
                      <a:pt x="38" y="806"/>
                    </a:cubicBezTo>
                    <a:cubicBezTo>
                      <a:pt x="38" y="807"/>
                      <a:pt x="38" y="808"/>
                      <a:pt x="38" y="809"/>
                    </a:cubicBezTo>
                    <a:cubicBezTo>
                      <a:pt x="39" y="810"/>
                      <a:pt x="40" y="810"/>
                      <a:pt x="42" y="810"/>
                    </a:cubicBezTo>
                    <a:cubicBezTo>
                      <a:pt x="44" y="810"/>
                      <a:pt x="44" y="810"/>
                      <a:pt x="46" y="811"/>
                    </a:cubicBezTo>
                    <a:cubicBezTo>
                      <a:pt x="47" y="811"/>
                      <a:pt x="48" y="811"/>
                      <a:pt x="50" y="812"/>
                    </a:cubicBezTo>
                    <a:cubicBezTo>
                      <a:pt x="52" y="813"/>
                      <a:pt x="54" y="814"/>
                      <a:pt x="56" y="814"/>
                    </a:cubicBezTo>
                    <a:cubicBezTo>
                      <a:pt x="58" y="814"/>
                      <a:pt x="66" y="816"/>
                      <a:pt x="66" y="816"/>
                    </a:cubicBezTo>
                    <a:cubicBezTo>
                      <a:pt x="66" y="816"/>
                      <a:pt x="66" y="816"/>
                      <a:pt x="68" y="817"/>
                    </a:cubicBezTo>
                    <a:cubicBezTo>
                      <a:pt x="69" y="817"/>
                      <a:pt x="75" y="817"/>
                      <a:pt x="78" y="817"/>
                    </a:cubicBezTo>
                    <a:cubicBezTo>
                      <a:pt x="80" y="817"/>
                      <a:pt x="89" y="816"/>
                      <a:pt x="91" y="816"/>
                    </a:cubicBezTo>
                    <a:cubicBezTo>
                      <a:pt x="94" y="816"/>
                      <a:pt x="98" y="816"/>
                      <a:pt x="100" y="815"/>
                    </a:cubicBezTo>
                    <a:cubicBezTo>
                      <a:pt x="102" y="815"/>
                      <a:pt x="107" y="813"/>
                      <a:pt x="108" y="813"/>
                    </a:cubicBezTo>
                    <a:cubicBezTo>
                      <a:pt x="110" y="812"/>
                      <a:pt x="112" y="810"/>
                      <a:pt x="113" y="809"/>
                    </a:cubicBezTo>
                    <a:cubicBezTo>
                      <a:pt x="114" y="808"/>
                      <a:pt x="118" y="806"/>
                      <a:pt x="118" y="806"/>
                    </a:cubicBezTo>
                    <a:cubicBezTo>
                      <a:pt x="119" y="805"/>
                      <a:pt x="120" y="804"/>
                      <a:pt x="121" y="804"/>
                    </a:cubicBezTo>
                    <a:cubicBezTo>
                      <a:pt x="121" y="804"/>
                      <a:pt x="121" y="804"/>
                      <a:pt x="122" y="804"/>
                    </a:cubicBezTo>
                    <a:cubicBezTo>
                      <a:pt x="122" y="805"/>
                      <a:pt x="122" y="805"/>
                      <a:pt x="124" y="805"/>
                    </a:cubicBezTo>
                    <a:cubicBezTo>
                      <a:pt x="126" y="805"/>
                      <a:pt x="128" y="806"/>
                      <a:pt x="130" y="807"/>
                    </a:cubicBezTo>
                    <a:cubicBezTo>
                      <a:pt x="132" y="808"/>
                      <a:pt x="133" y="809"/>
                      <a:pt x="133" y="810"/>
                    </a:cubicBezTo>
                    <a:cubicBezTo>
                      <a:pt x="133" y="810"/>
                      <a:pt x="133" y="810"/>
                      <a:pt x="135" y="810"/>
                    </a:cubicBezTo>
                    <a:cubicBezTo>
                      <a:pt x="137" y="810"/>
                      <a:pt x="139" y="810"/>
                      <a:pt x="141" y="810"/>
                    </a:cubicBezTo>
                    <a:cubicBezTo>
                      <a:pt x="143" y="810"/>
                      <a:pt x="154" y="809"/>
                      <a:pt x="156" y="809"/>
                    </a:cubicBezTo>
                    <a:cubicBezTo>
                      <a:pt x="157" y="809"/>
                      <a:pt x="161" y="808"/>
                      <a:pt x="162" y="808"/>
                    </a:cubicBezTo>
                    <a:cubicBezTo>
                      <a:pt x="162" y="808"/>
                      <a:pt x="162" y="808"/>
                      <a:pt x="163" y="808"/>
                    </a:cubicBezTo>
                    <a:cubicBezTo>
                      <a:pt x="164" y="807"/>
                      <a:pt x="167" y="806"/>
                      <a:pt x="168" y="806"/>
                    </a:cubicBezTo>
                    <a:cubicBezTo>
                      <a:pt x="169" y="805"/>
                      <a:pt x="170" y="804"/>
                      <a:pt x="170" y="804"/>
                    </a:cubicBezTo>
                    <a:cubicBezTo>
                      <a:pt x="170" y="803"/>
                      <a:pt x="171" y="803"/>
                      <a:pt x="171" y="804"/>
                    </a:cubicBezTo>
                    <a:cubicBezTo>
                      <a:pt x="172" y="804"/>
                      <a:pt x="172" y="805"/>
                      <a:pt x="173" y="805"/>
                    </a:cubicBezTo>
                    <a:cubicBezTo>
                      <a:pt x="174" y="805"/>
                      <a:pt x="173" y="806"/>
                      <a:pt x="173" y="806"/>
                    </a:cubicBezTo>
                    <a:cubicBezTo>
                      <a:pt x="173" y="806"/>
                      <a:pt x="174" y="806"/>
                      <a:pt x="174" y="807"/>
                    </a:cubicBezTo>
                    <a:cubicBezTo>
                      <a:pt x="175" y="807"/>
                      <a:pt x="175" y="807"/>
                      <a:pt x="175" y="807"/>
                    </a:cubicBezTo>
                    <a:cubicBezTo>
                      <a:pt x="174" y="808"/>
                      <a:pt x="173" y="811"/>
                      <a:pt x="172" y="812"/>
                    </a:cubicBezTo>
                    <a:cubicBezTo>
                      <a:pt x="172" y="812"/>
                      <a:pt x="172" y="812"/>
                      <a:pt x="171" y="813"/>
                    </a:cubicBezTo>
                    <a:cubicBezTo>
                      <a:pt x="171" y="813"/>
                      <a:pt x="171" y="813"/>
                      <a:pt x="171" y="813"/>
                    </a:cubicBezTo>
                    <a:cubicBezTo>
                      <a:pt x="170" y="813"/>
                      <a:pt x="170" y="814"/>
                      <a:pt x="170" y="814"/>
                    </a:cubicBezTo>
                    <a:cubicBezTo>
                      <a:pt x="170" y="814"/>
                      <a:pt x="170" y="816"/>
                      <a:pt x="169" y="816"/>
                    </a:cubicBezTo>
                    <a:cubicBezTo>
                      <a:pt x="169" y="817"/>
                      <a:pt x="167" y="819"/>
                      <a:pt x="166" y="821"/>
                    </a:cubicBezTo>
                    <a:cubicBezTo>
                      <a:pt x="164" y="822"/>
                      <a:pt x="163" y="825"/>
                      <a:pt x="163" y="825"/>
                    </a:cubicBezTo>
                    <a:cubicBezTo>
                      <a:pt x="163" y="826"/>
                      <a:pt x="163" y="826"/>
                      <a:pt x="161" y="826"/>
                    </a:cubicBezTo>
                    <a:cubicBezTo>
                      <a:pt x="160" y="827"/>
                      <a:pt x="160" y="827"/>
                      <a:pt x="159" y="828"/>
                    </a:cubicBezTo>
                    <a:cubicBezTo>
                      <a:pt x="158" y="829"/>
                      <a:pt x="157" y="831"/>
                      <a:pt x="156" y="832"/>
                    </a:cubicBezTo>
                    <a:cubicBezTo>
                      <a:pt x="155" y="834"/>
                      <a:pt x="155" y="837"/>
                      <a:pt x="155" y="837"/>
                    </a:cubicBezTo>
                    <a:cubicBezTo>
                      <a:pt x="155" y="838"/>
                      <a:pt x="155" y="838"/>
                      <a:pt x="154" y="838"/>
                    </a:cubicBezTo>
                    <a:cubicBezTo>
                      <a:pt x="154" y="838"/>
                      <a:pt x="154" y="838"/>
                      <a:pt x="153" y="838"/>
                    </a:cubicBezTo>
                    <a:cubicBezTo>
                      <a:pt x="153" y="839"/>
                      <a:pt x="153" y="838"/>
                      <a:pt x="152" y="838"/>
                    </a:cubicBezTo>
                    <a:cubicBezTo>
                      <a:pt x="151" y="838"/>
                      <a:pt x="151" y="839"/>
                      <a:pt x="150" y="840"/>
                    </a:cubicBezTo>
                    <a:cubicBezTo>
                      <a:pt x="150" y="841"/>
                      <a:pt x="150" y="842"/>
                      <a:pt x="150" y="843"/>
                    </a:cubicBezTo>
                    <a:cubicBezTo>
                      <a:pt x="150" y="844"/>
                      <a:pt x="150" y="845"/>
                      <a:pt x="152" y="845"/>
                    </a:cubicBezTo>
                    <a:cubicBezTo>
                      <a:pt x="153" y="845"/>
                      <a:pt x="155" y="845"/>
                      <a:pt x="157" y="846"/>
                    </a:cubicBezTo>
                    <a:cubicBezTo>
                      <a:pt x="158" y="846"/>
                      <a:pt x="159" y="847"/>
                      <a:pt x="162" y="847"/>
                    </a:cubicBezTo>
                    <a:cubicBezTo>
                      <a:pt x="164" y="847"/>
                      <a:pt x="171" y="849"/>
                      <a:pt x="176" y="849"/>
                    </a:cubicBezTo>
                    <a:cubicBezTo>
                      <a:pt x="181" y="850"/>
                      <a:pt x="197" y="850"/>
                      <a:pt x="202" y="850"/>
                    </a:cubicBezTo>
                    <a:cubicBezTo>
                      <a:pt x="207" y="850"/>
                      <a:pt x="214" y="849"/>
                      <a:pt x="217" y="847"/>
                    </a:cubicBezTo>
                    <a:cubicBezTo>
                      <a:pt x="220" y="846"/>
                      <a:pt x="221" y="845"/>
                      <a:pt x="221" y="843"/>
                    </a:cubicBezTo>
                    <a:cubicBezTo>
                      <a:pt x="222" y="841"/>
                      <a:pt x="222" y="839"/>
                      <a:pt x="222" y="839"/>
                    </a:cubicBezTo>
                    <a:cubicBezTo>
                      <a:pt x="222" y="838"/>
                      <a:pt x="222" y="838"/>
                      <a:pt x="223" y="838"/>
                    </a:cubicBezTo>
                    <a:cubicBezTo>
                      <a:pt x="224" y="838"/>
                      <a:pt x="224" y="837"/>
                      <a:pt x="226" y="836"/>
                    </a:cubicBezTo>
                    <a:cubicBezTo>
                      <a:pt x="228" y="834"/>
                      <a:pt x="229" y="833"/>
                      <a:pt x="230" y="831"/>
                    </a:cubicBezTo>
                    <a:cubicBezTo>
                      <a:pt x="230" y="830"/>
                      <a:pt x="230" y="829"/>
                      <a:pt x="230" y="828"/>
                    </a:cubicBezTo>
                    <a:cubicBezTo>
                      <a:pt x="230" y="827"/>
                      <a:pt x="230" y="825"/>
                      <a:pt x="230" y="824"/>
                    </a:cubicBezTo>
                    <a:cubicBezTo>
                      <a:pt x="230" y="823"/>
                      <a:pt x="230" y="816"/>
                      <a:pt x="230" y="814"/>
                    </a:cubicBezTo>
                    <a:cubicBezTo>
                      <a:pt x="230" y="813"/>
                      <a:pt x="229" y="812"/>
                      <a:pt x="228" y="812"/>
                    </a:cubicBezTo>
                    <a:cubicBezTo>
                      <a:pt x="228" y="812"/>
                      <a:pt x="228" y="811"/>
                      <a:pt x="228" y="810"/>
                    </a:cubicBezTo>
                    <a:cubicBezTo>
                      <a:pt x="229" y="809"/>
                      <a:pt x="229" y="810"/>
                      <a:pt x="230" y="810"/>
                    </a:cubicBezTo>
                    <a:cubicBezTo>
                      <a:pt x="231" y="809"/>
                      <a:pt x="232" y="809"/>
                      <a:pt x="232" y="809"/>
                    </a:cubicBezTo>
                    <a:cubicBezTo>
                      <a:pt x="233" y="808"/>
                      <a:pt x="233" y="808"/>
                      <a:pt x="233" y="807"/>
                    </a:cubicBezTo>
                    <a:cubicBezTo>
                      <a:pt x="232" y="806"/>
                      <a:pt x="232" y="805"/>
                      <a:pt x="232" y="803"/>
                    </a:cubicBezTo>
                    <a:cubicBezTo>
                      <a:pt x="232" y="801"/>
                      <a:pt x="232" y="798"/>
                      <a:pt x="232" y="797"/>
                    </a:cubicBezTo>
                    <a:cubicBezTo>
                      <a:pt x="232" y="796"/>
                      <a:pt x="231" y="793"/>
                      <a:pt x="231" y="792"/>
                    </a:cubicBezTo>
                    <a:cubicBezTo>
                      <a:pt x="231" y="791"/>
                      <a:pt x="231" y="791"/>
                      <a:pt x="230" y="790"/>
                    </a:cubicBezTo>
                    <a:cubicBezTo>
                      <a:pt x="230" y="790"/>
                      <a:pt x="230" y="790"/>
                      <a:pt x="230" y="788"/>
                    </a:cubicBezTo>
                    <a:cubicBezTo>
                      <a:pt x="230" y="787"/>
                      <a:pt x="229" y="783"/>
                      <a:pt x="229" y="781"/>
                    </a:cubicBezTo>
                    <a:cubicBezTo>
                      <a:pt x="228" y="778"/>
                      <a:pt x="225" y="769"/>
                      <a:pt x="225" y="767"/>
                    </a:cubicBezTo>
                    <a:cubicBezTo>
                      <a:pt x="224" y="765"/>
                      <a:pt x="223" y="762"/>
                      <a:pt x="223" y="760"/>
                    </a:cubicBezTo>
                    <a:cubicBezTo>
                      <a:pt x="223" y="758"/>
                      <a:pt x="222" y="751"/>
                      <a:pt x="221" y="748"/>
                    </a:cubicBezTo>
                    <a:cubicBezTo>
                      <a:pt x="220" y="746"/>
                      <a:pt x="220" y="744"/>
                      <a:pt x="220" y="741"/>
                    </a:cubicBezTo>
                    <a:cubicBezTo>
                      <a:pt x="220" y="737"/>
                      <a:pt x="220" y="728"/>
                      <a:pt x="220" y="723"/>
                    </a:cubicBezTo>
                    <a:cubicBezTo>
                      <a:pt x="220" y="719"/>
                      <a:pt x="220" y="711"/>
                      <a:pt x="220" y="708"/>
                    </a:cubicBezTo>
                    <a:cubicBezTo>
                      <a:pt x="219" y="706"/>
                      <a:pt x="219" y="702"/>
                      <a:pt x="220" y="700"/>
                    </a:cubicBezTo>
                    <a:cubicBezTo>
                      <a:pt x="220" y="697"/>
                      <a:pt x="220" y="694"/>
                      <a:pt x="221" y="692"/>
                    </a:cubicBezTo>
                    <a:cubicBezTo>
                      <a:pt x="221" y="689"/>
                      <a:pt x="221" y="682"/>
                      <a:pt x="221" y="680"/>
                    </a:cubicBezTo>
                    <a:cubicBezTo>
                      <a:pt x="221" y="679"/>
                      <a:pt x="220" y="676"/>
                      <a:pt x="220" y="675"/>
                    </a:cubicBezTo>
                    <a:cubicBezTo>
                      <a:pt x="219" y="674"/>
                      <a:pt x="219" y="669"/>
                      <a:pt x="219" y="664"/>
                    </a:cubicBezTo>
                    <a:cubicBezTo>
                      <a:pt x="219" y="659"/>
                      <a:pt x="219" y="652"/>
                      <a:pt x="218" y="648"/>
                    </a:cubicBezTo>
                    <a:cubicBezTo>
                      <a:pt x="218" y="645"/>
                      <a:pt x="217" y="635"/>
                      <a:pt x="216" y="633"/>
                    </a:cubicBezTo>
                    <a:cubicBezTo>
                      <a:pt x="215" y="629"/>
                      <a:pt x="214" y="619"/>
                      <a:pt x="213" y="616"/>
                    </a:cubicBezTo>
                    <a:cubicBezTo>
                      <a:pt x="213" y="612"/>
                      <a:pt x="211" y="598"/>
                      <a:pt x="210" y="593"/>
                    </a:cubicBezTo>
                    <a:cubicBezTo>
                      <a:pt x="210" y="589"/>
                      <a:pt x="208" y="573"/>
                      <a:pt x="208" y="570"/>
                    </a:cubicBezTo>
                    <a:cubicBezTo>
                      <a:pt x="208" y="567"/>
                      <a:pt x="207" y="549"/>
                      <a:pt x="207" y="544"/>
                    </a:cubicBezTo>
                    <a:cubicBezTo>
                      <a:pt x="206" y="539"/>
                      <a:pt x="206" y="522"/>
                      <a:pt x="206" y="519"/>
                    </a:cubicBezTo>
                    <a:cubicBezTo>
                      <a:pt x="205" y="516"/>
                      <a:pt x="205" y="504"/>
                      <a:pt x="205" y="500"/>
                    </a:cubicBezTo>
                    <a:cubicBezTo>
                      <a:pt x="205" y="496"/>
                      <a:pt x="205" y="488"/>
                      <a:pt x="205" y="486"/>
                    </a:cubicBezTo>
                    <a:cubicBezTo>
                      <a:pt x="205" y="484"/>
                      <a:pt x="205" y="476"/>
                      <a:pt x="205" y="474"/>
                    </a:cubicBezTo>
                    <a:cubicBezTo>
                      <a:pt x="205" y="472"/>
                      <a:pt x="204" y="462"/>
                      <a:pt x="204" y="460"/>
                    </a:cubicBezTo>
                    <a:cubicBezTo>
                      <a:pt x="204" y="457"/>
                      <a:pt x="203" y="447"/>
                      <a:pt x="203" y="445"/>
                    </a:cubicBezTo>
                    <a:cubicBezTo>
                      <a:pt x="203" y="443"/>
                      <a:pt x="202" y="433"/>
                      <a:pt x="202" y="431"/>
                    </a:cubicBezTo>
                    <a:cubicBezTo>
                      <a:pt x="202" y="430"/>
                      <a:pt x="202" y="426"/>
                      <a:pt x="201" y="425"/>
                    </a:cubicBezTo>
                    <a:cubicBezTo>
                      <a:pt x="201" y="423"/>
                      <a:pt x="200" y="419"/>
                      <a:pt x="200" y="419"/>
                    </a:cubicBezTo>
                    <a:cubicBezTo>
                      <a:pt x="200" y="418"/>
                      <a:pt x="201" y="415"/>
                      <a:pt x="202" y="415"/>
                    </a:cubicBezTo>
                    <a:cubicBezTo>
                      <a:pt x="202" y="414"/>
                      <a:pt x="202" y="414"/>
                      <a:pt x="203" y="414"/>
                    </a:cubicBezTo>
                    <a:cubicBezTo>
                      <a:pt x="204" y="414"/>
                      <a:pt x="204" y="414"/>
                      <a:pt x="205" y="413"/>
                    </a:cubicBezTo>
                    <a:cubicBezTo>
                      <a:pt x="206" y="412"/>
                      <a:pt x="207" y="410"/>
                      <a:pt x="208" y="409"/>
                    </a:cubicBezTo>
                    <a:cubicBezTo>
                      <a:pt x="209" y="407"/>
                      <a:pt x="209" y="407"/>
                      <a:pt x="209" y="407"/>
                    </a:cubicBezTo>
                    <a:cubicBezTo>
                      <a:pt x="210" y="406"/>
                      <a:pt x="212" y="404"/>
                      <a:pt x="214" y="403"/>
                    </a:cubicBezTo>
                    <a:cubicBezTo>
                      <a:pt x="216" y="401"/>
                      <a:pt x="217" y="400"/>
                      <a:pt x="218" y="397"/>
                    </a:cubicBezTo>
                    <a:cubicBezTo>
                      <a:pt x="219" y="395"/>
                      <a:pt x="219" y="395"/>
                      <a:pt x="221" y="394"/>
                    </a:cubicBezTo>
                    <a:cubicBezTo>
                      <a:pt x="222" y="393"/>
                      <a:pt x="224" y="391"/>
                      <a:pt x="225" y="390"/>
                    </a:cubicBezTo>
                    <a:cubicBezTo>
                      <a:pt x="227" y="389"/>
                      <a:pt x="228" y="387"/>
                      <a:pt x="228" y="387"/>
                    </a:cubicBezTo>
                    <a:cubicBezTo>
                      <a:pt x="228" y="387"/>
                      <a:pt x="228" y="387"/>
                      <a:pt x="228" y="387"/>
                    </a:cubicBezTo>
                    <a:cubicBezTo>
                      <a:pt x="229" y="386"/>
                      <a:pt x="230" y="383"/>
                      <a:pt x="230" y="382"/>
                    </a:cubicBezTo>
                    <a:cubicBezTo>
                      <a:pt x="231" y="381"/>
                      <a:pt x="230" y="380"/>
                      <a:pt x="231" y="379"/>
                    </a:cubicBezTo>
                    <a:cubicBezTo>
                      <a:pt x="232" y="378"/>
                      <a:pt x="233" y="376"/>
                      <a:pt x="233" y="375"/>
                    </a:cubicBezTo>
                    <a:cubicBezTo>
                      <a:pt x="234" y="374"/>
                      <a:pt x="233" y="374"/>
                      <a:pt x="232" y="375"/>
                    </a:cubicBezTo>
                    <a:cubicBezTo>
                      <a:pt x="232" y="375"/>
                      <a:pt x="232" y="375"/>
                      <a:pt x="232" y="375"/>
                    </a:cubicBezTo>
                    <a:cubicBezTo>
                      <a:pt x="232" y="374"/>
                      <a:pt x="232" y="374"/>
                      <a:pt x="232" y="373"/>
                    </a:cubicBezTo>
                    <a:cubicBezTo>
                      <a:pt x="233" y="372"/>
                      <a:pt x="233" y="368"/>
                      <a:pt x="233" y="367"/>
                    </a:cubicBezTo>
                    <a:cubicBezTo>
                      <a:pt x="233" y="367"/>
                      <a:pt x="234" y="364"/>
                      <a:pt x="235" y="362"/>
                    </a:cubicBezTo>
                    <a:cubicBezTo>
                      <a:pt x="236" y="361"/>
                      <a:pt x="236" y="359"/>
                      <a:pt x="237" y="357"/>
                    </a:cubicBezTo>
                    <a:cubicBezTo>
                      <a:pt x="239" y="352"/>
                      <a:pt x="239" y="349"/>
                      <a:pt x="240" y="347"/>
                    </a:cubicBezTo>
                    <a:cubicBezTo>
                      <a:pt x="240" y="344"/>
                      <a:pt x="239" y="340"/>
                      <a:pt x="239" y="337"/>
                    </a:cubicBezTo>
                    <a:cubicBezTo>
                      <a:pt x="238" y="333"/>
                      <a:pt x="240" y="330"/>
                      <a:pt x="241" y="328"/>
                    </a:cubicBezTo>
                    <a:cubicBezTo>
                      <a:pt x="244" y="325"/>
                      <a:pt x="245" y="323"/>
                      <a:pt x="246" y="320"/>
                    </a:cubicBezTo>
                    <a:cubicBezTo>
                      <a:pt x="248" y="317"/>
                      <a:pt x="249" y="314"/>
                      <a:pt x="250" y="312"/>
                    </a:cubicBezTo>
                    <a:cubicBezTo>
                      <a:pt x="250" y="310"/>
                      <a:pt x="251" y="307"/>
                      <a:pt x="252" y="303"/>
                    </a:cubicBezTo>
                    <a:cubicBezTo>
                      <a:pt x="254" y="298"/>
                      <a:pt x="256" y="289"/>
                      <a:pt x="257" y="285"/>
                    </a:cubicBezTo>
                    <a:cubicBezTo>
                      <a:pt x="258" y="281"/>
                      <a:pt x="258" y="278"/>
                      <a:pt x="258" y="276"/>
                    </a:cubicBezTo>
                    <a:close/>
                    <a:moveTo>
                      <a:pt x="151" y="706"/>
                    </a:moveTo>
                    <a:cubicBezTo>
                      <a:pt x="150" y="705"/>
                      <a:pt x="150" y="704"/>
                      <a:pt x="150" y="703"/>
                    </a:cubicBezTo>
                    <a:cubicBezTo>
                      <a:pt x="150" y="702"/>
                      <a:pt x="150" y="699"/>
                      <a:pt x="150" y="695"/>
                    </a:cubicBezTo>
                    <a:cubicBezTo>
                      <a:pt x="150" y="692"/>
                      <a:pt x="150" y="682"/>
                      <a:pt x="150" y="679"/>
                    </a:cubicBezTo>
                    <a:cubicBezTo>
                      <a:pt x="150" y="677"/>
                      <a:pt x="150" y="667"/>
                      <a:pt x="150" y="663"/>
                    </a:cubicBezTo>
                    <a:cubicBezTo>
                      <a:pt x="150" y="658"/>
                      <a:pt x="148" y="646"/>
                      <a:pt x="148" y="643"/>
                    </a:cubicBezTo>
                    <a:cubicBezTo>
                      <a:pt x="147" y="641"/>
                      <a:pt x="147" y="632"/>
                      <a:pt x="146" y="630"/>
                    </a:cubicBezTo>
                    <a:cubicBezTo>
                      <a:pt x="146" y="628"/>
                      <a:pt x="145" y="623"/>
                      <a:pt x="144" y="622"/>
                    </a:cubicBezTo>
                    <a:cubicBezTo>
                      <a:pt x="144" y="620"/>
                      <a:pt x="142" y="610"/>
                      <a:pt x="141" y="608"/>
                    </a:cubicBezTo>
                    <a:cubicBezTo>
                      <a:pt x="141" y="607"/>
                      <a:pt x="140" y="606"/>
                      <a:pt x="140" y="605"/>
                    </a:cubicBezTo>
                    <a:cubicBezTo>
                      <a:pt x="141" y="604"/>
                      <a:pt x="141" y="602"/>
                      <a:pt x="141" y="600"/>
                    </a:cubicBezTo>
                    <a:cubicBezTo>
                      <a:pt x="141" y="597"/>
                      <a:pt x="141" y="588"/>
                      <a:pt x="141" y="587"/>
                    </a:cubicBezTo>
                    <a:cubicBezTo>
                      <a:pt x="142" y="586"/>
                      <a:pt x="142" y="587"/>
                      <a:pt x="142" y="587"/>
                    </a:cubicBezTo>
                    <a:cubicBezTo>
                      <a:pt x="143" y="588"/>
                      <a:pt x="143" y="589"/>
                      <a:pt x="144" y="592"/>
                    </a:cubicBezTo>
                    <a:cubicBezTo>
                      <a:pt x="145" y="595"/>
                      <a:pt x="145" y="595"/>
                      <a:pt x="145" y="596"/>
                    </a:cubicBezTo>
                    <a:cubicBezTo>
                      <a:pt x="145" y="596"/>
                      <a:pt x="145" y="597"/>
                      <a:pt x="145" y="598"/>
                    </a:cubicBezTo>
                    <a:cubicBezTo>
                      <a:pt x="145" y="598"/>
                      <a:pt x="146" y="601"/>
                      <a:pt x="146" y="604"/>
                    </a:cubicBezTo>
                    <a:cubicBezTo>
                      <a:pt x="146" y="606"/>
                      <a:pt x="148" y="611"/>
                      <a:pt x="149" y="615"/>
                    </a:cubicBezTo>
                    <a:cubicBezTo>
                      <a:pt x="150" y="618"/>
                      <a:pt x="150" y="619"/>
                      <a:pt x="150" y="621"/>
                    </a:cubicBezTo>
                    <a:cubicBezTo>
                      <a:pt x="150" y="623"/>
                      <a:pt x="150" y="629"/>
                      <a:pt x="150" y="634"/>
                    </a:cubicBezTo>
                    <a:cubicBezTo>
                      <a:pt x="150" y="638"/>
                      <a:pt x="151" y="644"/>
                      <a:pt x="152" y="647"/>
                    </a:cubicBezTo>
                    <a:cubicBezTo>
                      <a:pt x="153" y="650"/>
                      <a:pt x="155" y="659"/>
                      <a:pt x="155" y="661"/>
                    </a:cubicBezTo>
                    <a:cubicBezTo>
                      <a:pt x="156" y="663"/>
                      <a:pt x="156" y="664"/>
                      <a:pt x="156" y="666"/>
                    </a:cubicBezTo>
                    <a:cubicBezTo>
                      <a:pt x="156" y="668"/>
                      <a:pt x="157" y="677"/>
                      <a:pt x="157" y="681"/>
                    </a:cubicBezTo>
                    <a:cubicBezTo>
                      <a:pt x="157" y="685"/>
                      <a:pt x="158" y="699"/>
                      <a:pt x="158" y="701"/>
                    </a:cubicBezTo>
                    <a:cubicBezTo>
                      <a:pt x="158" y="702"/>
                      <a:pt x="159" y="711"/>
                      <a:pt x="159" y="713"/>
                    </a:cubicBezTo>
                    <a:cubicBezTo>
                      <a:pt x="159" y="715"/>
                      <a:pt x="159" y="721"/>
                      <a:pt x="159" y="722"/>
                    </a:cubicBezTo>
                    <a:cubicBezTo>
                      <a:pt x="159" y="723"/>
                      <a:pt x="159" y="723"/>
                      <a:pt x="159" y="722"/>
                    </a:cubicBezTo>
                    <a:cubicBezTo>
                      <a:pt x="159" y="722"/>
                      <a:pt x="158" y="720"/>
                      <a:pt x="157" y="719"/>
                    </a:cubicBezTo>
                    <a:cubicBezTo>
                      <a:pt x="157" y="718"/>
                      <a:pt x="156" y="716"/>
                      <a:pt x="156" y="715"/>
                    </a:cubicBezTo>
                    <a:cubicBezTo>
                      <a:pt x="155" y="715"/>
                      <a:pt x="151" y="707"/>
                      <a:pt x="151" y="706"/>
                    </a:cubicBezTo>
                    <a:close/>
                    <a:moveTo>
                      <a:pt x="159" y="746"/>
                    </a:moveTo>
                    <a:cubicBezTo>
                      <a:pt x="159" y="746"/>
                      <a:pt x="157" y="745"/>
                      <a:pt x="157" y="744"/>
                    </a:cubicBezTo>
                    <a:cubicBezTo>
                      <a:pt x="156" y="744"/>
                      <a:pt x="156" y="743"/>
                      <a:pt x="156" y="742"/>
                    </a:cubicBezTo>
                    <a:cubicBezTo>
                      <a:pt x="156" y="741"/>
                      <a:pt x="157" y="741"/>
                      <a:pt x="157" y="740"/>
                    </a:cubicBezTo>
                    <a:cubicBezTo>
                      <a:pt x="158" y="739"/>
                      <a:pt x="158" y="737"/>
                      <a:pt x="159" y="736"/>
                    </a:cubicBezTo>
                    <a:cubicBezTo>
                      <a:pt x="159" y="734"/>
                      <a:pt x="159" y="734"/>
                      <a:pt x="159" y="735"/>
                    </a:cubicBezTo>
                    <a:cubicBezTo>
                      <a:pt x="159" y="737"/>
                      <a:pt x="160" y="741"/>
                      <a:pt x="160" y="742"/>
                    </a:cubicBezTo>
                    <a:cubicBezTo>
                      <a:pt x="160" y="743"/>
                      <a:pt x="160" y="745"/>
                      <a:pt x="160" y="746"/>
                    </a:cubicBezTo>
                    <a:cubicBezTo>
                      <a:pt x="160" y="747"/>
                      <a:pt x="160" y="747"/>
                      <a:pt x="159" y="746"/>
                    </a:cubicBezTo>
                    <a:close/>
                    <a:moveTo>
                      <a:pt x="172" y="788"/>
                    </a:moveTo>
                    <a:cubicBezTo>
                      <a:pt x="172" y="788"/>
                      <a:pt x="172" y="789"/>
                      <a:pt x="172" y="790"/>
                    </a:cubicBezTo>
                    <a:cubicBezTo>
                      <a:pt x="172" y="791"/>
                      <a:pt x="171" y="796"/>
                      <a:pt x="171" y="798"/>
                    </a:cubicBezTo>
                    <a:cubicBezTo>
                      <a:pt x="170" y="801"/>
                      <a:pt x="170" y="799"/>
                      <a:pt x="170" y="800"/>
                    </a:cubicBezTo>
                    <a:cubicBezTo>
                      <a:pt x="170" y="800"/>
                      <a:pt x="170" y="800"/>
                      <a:pt x="170" y="798"/>
                    </a:cubicBezTo>
                    <a:cubicBezTo>
                      <a:pt x="169" y="795"/>
                      <a:pt x="169" y="791"/>
                      <a:pt x="169" y="790"/>
                    </a:cubicBezTo>
                    <a:cubicBezTo>
                      <a:pt x="169" y="788"/>
                      <a:pt x="168" y="788"/>
                      <a:pt x="168" y="788"/>
                    </a:cubicBezTo>
                    <a:cubicBezTo>
                      <a:pt x="167" y="788"/>
                      <a:pt x="167" y="787"/>
                      <a:pt x="167" y="787"/>
                    </a:cubicBezTo>
                    <a:cubicBezTo>
                      <a:pt x="167" y="787"/>
                      <a:pt x="166" y="787"/>
                      <a:pt x="166" y="787"/>
                    </a:cubicBezTo>
                    <a:cubicBezTo>
                      <a:pt x="166" y="787"/>
                      <a:pt x="166" y="785"/>
                      <a:pt x="167" y="784"/>
                    </a:cubicBezTo>
                    <a:cubicBezTo>
                      <a:pt x="167" y="783"/>
                      <a:pt x="167" y="783"/>
                      <a:pt x="167" y="783"/>
                    </a:cubicBezTo>
                    <a:cubicBezTo>
                      <a:pt x="168" y="783"/>
                      <a:pt x="168" y="783"/>
                      <a:pt x="168" y="783"/>
                    </a:cubicBezTo>
                    <a:cubicBezTo>
                      <a:pt x="169" y="783"/>
                      <a:pt x="168" y="782"/>
                      <a:pt x="169" y="783"/>
                    </a:cubicBezTo>
                    <a:cubicBezTo>
                      <a:pt x="170" y="784"/>
                      <a:pt x="171" y="786"/>
                      <a:pt x="172" y="787"/>
                    </a:cubicBezTo>
                    <a:cubicBezTo>
                      <a:pt x="173" y="787"/>
                      <a:pt x="173" y="788"/>
                      <a:pt x="172" y="78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6655762" y="5703993"/>
              <a:ext cx="3041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Satoshi </a:t>
              </a:r>
              <a:r>
                <a:rPr lang="en-AU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Nakamoto</a:t>
              </a:r>
              <a:endParaRPr lang="en-A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21008" y="6012373"/>
              <a:ext cx="19106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2009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012" y="260099"/>
            <a:ext cx="6743981" cy="1450757"/>
          </a:xfrm>
        </p:spPr>
        <p:txBody>
          <a:bodyPr/>
          <a:lstStyle/>
          <a:p>
            <a:r>
              <a:rPr lang="en-AU" dirty="0"/>
              <a:t>A brief History of Bitcoin (&amp; Blockchain)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3898372" y="2087107"/>
            <a:ext cx="3930456" cy="2542513"/>
            <a:chOff x="3831434" y="2047351"/>
            <a:chExt cx="3930456" cy="2542513"/>
          </a:xfrm>
        </p:grpSpPr>
        <p:grpSp>
          <p:nvGrpSpPr>
            <p:cNvPr id="7" name="Group 6"/>
            <p:cNvGrpSpPr/>
            <p:nvPr/>
          </p:nvGrpSpPr>
          <p:grpSpPr>
            <a:xfrm>
              <a:off x="3875690" y="3081759"/>
              <a:ext cx="3886200" cy="1508105"/>
              <a:chOff x="381000" y="1825011"/>
              <a:chExt cx="3886200" cy="1508105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381000" y="1828800"/>
                <a:ext cx="3886200" cy="796290"/>
                <a:chOff x="381000" y="1828800"/>
                <a:chExt cx="3886200" cy="796290"/>
              </a:xfrm>
            </p:grpSpPr>
            <p:cxnSp>
              <p:nvCxnSpPr>
                <p:cNvPr id="11" name="Straight Connector 10"/>
                <p:cNvCxnSpPr/>
                <p:nvPr/>
              </p:nvCxnSpPr>
              <p:spPr>
                <a:xfrm flipH="1" flipV="1">
                  <a:off x="3228356" y="1828800"/>
                  <a:ext cx="1038844" cy="79629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381000" y="1828800"/>
                  <a:ext cx="284735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153"/>
              <p:cNvSpPr txBox="1">
                <a:spLocks noChangeArrowheads="1"/>
              </p:cNvSpPr>
              <p:nvPr/>
            </p:nvSpPr>
            <p:spPr bwMode="auto">
              <a:xfrm>
                <a:off x="421965" y="1825011"/>
                <a:ext cx="2761519" cy="15081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b="1" dirty="0">
                    <a:solidFill>
                      <a:srgbClr val="002060"/>
                    </a:solidFill>
                    <a:latin typeface="Calibri" pitchFamily="34" charset="0"/>
                  </a:rPr>
                  <a:t>Bitcoin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libri" pitchFamily="34" charset="0"/>
                  </a:rPr>
                  <a:t>Mining concepts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libri" pitchFamily="34" charset="0"/>
                  </a:rPr>
                  <a:t>Max 21M Bitcoins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libri" pitchFamily="34" charset="0"/>
                  </a:rPr>
                  <a:t>Value not yet stable?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libri" pitchFamily="34" charset="0"/>
                  </a:rPr>
                  <a:t>Currency or Asset?</a:t>
                </a:r>
              </a:p>
            </p:txBody>
          </p:sp>
        </p:grpSp>
        <p:sp>
          <p:nvSpPr>
            <p:cNvPr id="27" name="Plus 26"/>
            <p:cNvSpPr/>
            <p:nvPr/>
          </p:nvSpPr>
          <p:spPr>
            <a:xfrm>
              <a:off x="3976462" y="2653303"/>
              <a:ext cx="428456" cy="428456"/>
            </a:xfrm>
            <a:prstGeom prst="mathPlus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002060"/>
                </a:solidFill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1434" y="2047351"/>
              <a:ext cx="718511" cy="547437"/>
            </a:xfrm>
            <a:prstGeom prst="rect">
              <a:avLst/>
            </a:prstGeom>
          </p:spPr>
        </p:pic>
      </p:grpSp>
      <p:grpSp>
        <p:nvGrpSpPr>
          <p:cNvPr id="40" name="Group 39"/>
          <p:cNvGrpSpPr/>
          <p:nvPr/>
        </p:nvGrpSpPr>
        <p:grpSpPr>
          <a:xfrm>
            <a:off x="8371490" y="2076984"/>
            <a:ext cx="3648116" cy="3070667"/>
            <a:chOff x="8371490" y="2076984"/>
            <a:chExt cx="3648116" cy="3070667"/>
          </a:xfrm>
        </p:grpSpPr>
        <p:grpSp>
          <p:nvGrpSpPr>
            <p:cNvPr id="6" name="Group 5"/>
            <p:cNvGrpSpPr/>
            <p:nvPr/>
          </p:nvGrpSpPr>
          <p:grpSpPr>
            <a:xfrm>
              <a:off x="8371490" y="2653303"/>
              <a:ext cx="3581400" cy="2494348"/>
              <a:chOff x="4876800" y="1396555"/>
              <a:chExt cx="3581400" cy="2494348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4876800" y="1828800"/>
                <a:ext cx="3581400" cy="685800"/>
                <a:chOff x="4876800" y="1828800"/>
                <a:chExt cx="3581400" cy="685800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 flipV="1">
                  <a:off x="4876800" y="1828800"/>
                  <a:ext cx="1073496" cy="685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5950296" y="1828800"/>
                  <a:ext cx="250790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TextBox 153"/>
              <p:cNvSpPr txBox="1">
                <a:spLocks noChangeArrowheads="1"/>
              </p:cNvSpPr>
              <p:nvPr/>
            </p:nvSpPr>
            <p:spPr bwMode="auto">
              <a:xfrm>
                <a:off x="6081540" y="1828800"/>
                <a:ext cx="2300460" cy="2062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sz="2000" b="1" dirty="0">
                    <a:solidFill>
                      <a:srgbClr val="002060"/>
                    </a:solidFill>
                    <a:latin typeface="Calibri" pitchFamily="34" charset="0"/>
                  </a:rPr>
                  <a:t>Blockchain</a:t>
                </a:r>
              </a:p>
              <a:p>
                <a:pPr marL="342900" indent="-342900" algn="r"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libri" pitchFamily="34" charset="0"/>
                  </a:rPr>
                  <a:t>Distributed shared Ledger</a:t>
                </a:r>
              </a:p>
              <a:p>
                <a:pPr marL="342900" indent="-342900" algn="r"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libri" pitchFamily="34" charset="0"/>
                  </a:rPr>
                  <a:t>SHA256, PKI based cryptography</a:t>
                </a:r>
              </a:p>
              <a:p>
                <a:pPr marL="342900" indent="-342900" algn="r"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libri" pitchFamily="34" charset="0"/>
                  </a:rPr>
                  <a:t>Consensus model driven</a:t>
                </a:r>
              </a:p>
            </p:txBody>
          </p:sp>
          <p:sp>
            <p:nvSpPr>
              <p:cNvPr id="15" name="Plus 14"/>
              <p:cNvSpPr/>
              <p:nvPr/>
            </p:nvSpPr>
            <p:spPr>
              <a:xfrm>
                <a:off x="7970984" y="1396555"/>
                <a:ext cx="428456" cy="428456"/>
              </a:xfrm>
              <a:prstGeom prst="mathPlus">
                <a:avLst/>
              </a:prstGeom>
              <a:solidFill>
                <a:srgbClr val="EE3223"/>
              </a:solidFill>
              <a:ln>
                <a:solidFill>
                  <a:srgbClr val="EE3223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solidFill>
                    <a:srgbClr val="002060"/>
                  </a:solidFill>
                </a:endParaRPr>
              </a:p>
            </p:txBody>
          </p:sp>
        </p:grp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40197" y="2076984"/>
              <a:ext cx="679409" cy="532774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272559" y="1900892"/>
            <a:ext cx="3024878" cy="4652772"/>
            <a:chOff x="8951254" y="2086106"/>
            <a:chExt cx="3024878" cy="3625834"/>
          </a:xfrm>
        </p:grpSpPr>
        <p:sp>
          <p:nvSpPr>
            <p:cNvPr id="34" name="TextBox 33"/>
            <p:cNvSpPr txBox="1"/>
            <p:nvPr/>
          </p:nvSpPr>
          <p:spPr>
            <a:xfrm>
              <a:off x="8951256" y="5208264"/>
              <a:ext cx="3024876" cy="503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rgbClr val="002060"/>
                  </a:solidFill>
                </a:rPr>
                <a:t>2009: Bitcoin Blockchain created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951255" y="3534073"/>
              <a:ext cx="30248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rgbClr val="002060"/>
                  </a:solidFill>
                </a:rPr>
                <a:t>2015: Ripple, Etherium, R3 Corda, </a:t>
              </a:r>
              <a:r>
                <a:rPr lang="en-AU" dirty="0" err="1">
                  <a:solidFill>
                    <a:srgbClr val="002060"/>
                  </a:solidFill>
                </a:rPr>
                <a:t>HyperLedger</a:t>
              </a:r>
              <a:r>
                <a:rPr lang="en-AU" dirty="0">
                  <a:solidFill>
                    <a:srgbClr val="002060"/>
                  </a:solidFill>
                </a:rPr>
                <a:t>, etc.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951254" y="4787996"/>
              <a:ext cx="3024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rgbClr val="002060"/>
                  </a:solidFill>
                </a:rPr>
                <a:t>2011: Bitcoin = ~USD 1.00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951255" y="4129548"/>
              <a:ext cx="30248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rgbClr val="002060"/>
                  </a:solidFill>
                </a:rPr>
                <a:t>2013: Coloured Coins Proposed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51254" y="2086106"/>
              <a:ext cx="3024876" cy="136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rgbClr val="002060"/>
                  </a:solidFill>
                </a:rPr>
                <a:t>2017 (July): Bitcoin Split</a:t>
              </a:r>
            </a:p>
            <a:p>
              <a:endParaRPr lang="en-AU" dirty="0">
                <a:solidFill>
                  <a:srgbClr val="002060"/>
                </a:solidFill>
              </a:endParaRPr>
            </a:p>
            <a:p>
              <a:r>
                <a:rPr lang="en-AU" dirty="0">
                  <a:solidFill>
                    <a:srgbClr val="002060"/>
                  </a:solidFill>
                </a:rPr>
                <a:t>2017 (December): &gt;USD 10K</a:t>
              </a:r>
            </a:p>
            <a:p>
              <a:endParaRPr lang="en-AU" dirty="0">
                <a:solidFill>
                  <a:srgbClr val="002060"/>
                </a:solidFill>
              </a:endParaRPr>
            </a:p>
            <a:p>
              <a:r>
                <a:rPr lang="en-AU" dirty="0">
                  <a:solidFill>
                    <a:srgbClr val="002060"/>
                  </a:solidFill>
                </a:rPr>
                <a:t>As of May 31, 2016: Bitcoin = USD 529.51</a:t>
              </a:r>
            </a:p>
          </p:txBody>
        </p:sp>
      </p:grpSp>
      <p:sp>
        <p:nvSpPr>
          <p:cNvPr id="3" name="Down Arrow 2"/>
          <p:cNvSpPr/>
          <p:nvPr/>
        </p:nvSpPr>
        <p:spPr>
          <a:xfrm rot="10800000">
            <a:off x="3122392" y="2071877"/>
            <a:ext cx="403887" cy="4356253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01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887" y="284176"/>
            <a:ext cx="8866651" cy="1508760"/>
          </a:xfrm>
        </p:spPr>
        <p:txBody>
          <a:bodyPr/>
          <a:lstStyle/>
          <a:p>
            <a:r>
              <a:rPr lang="en-AU" dirty="0"/>
              <a:t>Cryptography 101: SHA256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740" y="2610678"/>
            <a:ext cx="1153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err="1"/>
              <a:t>TaB</a:t>
            </a:r>
            <a:r>
              <a:rPr lang="en-AU" sz="2400" b="1" dirty="0"/>
              <a:t> </a:t>
            </a:r>
            <a:r>
              <a:rPr lang="en-AU" sz="2400" b="1" dirty="0">
                <a:sym typeface="Wingdings" panose="05000000000000000000" pitchFamily="2" charset="2"/>
              </a:rPr>
              <a:t> </a:t>
            </a:r>
            <a:r>
              <a:rPr lang="en-AU" sz="2400" b="1" dirty="0"/>
              <a:t>a474256dec2c9de04ef312c43ad819197c817e1ce233f1f2f0bc5b834caeca21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313" y="3797752"/>
            <a:ext cx="1153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TAB </a:t>
            </a:r>
            <a:r>
              <a:rPr lang="en-AU" sz="2400" b="1" dirty="0">
                <a:sym typeface="Wingdings" panose="05000000000000000000" pitchFamily="2" charset="2"/>
              </a:rPr>
              <a:t> </a:t>
            </a:r>
            <a:r>
              <a:rPr lang="en-AU" sz="2400" b="1" dirty="0"/>
              <a:t>125fd55e6b39a03456794c7eaf2ebd0f915afdb9aa3d4e15528bb19998b78059</a:t>
            </a:r>
          </a:p>
        </p:txBody>
      </p:sp>
    </p:spTree>
    <p:extLst>
      <p:ext uri="{BB962C8B-B14F-4D97-AF65-F5344CB8AC3E}">
        <p14:creationId xmlns:p14="http://schemas.microsoft.com/office/powerpoint/2010/main" val="252466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887" y="284176"/>
            <a:ext cx="6678054" cy="1508760"/>
          </a:xfrm>
        </p:spPr>
        <p:txBody>
          <a:bodyPr/>
          <a:lstStyle/>
          <a:p>
            <a:r>
              <a:rPr lang="en-AU" dirty="0"/>
              <a:t>Bitcoin &amp; cash analogy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183" y="2385991"/>
            <a:ext cx="1446275" cy="62189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012" y="2830750"/>
            <a:ext cx="1295927" cy="5766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52" y="3056275"/>
            <a:ext cx="1152679" cy="5808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10" y="3366132"/>
            <a:ext cx="1152679" cy="5808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478" y="4055202"/>
            <a:ext cx="523112" cy="5231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10" y="4040154"/>
            <a:ext cx="523112" cy="5231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355" y="4626548"/>
            <a:ext cx="522197" cy="5221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510" y="4656434"/>
            <a:ext cx="474725" cy="4747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030" y="1987827"/>
            <a:ext cx="3705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Cash &amp; Coin in your Wallet: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8761" y="1916326"/>
            <a:ext cx="1584211" cy="10589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80312" y="1987827"/>
            <a:ext cx="3750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b="1" dirty="0">
                <a:solidFill>
                  <a:srgbClr val="002060"/>
                </a:solidFill>
              </a:rPr>
              <a:t>You go to a Coffee shop and buy a coffee for AUD 4.40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6047" y="3392815"/>
            <a:ext cx="908895" cy="908895"/>
          </a:xfrm>
          <a:prstGeom prst="rect">
            <a:avLst/>
          </a:prstGeom>
        </p:spPr>
      </p:pic>
      <p:sp>
        <p:nvSpPr>
          <p:cNvPr id="30" name="Curved Right Arrow 29"/>
          <p:cNvSpPr/>
          <p:nvPr/>
        </p:nvSpPr>
        <p:spPr>
          <a:xfrm rot="13719261">
            <a:off x="10233759" y="2876645"/>
            <a:ext cx="442566" cy="1649288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1" name="Curved Right Arrow 30"/>
          <p:cNvSpPr/>
          <p:nvPr/>
        </p:nvSpPr>
        <p:spPr>
          <a:xfrm rot="2160798" flipH="1">
            <a:off x="10752825" y="2919679"/>
            <a:ext cx="516210" cy="3271681"/>
          </a:xfrm>
          <a:prstGeom prst="curved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2" name="Right Arrow 71"/>
          <p:cNvSpPr/>
          <p:nvPr/>
        </p:nvSpPr>
        <p:spPr>
          <a:xfrm>
            <a:off x="3814075" y="3608216"/>
            <a:ext cx="5920866" cy="6162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682" y="3625905"/>
            <a:ext cx="1152679" cy="580854"/>
          </a:xfrm>
          <a:prstGeom prst="rect">
            <a:avLst/>
          </a:prstGeom>
        </p:spPr>
      </p:pic>
      <p:sp>
        <p:nvSpPr>
          <p:cNvPr id="75" name="Right Arrow 74"/>
          <p:cNvSpPr/>
          <p:nvPr/>
        </p:nvSpPr>
        <p:spPr>
          <a:xfrm rot="10800000">
            <a:off x="3623288" y="5326195"/>
            <a:ext cx="6164746" cy="6162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136" y="5349595"/>
            <a:ext cx="574417" cy="5744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98505" y="3196206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Out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98505" y="5023090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In</a:t>
            </a:r>
          </a:p>
        </p:txBody>
      </p:sp>
      <p:sp>
        <p:nvSpPr>
          <p:cNvPr id="33" name="Right Arrow 32"/>
          <p:cNvSpPr/>
          <p:nvPr/>
        </p:nvSpPr>
        <p:spPr>
          <a:xfrm rot="16200000">
            <a:off x="2591359" y="4705556"/>
            <a:ext cx="1309029" cy="616232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557" y="5253363"/>
            <a:ext cx="696262" cy="69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1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5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25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0" grpId="0" animBg="1"/>
      <p:bldP spid="31" grpId="0" animBg="1"/>
      <p:bldP spid="72" grpId="0" animBg="1"/>
      <p:bldP spid="75" grpId="0" animBg="1"/>
      <p:bldP spid="4" grpId="0"/>
      <p:bldP spid="78" grpId="0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bitcoin 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00" y="1997519"/>
            <a:ext cx="3705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Bitcoin in your Wallet: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761" y="1916326"/>
            <a:ext cx="1584211" cy="1058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9893" y="1997519"/>
            <a:ext cx="3750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b="1" dirty="0">
                <a:solidFill>
                  <a:srgbClr val="002060"/>
                </a:solidFill>
              </a:rPr>
              <a:t>You go to a Coffee shop and buy a coffee for BTC 0.00040o00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63545" y="4088820"/>
            <a:ext cx="3419061" cy="74564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ight Arrow 7"/>
          <p:cNvSpPr/>
          <p:nvPr/>
        </p:nvSpPr>
        <p:spPr>
          <a:xfrm rot="10800000">
            <a:off x="4863544" y="5075032"/>
            <a:ext cx="3419061" cy="74564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19" y="2373015"/>
            <a:ext cx="3377051" cy="9403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00" y="3323076"/>
            <a:ext cx="35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e14768dSOV5css9F……………………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399" y="3822843"/>
            <a:ext cx="35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e13768dSO65css9G……………………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398" y="4235356"/>
            <a:ext cx="35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e14e68dSOV5css5Q……………..……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397" y="4709916"/>
            <a:ext cx="35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e14743dXOn5css3H……………………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6135" y="4276974"/>
            <a:ext cx="291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+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180" y="4162092"/>
            <a:ext cx="599095" cy="599095"/>
          </a:xfrm>
          <a:prstGeom prst="rect">
            <a:avLst/>
          </a:prstGeom>
        </p:spPr>
      </p:pic>
      <p:sp>
        <p:nvSpPr>
          <p:cNvPr id="17" name="Curved Right Arrow 16"/>
          <p:cNvSpPr/>
          <p:nvPr/>
        </p:nvSpPr>
        <p:spPr>
          <a:xfrm>
            <a:off x="13250" y="2843199"/>
            <a:ext cx="442566" cy="1649288"/>
          </a:xfrm>
          <a:prstGeom prst="curv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5974" y="4276974"/>
            <a:ext cx="35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e238dgF65ysw7Z……………………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816" y="5184476"/>
            <a:ext cx="35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e17943dkOn7xss6R……………………</a:t>
            </a:r>
          </a:p>
        </p:txBody>
      </p:sp>
      <p:sp>
        <p:nvSpPr>
          <p:cNvPr id="20" name="Curved Right Arrow 19"/>
          <p:cNvSpPr/>
          <p:nvPr/>
        </p:nvSpPr>
        <p:spPr>
          <a:xfrm flipH="1">
            <a:off x="8319611" y="4604688"/>
            <a:ext cx="478462" cy="868369"/>
          </a:xfrm>
          <a:prstGeom prst="curved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079" y="3011471"/>
            <a:ext cx="3487252" cy="8659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33391" y="4276974"/>
            <a:ext cx="245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2"/>
                </a:solidFill>
              </a:rPr>
              <a:t>BTC o.03300000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3391" y="5263186"/>
            <a:ext cx="245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2"/>
                </a:solidFill>
              </a:rPr>
              <a:t>BTC o.03260000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6054" y="4081668"/>
            <a:ext cx="2913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u="sng" dirty="0">
                <a:solidFill>
                  <a:srgbClr val="002060"/>
                </a:solidFill>
              </a:rPr>
              <a:t>BTC 0.00040000</a:t>
            </a:r>
          </a:p>
        </p:txBody>
      </p:sp>
    </p:spTree>
    <p:extLst>
      <p:ext uri="{BB962C8B-B14F-4D97-AF65-F5344CB8AC3E}">
        <p14:creationId xmlns:p14="http://schemas.microsoft.com/office/powerpoint/2010/main" val="316208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18" grpId="0"/>
      <p:bldP spid="20" grpId="0" animBg="1"/>
      <p:bldP spid="22" grpId="0"/>
      <p:bldP spid="23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46791"/>
            <a:ext cx="4611757" cy="1739347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rgbClr val="002060"/>
                </a:solidFill>
              </a:rPr>
              <a:t>Blockchain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81600" y="3377800"/>
            <a:ext cx="701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rgbClr val="002060"/>
                </a:solidFill>
              </a:rPr>
              <a:t>What is the Blockchain?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rgbClr val="002060"/>
                </a:solidFill>
              </a:rPr>
              <a:t>Distributed Ledger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rgbClr val="002060"/>
                </a:solidFill>
              </a:rPr>
              <a:t>Ledger Book analogy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rgbClr val="002060"/>
                </a:solidFill>
              </a:rPr>
              <a:t>How Blockchain works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AU" b="1" dirty="0">
                <a:solidFill>
                  <a:srgbClr val="002060"/>
                </a:solidFill>
              </a:rPr>
              <a:t>Nonce &amp; Proof of 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96" y="-96400"/>
            <a:ext cx="4930490" cy="249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887" y="284176"/>
            <a:ext cx="6723217" cy="1508760"/>
          </a:xfrm>
        </p:spPr>
        <p:txBody>
          <a:bodyPr>
            <a:normAutofit fontScale="90000"/>
          </a:bodyPr>
          <a:lstStyle/>
          <a:p>
            <a:r>
              <a:rPr lang="en-AU" dirty="0"/>
              <a:t>What is a blockchain?</a:t>
            </a:r>
            <a:br>
              <a:rPr lang="en-AU" dirty="0"/>
            </a:br>
            <a:r>
              <a:rPr lang="en-AU" dirty="0"/>
              <a:t>three key Concepts of a Distributed ledger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8693542" y="2035787"/>
            <a:ext cx="2953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DISTRIBUTED &amp; CONSENSUS DRIVEN</a:t>
            </a:r>
          </a:p>
        </p:txBody>
      </p:sp>
      <p:sp>
        <p:nvSpPr>
          <p:cNvPr id="30" name="TextBox 25"/>
          <p:cNvSpPr txBox="1"/>
          <p:nvPr/>
        </p:nvSpPr>
        <p:spPr>
          <a:xfrm>
            <a:off x="8693542" y="4766103"/>
            <a:ext cx="29531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CRYPTOGRAPHICALLY SECURED &amp; TRUSTED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45450" y="2088767"/>
            <a:ext cx="4727099" cy="4877021"/>
            <a:chOff x="122425" y="2483069"/>
            <a:chExt cx="2935157" cy="3028245"/>
          </a:xfrm>
        </p:grpSpPr>
        <p:grpSp>
          <p:nvGrpSpPr>
            <p:cNvPr id="32" name="Group 31"/>
            <p:cNvGrpSpPr/>
            <p:nvPr/>
          </p:nvGrpSpPr>
          <p:grpSpPr>
            <a:xfrm>
              <a:off x="122425" y="2483069"/>
              <a:ext cx="2935157" cy="3028245"/>
              <a:chOff x="614317" y="1619206"/>
              <a:chExt cx="4297362" cy="4433653"/>
            </a:xfrm>
          </p:grpSpPr>
          <p:sp>
            <p:nvSpPr>
              <p:cNvPr id="37" name="Ellipse 53"/>
              <p:cNvSpPr/>
              <p:nvPr/>
            </p:nvSpPr>
            <p:spPr bwMode="auto">
              <a:xfrm>
                <a:off x="614317" y="5428434"/>
                <a:ext cx="4297362" cy="624425"/>
              </a:xfrm>
              <a:prstGeom prst="ellipse">
                <a:avLst/>
              </a:prstGeom>
              <a:gradFill flip="none" rotWithShape="1">
                <a:gsLst>
                  <a:gs pos="24000">
                    <a:sysClr val="windowText" lastClr="000000">
                      <a:alpha val="44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da-DK">
                  <a:solidFill>
                    <a:srgbClr val="FFFFFF"/>
                  </a:solidFill>
                  <a:latin typeface="Calibri" charset="0"/>
                  <a:ea typeface="ＭＳ Ｐゴシック" charset="-128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644480" y="1619206"/>
                <a:ext cx="4114799" cy="4114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BE4AE"/>
                  </a:gs>
                  <a:gs pos="13000">
                    <a:srgbClr val="BD922A"/>
                  </a:gs>
                  <a:gs pos="21001">
                    <a:srgbClr val="BD922A"/>
                  </a:gs>
                  <a:gs pos="63000">
                    <a:srgbClr val="FBE4AE"/>
                  </a:gs>
                  <a:gs pos="67000">
                    <a:srgbClr val="BD922A"/>
                  </a:gs>
                  <a:gs pos="69000">
                    <a:srgbClr val="835E17"/>
                  </a:gs>
                  <a:gs pos="82001">
                    <a:srgbClr val="A28949"/>
                  </a:gs>
                  <a:gs pos="100000">
                    <a:srgbClr val="FAE3B7"/>
                  </a:gs>
                </a:gsLst>
                <a:lin ang="16200000" scaled="1"/>
                <a:tileRect/>
              </a:gra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873080" y="1847806"/>
                <a:ext cx="3657599" cy="365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40" name="Block Arc 39"/>
              <p:cNvSpPr/>
              <p:nvPr/>
            </p:nvSpPr>
            <p:spPr>
              <a:xfrm>
                <a:off x="873080" y="1847807"/>
                <a:ext cx="3657599" cy="3581401"/>
              </a:xfrm>
              <a:prstGeom prst="blockArc">
                <a:avLst>
                  <a:gd name="adj1" fmla="val 14313255"/>
                  <a:gd name="adj2" fmla="val 0"/>
                  <a:gd name="adj3" fmla="val 25000"/>
                </a:avLst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solidFill>
                    <a:schemeClr val="tx1"/>
                  </a:solidFill>
                  <a:latin typeface="Calibri" pitchFamily="34" charset="0"/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1744618" y="2717756"/>
                <a:ext cx="1920875" cy="191928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latin typeface="Calibri" pitchFamily="34" charset="0"/>
                </a:endParaRPr>
              </a:p>
            </p:txBody>
          </p:sp>
          <p:grpSp>
            <p:nvGrpSpPr>
              <p:cNvPr id="42" name="Group 41"/>
              <p:cNvGrpSpPr>
                <a:grpSpLocks/>
              </p:cNvGrpSpPr>
              <p:nvPr/>
            </p:nvGrpSpPr>
            <p:grpSpPr bwMode="auto">
              <a:xfrm>
                <a:off x="1558879" y="2457407"/>
                <a:ext cx="2057399" cy="2138363"/>
                <a:chOff x="381000" y="4038600"/>
                <a:chExt cx="1182688" cy="1227226"/>
              </a:xfrm>
            </p:grpSpPr>
            <p:sp>
              <p:nvSpPr>
                <p:cNvPr id="47" name="Oval 46"/>
                <p:cNvSpPr>
                  <a:spLocks noChangeArrowheads="1"/>
                </p:cNvSpPr>
                <p:nvPr/>
              </p:nvSpPr>
              <p:spPr bwMode="auto">
                <a:xfrm>
                  <a:off x="381000" y="4038600"/>
                  <a:ext cx="1094518" cy="109537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CFFCC">
                        <a:alpha val="70000"/>
                      </a:srgbClr>
                    </a:gs>
                    <a:gs pos="100000">
                      <a:srgbClr val="5E765E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latin typeface="Calibri" pitchFamily="34" charset="0"/>
                  </a:endParaRPr>
                </a:p>
              </p:txBody>
            </p:sp>
            <p:sp>
              <p:nvSpPr>
                <p:cNvPr id="48" name="Oval 47"/>
                <p:cNvSpPr>
                  <a:spLocks noChangeArrowheads="1"/>
                </p:cNvSpPr>
                <p:nvPr/>
              </p:nvSpPr>
              <p:spPr bwMode="auto">
                <a:xfrm>
                  <a:off x="512748" y="4214063"/>
                  <a:ext cx="1049927" cy="10517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FF00"/>
                    </a:gs>
                    <a:gs pos="100000">
                      <a:srgbClr val="007600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latin typeface="Calibri" pitchFamily="34" charset="0"/>
                  </a:endParaRPr>
                </a:p>
              </p:txBody>
            </p:sp>
            <p:sp>
              <p:nvSpPr>
                <p:cNvPr id="49" name="Oval 48"/>
                <p:cNvSpPr>
                  <a:spLocks noChangeArrowheads="1"/>
                </p:cNvSpPr>
                <p:nvPr/>
              </p:nvSpPr>
              <p:spPr bwMode="auto">
                <a:xfrm>
                  <a:off x="517815" y="4198849"/>
                  <a:ext cx="1045873" cy="104770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29999"/>
                      </a:srgbClr>
                    </a:gs>
                    <a:gs pos="100000">
                      <a:srgbClr val="767676">
                        <a:alpha val="0"/>
                      </a:srgb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latin typeface="Calibri" pitchFamily="34" charset="0"/>
                  </a:endParaRPr>
                </a:p>
              </p:txBody>
            </p:sp>
            <p:sp>
              <p:nvSpPr>
                <p:cNvPr id="50" name="Oval 49"/>
                <p:cNvSpPr>
                  <a:spLocks noChangeArrowheads="1"/>
                </p:cNvSpPr>
                <p:nvPr/>
              </p:nvSpPr>
              <p:spPr bwMode="auto">
                <a:xfrm>
                  <a:off x="643482" y="4257675"/>
                  <a:ext cx="437807" cy="43815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767676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latin typeface="Calibri" pitchFamily="34" charset="0"/>
                  </a:endParaRPr>
                </a:p>
              </p:txBody>
            </p:sp>
          </p:grpSp>
          <p:pic>
            <p:nvPicPr>
              <p:cNvPr id="43" name="Picture 42"/>
              <p:cNvPicPr preferRelativeResize="0">
                <a:picLocks noChangeArrowheads="1"/>
              </p:cNvPicPr>
              <p:nvPr/>
            </p:nvPicPr>
            <p:blipFill>
              <a:blip r:embed="rId2" cstate="email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 bwMode="auto">
              <a:xfrm>
                <a:off x="1606177" y="2675493"/>
                <a:ext cx="2194559" cy="19360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44" name="Block Arc 43"/>
              <p:cNvSpPr/>
              <p:nvPr/>
            </p:nvSpPr>
            <p:spPr>
              <a:xfrm rot="7169961">
                <a:off x="893717" y="1907767"/>
                <a:ext cx="3657601" cy="3581400"/>
              </a:xfrm>
              <a:prstGeom prst="blockArc">
                <a:avLst>
                  <a:gd name="adj1" fmla="val 14362196"/>
                  <a:gd name="adj2" fmla="val 0"/>
                  <a:gd name="adj3" fmla="val 25000"/>
                </a:avLst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solidFill>
                    <a:schemeClr val="tx1"/>
                  </a:solidFill>
                  <a:latin typeface="Calibri" pitchFamily="34" charset="0"/>
                </a:endParaRPr>
              </a:p>
            </p:txBody>
          </p:sp>
          <p:sp>
            <p:nvSpPr>
              <p:cNvPr id="45" name="Block Arc 44"/>
              <p:cNvSpPr/>
              <p:nvPr/>
            </p:nvSpPr>
            <p:spPr>
              <a:xfrm rot="14368604">
                <a:off x="830218" y="1896654"/>
                <a:ext cx="3657601" cy="3581400"/>
              </a:xfrm>
              <a:prstGeom prst="blockArc">
                <a:avLst>
                  <a:gd name="adj1" fmla="val 14338966"/>
                  <a:gd name="adj2" fmla="val 0"/>
                  <a:gd name="adj3" fmla="val 25000"/>
                </a:avLst>
              </a:prstGeom>
              <a:solidFill>
                <a:schemeClr val="bg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solidFill>
                    <a:schemeClr val="tx1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56" name="Oval 55"/>
            <p:cNvSpPr/>
            <p:nvPr/>
          </p:nvSpPr>
          <p:spPr>
            <a:xfrm>
              <a:off x="1265407" y="2702900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7" name="Oval 56"/>
            <p:cNvSpPr/>
            <p:nvPr/>
          </p:nvSpPr>
          <p:spPr>
            <a:xfrm>
              <a:off x="1096967" y="3015720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8" name="Oval 57"/>
            <p:cNvSpPr/>
            <p:nvPr/>
          </p:nvSpPr>
          <p:spPr>
            <a:xfrm>
              <a:off x="1594269" y="2855300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9" name="Oval 58"/>
            <p:cNvSpPr/>
            <p:nvPr/>
          </p:nvSpPr>
          <p:spPr>
            <a:xfrm>
              <a:off x="2332206" y="3111972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0" name="Oval 59"/>
            <p:cNvSpPr/>
            <p:nvPr/>
          </p:nvSpPr>
          <p:spPr>
            <a:xfrm>
              <a:off x="2027403" y="2855300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1" name="Oval 60"/>
            <p:cNvSpPr/>
            <p:nvPr/>
          </p:nvSpPr>
          <p:spPr>
            <a:xfrm>
              <a:off x="1417807" y="3063846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2" name="Oval 61"/>
            <p:cNvSpPr/>
            <p:nvPr/>
          </p:nvSpPr>
          <p:spPr>
            <a:xfrm>
              <a:off x="2107618" y="3352602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3" name="Oval 62"/>
            <p:cNvSpPr/>
            <p:nvPr/>
          </p:nvSpPr>
          <p:spPr>
            <a:xfrm>
              <a:off x="2364287" y="3577190"/>
              <a:ext cx="112295" cy="1109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5" name="Straight Connector 64"/>
            <p:cNvCxnSpPr>
              <a:stCxn id="57" idx="6"/>
              <a:endCxn id="58" idx="2"/>
            </p:cNvCxnSpPr>
            <p:nvPr/>
          </p:nvCxnSpPr>
          <p:spPr>
            <a:xfrm flipV="1">
              <a:off x="1209262" y="2910774"/>
              <a:ext cx="385007" cy="160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58" idx="2"/>
              <a:endCxn id="56" idx="5"/>
            </p:cNvCxnSpPr>
            <p:nvPr/>
          </p:nvCxnSpPr>
          <p:spPr>
            <a:xfrm flipH="1" flipV="1">
              <a:off x="1361257" y="2797600"/>
              <a:ext cx="233012" cy="11317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56" idx="5"/>
              <a:endCxn id="61" idx="2"/>
            </p:cNvCxnSpPr>
            <p:nvPr/>
          </p:nvCxnSpPr>
          <p:spPr>
            <a:xfrm>
              <a:off x="1361257" y="2797600"/>
              <a:ext cx="56550" cy="3217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1" idx="5"/>
              <a:endCxn id="59" idx="3"/>
            </p:cNvCxnSpPr>
            <p:nvPr/>
          </p:nvCxnSpPr>
          <p:spPr>
            <a:xfrm>
              <a:off x="1513657" y="3158546"/>
              <a:ext cx="834994" cy="4812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59" idx="3"/>
              <a:endCxn id="60" idx="5"/>
            </p:cNvCxnSpPr>
            <p:nvPr/>
          </p:nvCxnSpPr>
          <p:spPr>
            <a:xfrm flipH="1" flipV="1">
              <a:off x="2123253" y="2950000"/>
              <a:ext cx="225398" cy="2566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60" idx="5"/>
              <a:endCxn id="62" idx="1"/>
            </p:cNvCxnSpPr>
            <p:nvPr/>
          </p:nvCxnSpPr>
          <p:spPr>
            <a:xfrm>
              <a:off x="2123253" y="2950000"/>
              <a:ext cx="810" cy="4188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62" idx="1"/>
              <a:endCxn id="58" idx="5"/>
            </p:cNvCxnSpPr>
            <p:nvPr/>
          </p:nvCxnSpPr>
          <p:spPr>
            <a:xfrm flipH="1" flipV="1">
              <a:off x="1690119" y="2950000"/>
              <a:ext cx="433944" cy="41885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endCxn id="59" idx="3"/>
            </p:cNvCxnSpPr>
            <p:nvPr/>
          </p:nvCxnSpPr>
          <p:spPr>
            <a:xfrm>
              <a:off x="1706564" y="2958238"/>
              <a:ext cx="642087" cy="24843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63" idx="0"/>
              <a:endCxn id="59" idx="3"/>
            </p:cNvCxnSpPr>
            <p:nvPr/>
          </p:nvCxnSpPr>
          <p:spPr>
            <a:xfrm flipH="1" flipV="1">
              <a:off x="2348651" y="3206672"/>
              <a:ext cx="71784" cy="37051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57" idx="6"/>
              <a:endCxn id="61" idx="2"/>
            </p:cNvCxnSpPr>
            <p:nvPr/>
          </p:nvCxnSpPr>
          <p:spPr>
            <a:xfrm>
              <a:off x="1209262" y="3071194"/>
              <a:ext cx="208545" cy="4812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63" idx="0"/>
              <a:endCxn id="62" idx="5"/>
            </p:cNvCxnSpPr>
            <p:nvPr/>
          </p:nvCxnSpPr>
          <p:spPr>
            <a:xfrm flipH="1" flipV="1">
              <a:off x="2203468" y="3447302"/>
              <a:ext cx="216967" cy="12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61" idx="5"/>
              <a:endCxn id="62" idx="1"/>
            </p:cNvCxnSpPr>
            <p:nvPr/>
          </p:nvCxnSpPr>
          <p:spPr>
            <a:xfrm>
              <a:off x="1513657" y="3158546"/>
              <a:ext cx="610406" cy="21030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>
              <a:stCxn id="60" idx="1"/>
              <a:endCxn id="61" idx="5"/>
            </p:cNvCxnSpPr>
            <p:nvPr/>
          </p:nvCxnSpPr>
          <p:spPr>
            <a:xfrm flipH="1">
              <a:off x="1513657" y="2871548"/>
              <a:ext cx="530191" cy="28699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58" idx="5"/>
              <a:endCxn id="60" idx="1"/>
            </p:cNvCxnSpPr>
            <p:nvPr/>
          </p:nvCxnSpPr>
          <p:spPr>
            <a:xfrm flipV="1">
              <a:off x="1690119" y="2871548"/>
              <a:ext cx="353729" cy="7845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60" idx="1"/>
              <a:endCxn id="56" idx="5"/>
            </p:cNvCxnSpPr>
            <p:nvPr/>
          </p:nvCxnSpPr>
          <p:spPr>
            <a:xfrm flipH="1" flipV="1">
              <a:off x="1361257" y="2797600"/>
              <a:ext cx="682591" cy="7394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Picture 152" descr="C:\Documents and Settings\ADMIN\Desktop\Useful wmf files\Some elements.png"/>
            <p:cNvPicPr>
              <a:picLocks noChangeAspect="1" noChangeArrowheads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 bwMode="auto">
            <a:xfrm rot="4453368">
              <a:off x="1464114" y="4276661"/>
              <a:ext cx="536101" cy="1101985"/>
            </a:xfrm>
            <a:prstGeom prst="rect">
              <a:avLst/>
            </a:prstGeom>
            <a:noFill/>
          </p:spPr>
        </p:pic>
        <p:pic>
          <p:nvPicPr>
            <p:cNvPr id="154" name="Picture 153" descr="CAI2.png"/>
            <p:cNvPicPr>
              <a:picLocks noChangeAspect="1"/>
            </p:cNvPicPr>
            <p:nvPr/>
          </p:nvPicPr>
          <p:blipFill>
            <a:blip r:embed="rId4" cstate="email"/>
            <a:stretch>
              <a:fillRect/>
            </a:stretch>
          </p:blipFill>
          <p:spPr bwMode="auto">
            <a:xfrm>
              <a:off x="2169344" y="3985224"/>
              <a:ext cx="497671" cy="463007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993" y="3632664"/>
              <a:ext cx="453235" cy="453235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/>
          <p:nvPr/>
        </p:nvCxnSpPr>
        <p:spPr>
          <a:xfrm>
            <a:off x="6270236" y="2442807"/>
            <a:ext cx="5921764" cy="0"/>
          </a:xfrm>
          <a:prstGeom prst="line">
            <a:avLst/>
          </a:prstGeom>
          <a:ln w="38100">
            <a:solidFill>
              <a:srgbClr val="EE322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7304324" y="5181602"/>
            <a:ext cx="4887676" cy="0"/>
          </a:xfrm>
          <a:prstGeom prst="line">
            <a:avLst/>
          </a:prstGeom>
          <a:ln w="38100">
            <a:solidFill>
              <a:srgbClr val="EE322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25"/>
          <p:cNvSpPr txBox="1"/>
          <p:nvPr/>
        </p:nvSpPr>
        <p:spPr>
          <a:xfrm>
            <a:off x="57374" y="2818728"/>
            <a:ext cx="3534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2060"/>
                </a:solidFill>
                <a:latin typeface="Calibri" pitchFamily="34" charset="0"/>
              </a:rPr>
              <a:t>SMART CONTRACT &amp; AUTOMATED EXECUTION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106717" y="3227601"/>
            <a:ext cx="3777998" cy="0"/>
          </a:xfrm>
          <a:prstGeom prst="line">
            <a:avLst/>
          </a:prstGeom>
          <a:ln w="38100">
            <a:solidFill>
              <a:srgbClr val="EE322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93542" y="2757070"/>
            <a:ext cx="31804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Replicated across a number of systems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Almost real-time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Peer-to-Peer network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Consensus driven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Longest chain rule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Proof-of-work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93542" y="5484081"/>
            <a:ext cx="3180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Uses Cryptography (SHA256)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Uses Digital Signatures (PKI)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Blockchains are immutable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039" y="3677112"/>
            <a:ext cx="31804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Pre-written logic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Stored and replicated on a blockchain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Auto-executed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1600" dirty="0">
                <a:solidFill>
                  <a:srgbClr val="002060"/>
                </a:solidFill>
              </a:rPr>
              <a:t>Can update the ledger</a:t>
            </a:r>
          </a:p>
        </p:txBody>
      </p:sp>
      <p:cxnSp>
        <p:nvCxnSpPr>
          <p:cNvPr id="53" name="Straight Connector 52"/>
          <p:cNvCxnSpPr>
            <a:endCxn id="4" idx="0"/>
          </p:cNvCxnSpPr>
          <p:nvPr/>
        </p:nvCxnSpPr>
        <p:spPr>
          <a:xfrm>
            <a:off x="3884363" y="3215383"/>
            <a:ext cx="648925" cy="724819"/>
          </a:xfrm>
          <a:prstGeom prst="line">
            <a:avLst/>
          </a:prstGeom>
          <a:ln w="38100">
            <a:solidFill>
              <a:srgbClr val="EE322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03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69" grpId="0"/>
      <p:bldP spid="5" grpId="0"/>
      <p:bldP spid="51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Blockchain Distributed Ledger &amp; ledger book analogy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43117" y="3148843"/>
            <a:ext cx="11056074" cy="2124075"/>
            <a:chOff x="675637" y="2671762"/>
            <a:chExt cx="11056074" cy="212407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4785" y="2727051"/>
              <a:ext cx="8906926" cy="201577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637" y="2671762"/>
              <a:ext cx="4762500" cy="2124075"/>
            </a:xfrm>
            <a:prstGeom prst="rect">
              <a:avLst/>
            </a:prstGeom>
          </p:spPr>
        </p:pic>
        <p:sp>
          <p:nvSpPr>
            <p:cNvPr id="7" name="Arrow: Right 6"/>
            <p:cNvSpPr/>
            <p:nvPr/>
          </p:nvSpPr>
          <p:spPr>
            <a:xfrm>
              <a:off x="5438137" y="3511827"/>
              <a:ext cx="406072" cy="490330"/>
            </a:xfrm>
            <a:prstGeom prst="rightArrow">
              <a:avLst/>
            </a:prstGeom>
            <a:solidFill>
              <a:srgbClr val="EE3223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13312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7809-19EA-4404-A8FA-2544C494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blockchain 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EE99F-2846-41FC-8840-97D535184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181" y="1889719"/>
            <a:ext cx="8151638" cy="46841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2C696E-3936-400C-A503-A511FA901FDC}"/>
              </a:ext>
            </a:extLst>
          </p:cNvPr>
          <p:cNvSpPr txBox="1"/>
          <p:nvPr/>
        </p:nvSpPr>
        <p:spPr>
          <a:xfrm>
            <a:off x="10522226" y="6524972"/>
            <a:ext cx="1669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>
                <a:solidFill>
                  <a:srgbClr val="EE3223"/>
                </a:solidFill>
              </a:rPr>
              <a:t>Source: 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80214-2CFC-42F8-9DEC-88BFD8423972}"/>
              </a:ext>
            </a:extLst>
          </p:cNvPr>
          <p:cNvSpPr/>
          <p:nvPr/>
        </p:nvSpPr>
        <p:spPr>
          <a:xfrm>
            <a:off x="2020181" y="6361043"/>
            <a:ext cx="617002" cy="3095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712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Blockchain Distributed Ledger &amp; ledger book analogy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927" y="1908370"/>
            <a:ext cx="7641590" cy="48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57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BlockChain works?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78960" y="1872449"/>
            <a:ext cx="11568486" cy="5070876"/>
            <a:chOff x="477740" y="1819440"/>
            <a:chExt cx="11568486" cy="507087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740" y="1819440"/>
              <a:ext cx="11064240" cy="5070876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8772939" y="1934818"/>
              <a:ext cx="3273287" cy="4830417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505739" y="5221358"/>
              <a:ext cx="4055165" cy="157038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362124" y="4576165"/>
            <a:ext cx="3357084" cy="1992846"/>
            <a:chOff x="7909860" y="4708686"/>
            <a:chExt cx="3357084" cy="1992846"/>
          </a:xfrm>
        </p:grpSpPr>
        <p:grpSp>
          <p:nvGrpSpPr>
            <p:cNvPr id="22" name="Group 21"/>
            <p:cNvGrpSpPr/>
            <p:nvPr/>
          </p:nvGrpSpPr>
          <p:grpSpPr>
            <a:xfrm>
              <a:off x="7909860" y="4708686"/>
              <a:ext cx="3317966" cy="1703530"/>
              <a:chOff x="-169817" y="3370217"/>
              <a:chExt cx="3317966" cy="1703530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-169817" y="3370217"/>
                <a:ext cx="3317966" cy="783772"/>
              </a:xfrm>
              <a:prstGeom prst="roundRect">
                <a:avLst/>
              </a:prstGeom>
              <a:noFill/>
              <a:ln>
                <a:solidFill>
                  <a:srgbClr val="EE322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195943" y="3592286"/>
                <a:ext cx="352697" cy="261257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01076" y="3592285"/>
                <a:ext cx="352697" cy="26125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206209" y="3592285"/>
                <a:ext cx="352697" cy="26125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9" name="Straight Connector 28"/>
              <p:cNvCxnSpPr>
                <a:stCxn id="24" idx="2"/>
              </p:cNvCxnSpPr>
              <p:nvPr/>
            </p:nvCxnSpPr>
            <p:spPr>
              <a:xfrm flipV="1">
                <a:off x="372292" y="3853542"/>
                <a:ext cx="2410097" cy="1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/>
              <p:cNvSpPr/>
              <p:nvPr/>
            </p:nvSpPr>
            <p:spPr>
              <a:xfrm>
                <a:off x="2072570" y="3592285"/>
                <a:ext cx="352697" cy="26125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551470" y="3592284"/>
                <a:ext cx="352697" cy="261257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b="1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  <p:cxnSp>
            <p:nvCxnSpPr>
              <p:cNvPr id="32" name="Straight Arrow Connector 31"/>
              <p:cNvCxnSpPr>
                <a:stCxn id="24" idx="2"/>
              </p:cNvCxnSpPr>
              <p:nvPr/>
            </p:nvCxnSpPr>
            <p:spPr>
              <a:xfrm flipH="1">
                <a:off x="372291" y="3853543"/>
                <a:ext cx="1" cy="6662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191625" y="4519749"/>
                <a:ext cx="1266990" cy="553998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rgbClr val="EE3223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1000" b="1" dirty="0">
                    <a:solidFill>
                      <a:srgbClr val="C00000"/>
                    </a:solidFill>
                  </a:rPr>
                  <a:t>Genesis Block mined by Satoshi </a:t>
                </a:r>
                <a:r>
                  <a:rPr lang="en-AU" sz="1000" b="1" dirty="0" err="1">
                    <a:solidFill>
                      <a:srgbClr val="C00000"/>
                    </a:solidFill>
                  </a:rPr>
                  <a:t>Nakamoto</a:t>
                </a:r>
                <a:r>
                  <a:rPr lang="en-AU" sz="1000" b="1" dirty="0">
                    <a:solidFill>
                      <a:srgbClr val="C00000"/>
                    </a:solidFill>
                  </a:rPr>
                  <a:t> in 2009</a:t>
                </a:r>
              </a:p>
            </p:txBody>
          </p:sp>
        </p:grpSp>
        <p:sp>
          <p:nvSpPr>
            <p:cNvPr id="34" name="Rectangle 33"/>
            <p:cNvSpPr/>
            <p:nvPr/>
          </p:nvSpPr>
          <p:spPr>
            <a:xfrm>
              <a:off x="10152247" y="5562799"/>
              <a:ext cx="352697" cy="26125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 dirty="0">
                <a:solidFill>
                  <a:srgbClr val="FF0000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304647" y="5715199"/>
              <a:ext cx="352697" cy="26125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 dirty="0">
                <a:solidFill>
                  <a:srgbClr val="FF0000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457047" y="5867599"/>
              <a:ext cx="352697" cy="26125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609447" y="6019999"/>
              <a:ext cx="352697" cy="26125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761847" y="6172399"/>
              <a:ext cx="352697" cy="26125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 dirty="0">
                <a:solidFill>
                  <a:srgbClr val="FF0000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914247" y="6324799"/>
              <a:ext cx="352697" cy="26125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Right Arrow 9"/>
            <p:cNvSpPr/>
            <p:nvPr/>
          </p:nvSpPr>
          <p:spPr>
            <a:xfrm rot="16200000">
              <a:off x="10569338" y="5287060"/>
              <a:ext cx="505097" cy="397565"/>
            </a:xfrm>
            <a:prstGeom prst="rightArrow">
              <a:avLst/>
            </a:prstGeom>
            <a:solidFill>
              <a:schemeClr val="bg2"/>
            </a:solidFill>
            <a:ln>
              <a:solidFill>
                <a:srgbClr val="EE32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925756" y="6239867"/>
              <a:ext cx="9684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EE3223"/>
                  </a:solidFill>
                </a:rPr>
                <a:t>Candidate Blocks</a:t>
              </a:r>
            </a:p>
          </p:txBody>
        </p:sp>
      </p:grpSp>
      <p:sp>
        <p:nvSpPr>
          <p:cNvPr id="11" name="Rectangle: Rounded Corners 10"/>
          <p:cNvSpPr/>
          <p:nvPr/>
        </p:nvSpPr>
        <p:spPr>
          <a:xfrm>
            <a:off x="7845287" y="4403035"/>
            <a:ext cx="4187687" cy="2415209"/>
          </a:xfrm>
          <a:prstGeom prst="roundRect">
            <a:avLst/>
          </a:prstGeom>
          <a:noFill/>
          <a:ln w="38100">
            <a:solidFill>
              <a:srgbClr val="EE322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083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Nonce &amp; Proof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3739" y="6524971"/>
            <a:ext cx="4638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>
                <a:solidFill>
                  <a:srgbClr val="EE3223"/>
                </a:solidFill>
              </a:rPr>
              <a:t>Source: http://www.righto.com/2014/02/bitcoin-mining-hard-way-algorithms.html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1915604"/>
            <a:ext cx="11812792" cy="4855588"/>
            <a:chOff x="0" y="1915604"/>
            <a:chExt cx="11812792" cy="4855588"/>
          </a:xfrm>
        </p:grpSpPr>
        <p:grpSp>
          <p:nvGrpSpPr>
            <p:cNvPr id="7" name="Group 6"/>
            <p:cNvGrpSpPr/>
            <p:nvPr/>
          </p:nvGrpSpPr>
          <p:grpSpPr>
            <a:xfrm>
              <a:off x="0" y="1915604"/>
              <a:ext cx="11812792" cy="4855588"/>
              <a:chOff x="0" y="1915604"/>
              <a:chExt cx="11812792" cy="4855588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915604"/>
                <a:ext cx="8430721" cy="4855588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04409" y="2511482"/>
                <a:ext cx="6108383" cy="3319272"/>
              </a:xfrm>
              <a:prstGeom prst="rect">
                <a:avLst/>
              </a:prstGeom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2080592" y="4173557"/>
                <a:ext cx="3405808" cy="252259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 anchor="ctr">
                <a:spAutoFit/>
              </a:bodyPr>
              <a:lstStyle/>
              <a:p>
                <a:r>
                  <a:rPr lang="en-AU" b="1" dirty="0">
                    <a:solidFill>
                      <a:schemeClr val="bg2"/>
                    </a:solidFill>
                  </a:rPr>
                  <a:t>856192328</a:t>
                </a:r>
              </a:p>
            </p:txBody>
          </p:sp>
        </p:grpSp>
        <p:sp>
          <p:nvSpPr>
            <p:cNvPr id="8" name="Arrow: Right 7"/>
            <p:cNvSpPr/>
            <p:nvPr/>
          </p:nvSpPr>
          <p:spPr>
            <a:xfrm rot="16200000">
              <a:off x="5963480" y="5754537"/>
              <a:ext cx="530087" cy="450776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Arrow: Right 8"/>
            <p:cNvSpPr/>
            <p:nvPr/>
          </p:nvSpPr>
          <p:spPr>
            <a:xfrm>
              <a:off x="5579165" y="4074297"/>
              <a:ext cx="281386" cy="450776"/>
            </a:xfrm>
            <a:prstGeom prst="rightArrow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860551" y="1845968"/>
            <a:ext cx="5732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EE3223"/>
                </a:solidFill>
              </a:rPr>
              <a:t>Block Height = 286819</a:t>
            </a:r>
          </a:p>
        </p:txBody>
      </p:sp>
    </p:spTree>
    <p:extLst>
      <p:ext uri="{BB962C8B-B14F-4D97-AF65-F5344CB8AC3E}">
        <p14:creationId xmlns:p14="http://schemas.microsoft.com/office/powerpoint/2010/main" val="1663144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46791"/>
            <a:ext cx="12192000" cy="1739347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rgbClr val="002060"/>
                </a:solidFill>
              </a:rPr>
              <a:t>blockchain &amp; banking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96" y="-96400"/>
            <a:ext cx="4930490" cy="249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61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D41E-AC83-4338-8C57-3D45BA6A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886" y="284176"/>
            <a:ext cx="8976087" cy="1508760"/>
          </a:xfrm>
        </p:spPr>
        <p:txBody>
          <a:bodyPr/>
          <a:lstStyle/>
          <a:p>
            <a:r>
              <a:rPr lang="en-AU" dirty="0"/>
              <a:t>Blockchain &amp; banking – advantages &amp;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CF1FD-EA38-43E3-9929-781118E6AAEC}"/>
              </a:ext>
            </a:extLst>
          </p:cNvPr>
          <p:cNvSpPr txBox="1"/>
          <p:nvPr/>
        </p:nvSpPr>
        <p:spPr>
          <a:xfrm>
            <a:off x="419704" y="2012992"/>
            <a:ext cx="4430592" cy="4460796"/>
          </a:xfrm>
          <a:prstGeom prst="round2Diag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3200" b="1" dirty="0"/>
              <a:t>Advantages:</a:t>
            </a:r>
          </a:p>
          <a:p>
            <a:endParaRPr lang="en-AU" sz="3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3200" dirty="0"/>
              <a:t>Cost Savings &amp; Efficiency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3200" dirty="0"/>
              <a:t>Competing with </a:t>
            </a:r>
            <a:r>
              <a:rPr lang="en-AU" sz="3200" dirty="0" err="1"/>
              <a:t>Startups</a:t>
            </a:r>
            <a:endParaRPr lang="en-AU" sz="3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3200" dirty="0"/>
              <a:t>New Business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A0AF7-4F0E-4E63-B8CD-1F5C0E267A0B}"/>
              </a:ext>
            </a:extLst>
          </p:cNvPr>
          <p:cNvSpPr txBox="1"/>
          <p:nvPr/>
        </p:nvSpPr>
        <p:spPr>
          <a:xfrm>
            <a:off x="5380383" y="2012992"/>
            <a:ext cx="6467059" cy="4392692"/>
          </a:xfrm>
          <a:prstGeom prst="round2Diag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3200" b="1" dirty="0"/>
              <a:t>Benefits:</a:t>
            </a:r>
          </a:p>
          <a:p>
            <a:endParaRPr lang="en-AU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Single source of information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The quality and speed of data is extremely high, consistent, precise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Blockchain can reduce human intervention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Blockchain are secure, scalable and durable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Disintermediation takes off both the risk and expense of counterparties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Possibility of failure or intrusion is almost negligible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Lower transaction costs can be tapped successfully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000" dirty="0"/>
              <a:t>Faster processing for swift banking experience</a:t>
            </a:r>
            <a:endParaRPr lang="en-AU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5875D-7424-496D-A733-DCEFA968829B}"/>
              </a:ext>
            </a:extLst>
          </p:cNvPr>
          <p:cNvSpPr txBox="1"/>
          <p:nvPr/>
        </p:nvSpPr>
        <p:spPr>
          <a:xfrm>
            <a:off x="4505739" y="6573078"/>
            <a:ext cx="30877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>
                <a:solidFill>
                  <a:srgbClr val="C00000"/>
                </a:solidFill>
              </a:rPr>
              <a:t>Source: http://www.ciol.com/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0F66C40-1ECE-4273-B5E2-EF8ACFA3A7E3}"/>
              </a:ext>
            </a:extLst>
          </p:cNvPr>
          <p:cNvSpPr/>
          <p:nvPr/>
        </p:nvSpPr>
        <p:spPr>
          <a:xfrm>
            <a:off x="4952243" y="3869635"/>
            <a:ext cx="337926" cy="49033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448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D41E-AC83-4338-8C57-3D45BA6A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blockchain Use cases in banking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E203F-DE4A-4535-B32C-B0A0170E9758}"/>
              </a:ext>
            </a:extLst>
          </p:cNvPr>
          <p:cNvSpPr txBox="1"/>
          <p:nvPr/>
        </p:nvSpPr>
        <p:spPr>
          <a:xfrm>
            <a:off x="95318" y="2084511"/>
            <a:ext cx="4671397" cy="4392692"/>
          </a:xfrm>
          <a:prstGeom prst="round2Diag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sz="3200" b="1" dirty="0"/>
              <a:t>Use Case Areas:</a:t>
            </a:r>
          </a:p>
          <a:p>
            <a:endParaRPr lang="en-AU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800" dirty="0"/>
              <a:t>Clearing &amp; Settlements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800" dirty="0"/>
              <a:t>Payments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800" dirty="0"/>
              <a:t>Trade Finance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800" dirty="0"/>
              <a:t>Identity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800" dirty="0"/>
              <a:t>Syndicated Loans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800" dirty="0"/>
              <a:t>Loyalty &amp; Rewards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AU" sz="2800" dirty="0"/>
              <a:t>P2P Anything of Value</a:t>
            </a:r>
            <a:endParaRPr lang="en-A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6B431-CBBE-4C77-A756-E82DF7EED1F8}"/>
              </a:ext>
            </a:extLst>
          </p:cNvPr>
          <p:cNvSpPr txBox="1"/>
          <p:nvPr/>
        </p:nvSpPr>
        <p:spPr>
          <a:xfrm>
            <a:off x="881263" y="6535695"/>
            <a:ext cx="3014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>
                <a:solidFill>
                  <a:srgbClr val="C00000"/>
                </a:solidFill>
              </a:rPr>
              <a:t>Source: https://www.ft.com/...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ABC9FEE-A49D-4C36-AA64-5C31717FC69E}"/>
              </a:ext>
            </a:extLst>
          </p:cNvPr>
          <p:cNvSpPr/>
          <p:nvPr/>
        </p:nvSpPr>
        <p:spPr>
          <a:xfrm>
            <a:off x="4832975" y="3869635"/>
            <a:ext cx="337926" cy="49033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660C6-A740-4411-926B-812B6889B8E8}"/>
              </a:ext>
            </a:extLst>
          </p:cNvPr>
          <p:cNvSpPr txBox="1"/>
          <p:nvPr/>
        </p:nvSpPr>
        <p:spPr>
          <a:xfrm>
            <a:off x="5104641" y="6535697"/>
            <a:ext cx="69920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>
                <a:solidFill>
                  <a:srgbClr val="C00000"/>
                </a:solidFill>
              </a:rPr>
              <a:t>Source: </a:t>
            </a:r>
            <a:r>
              <a:rPr lang="en-AU" sz="1000" dirty="0" err="1">
                <a:solidFill>
                  <a:srgbClr val="C00000"/>
                </a:solidFill>
              </a:rPr>
              <a:t>DigitalFutures</a:t>
            </a:r>
            <a:endParaRPr lang="en-AU" sz="10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1E080-8734-4099-8E3E-D4DA12CC5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324" y="1863606"/>
            <a:ext cx="6733040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4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86DB-5FC1-409F-AF8F-DB74B50F2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Payments (remittance) via blockchain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CC079D-8586-446F-B3FE-B272E6CCB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82" y="1829751"/>
            <a:ext cx="9646635" cy="4921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929170-76F0-408A-A252-EA86FF7536F9}"/>
              </a:ext>
            </a:extLst>
          </p:cNvPr>
          <p:cNvSpPr txBox="1"/>
          <p:nvPr/>
        </p:nvSpPr>
        <p:spPr>
          <a:xfrm>
            <a:off x="2713171" y="6595042"/>
            <a:ext cx="67656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dirty="0">
                <a:solidFill>
                  <a:srgbClr val="C00000"/>
                </a:solidFill>
              </a:rPr>
              <a:t>Source: http://fintechnews.sg/</a:t>
            </a:r>
          </a:p>
        </p:txBody>
      </p:sp>
    </p:spTree>
    <p:extLst>
      <p:ext uri="{BB962C8B-B14F-4D97-AF65-F5344CB8AC3E}">
        <p14:creationId xmlns:p14="http://schemas.microsoft.com/office/powerpoint/2010/main" val="3732023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C931-DE3C-429B-9205-39C5EC81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Hashkloud’s </a:t>
            </a:r>
            <a:r>
              <a:rPr lang="en-AU" dirty="0" err="1"/>
              <a:t>paySHA</a:t>
            </a:r>
            <a:r>
              <a:rPr lang="en-AU" dirty="0"/>
              <a:t> payments integration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4D6820-99BA-4832-BC89-D22A76774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532" y="1801142"/>
            <a:ext cx="8146937" cy="49254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030664-DCDF-43BD-9538-CFAC1A1A8482}"/>
              </a:ext>
            </a:extLst>
          </p:cNvPr>
          <p:cNvSpPr/>
          <p:nvPr/>
        </p:nvSpPr>
        <p:spPr>
          <a:xfrm>
            <a:off x="3551583" y="2226365"/>
            <a:ext cx="4293704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5C274-5277-4179-91A2-D9F09174C70B}"/>
              </a:ext>
            </a:extLst>
          </p:cNvPr>
          <p:cNvSpPr txBox="1"/>
          <p:nvPr/>
        </p:nvSpPr>
        <p:spPr>
          <a:xfrm>
            <a:off x="8348870" y="1801142"/>
            <a:ext cx="1820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Bitcoin’s Blockchain</a:t>
            </a:r>
          </a:p>
        </p:txBody>
      </p:sp>
    </p:spTree>
    <p:extLst>
      <p:ext uri="{BB962C8B-B14F-4D97-AF65-F5344CB8AC3E}">
        <p14:creationId xmlns:p14="http://schemas.microsoft.com/office/powerpoint/2010/main" val="2224187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3CC6E-F7A1-4661-8052-302BCBB8F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887" y="284176"/>
            <a:ext cx="8909826" cy="1508760"/>
          </a:xfrm>
        </p:spPr>
        <p:txBody>
          <a:bodyPr/>
          <a:lstStyle/>
          <a:p>
            <a:r>
              <a:rPr lang="en-AU" dirty="0" err="1"/>
              <a:t>Hashklou’d</a:t>
            </a:r>
            <a:r>
              <a:rPr lang="en-AU" dirty="0"/>
              <a:t> payments </a:t>
            </a:r>
            <a:r>
              <a:rPr lang="en-AU" dirty="0" err="1"/>
              <a:t>qr</a:t>
            </a:r>
            <a:r>
              <a:rPr lang="en-AU" dirty="0"/>
              <a:t>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7CC19-C300-4DAC-A693-5795E8BDC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813" y="1859036"/>
            <a:ext cx="8390372" cy="46771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4CD3F2-04FE-4EE2-AAA4-2F73E3CF987B}"/>
              </a:ext>
            </a:extLst>
          </p:cNvPr>
          <p:cNvSpPr/>
          <p:nvPr/>
        </p:nvSpPr>
        <p:spPr>
          <a:xfrm>
            <a:off x="3458817" y="1881811"/>
            <a:ext cx="4797287" cy="4240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626E5-F853-44A0-8897-4B080918F782}"/>
              </a:ext>
            </a:extLst>
          </p:cNvPr>
          <p:cNvSpPr txBox="1"/>
          <p:nvPr/>
        </p:nvSpPr>
        <p:spPr>
          <a:xfrm>
            <a:off x="8587409" y="2636029"/>
            <a:ext cx="1820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Bitcoin’s Blockchain</a:t>
            </a:r>
          </a:p>
        </p:txBody>
      </p:sp>
    </p:spTree>
    <p:extLst>
      <p:ext uri="{BB962C8B-B14F-4D97-AF65-F5344CB8AC3E}">
        <p14:creationId xmlns:p14="http://schemas.microsoft.com/office/powerpoint/2010/main" val="782235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46791"/>
            <a:ext cx="12192000" cy="1739347"/>
          </a:xfrm>
        </p:spPr>
        <p:txBody>
          <a:bodyPr>
            <a:normAutofit fontScale="90000"/>
          </a:bodyPr>
          <a:lstStyle/>
          <a:p>
            <a:r>
              <a:rPr lang="en-AU" sz="5400" b="1" dirty="0">
                <a:solidFill>
                  <a:srgbClr val="002060"/>
                </a:solidFill>
              </a:rPr>
              <a:t>Fintech Blockchain </a:t>
            </a:r>
            <a:br>
              <a:rPr lang="en-AU" sz="5400" b="1" dirty="0">
                <a:solidFill>
                  <a:srgbClr val="002060"/>
                </a:solidFill>
              </a:rPr>
            </a:br>
            <a:r>
              <a:rPr lang="en-AU" sz="5400" b="1" dirty="0">
                <a:solidFill>
                  <a:srgbClr val="002060"/>
                </a:solidFill>
              </a:rPr>
              <a:t>capability maturity model framework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96" y="-96400"/>
            <a:ext cx="4930490" cy="249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28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DE53-3496-4C02-8C9E-F748C20E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FINTECH blockchain capability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3BAC5-68FB-4B29-B152-C16603CD2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088" y="1753886"/>
            <a:ext cx="8871825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89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1D61-326E-4C48-A91F-11A29FEF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Blockchain </a:t>
            </a:r>
            <a:r>
              <a:rPr lang="en-AU" dirty="0" err="1"/>
              <a:t>cmm</a:t>
            </a:r>
            <a:r>
              <a:rPr lang="en-AU" dirty="0"/>
              <a:t> framework s-curve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E9852-8176-40A9-AE02-FB0AF1A5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635" y="1965284"/>
            <a:ext cx="7885044" cy="477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22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Questions…</a:t>
            </a:r>
          </a:p>
        </p:txBody>
      </p:sp>
      <p:pic>
        <p:nvPicPr>
          <p:cNvPr id="4" name="Picture 3" descr="F:\Photos\Public domain\qns.jp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550754" y="2324914"/>
            <a:ext cx="5143500" cy="4114800"/>
          </a:xfrm>
          <a:prstGeom prst="rect">
            <a:avLst/>
          </a:prstGeom>
          <a:noFill/>
        </p:spPr>
      </p:pic>
      <p:sp>
        <p:nvSpPr>
          <p:cNvPr id="5" name="Freeform 4"/>
          <p:cNvSpPr>
            <a:spLocks noEditPoints="1"/>
          </p:cNvSpPr>
          <p:nvPr/>
        </p:nvSpPr>
        <p:spPr bwMode="auto">
          <a:xfrm>
            <a:off x="6438900" y="3747314"/>
            <a:ext cx="1066800" cy="1555750"/>
          </a:xfrm>
          <a:custGeom>
            <a:avLst/>
            <a:gdLst/>
            <a:ahLst/>
            <a:cxnLst>
              <a:cxn ang="0">
                <a:pos x="396" y="240"/>
              </a:cxn>
              <a:cxn ang="0">
                <a:pos x="356" y="232"/>
              </a:cxn>
              <a:cxn ang="0">
                <a:pos x="304" y="178"/>
              </a:cxn>
              <a:cxn ang="0">
                <a:pos x="280" y="100"/>
              </a:cxn>
              <a:cxn ang="0">
                <a:pos x="228" y="80"/>
              </a:cxn>
              <a:cxn ang="0">
                <a:pos x="240" y="48"/>
              </a:cxn>
              <a:cxn ang="0">
                <a:pos x="236" y="28"/>
              </a:cxn>
              <a:cxn ang="0">
                <a:pos x="222" y="8"/>
              </a:cxn>
              <a:cxn ang="0">
                <a:pos x="218" y="4"/>
              </a:cxn>
              <a:cxn ang="0">
                <a:pos x="218" y="4"/>
              </a:cxn>
              <a:cxn ang="0">
                <a:pos x="200" y="2"/>
              </a:cxn>
              <a:cxn ang="0">
                <a:pos x="194" y="2"/>
              </a:cxn>
              <a:cxn ang="0">
                <a:pos x="186" y="18"/>
              </a:cxn>
              <a:cxn ang="0">
                <a:pos x="184" y="24"/>
              </a:cxn>
              <a:cxn ang="0">
                <a:pos x="184" y="26"/>
              </a:cxn>
              <a:cxn ang="0">
                <a:pos x="180" y="42"/>
              </a:cxn>
              <a:cxn ang="0">
                <a:pos x="180" y="82"/>
              </a:cxn>
              <a:cxn ang="0">
                <a:pos x="126" y="112"/>
              </a:cxn>
              <a:cxn ang="0">
                <a:pos x="106" y="170"/>
              </a:cxn>
              <a:cxn ang="0">
                <a:pos x="56" y="236"/>
              </a:cxn>
              <a:cxn ang="0">
                <a:pos x="18" y="248"/>
              </a:cxn>
              <a:cxn ang="0">
                <a:pos x="14" y="272"/>
              </a:cxn>
              <a:cxn ang="0">
                <a:pos x="20" y="280"/>
              </a:cxn>
              <a:cxn ang="0">
                <a:pos x="12" y="302"/>
              </a:cxn>
              <a:cxn ang="0">
                <a:pos x="52" y="266"/>
              </a:cxn>
              <a:cxn ang="0">
                <a:pos x="120" y="224"/>
              </a:cxn>
              <a:cxn ang="0">
                <a:pos x="136" y="250"/>
              </a:cxn>
              <a:cxn ang="0">
                <a:pos x="148" y="490"/>
              </a:cxn>
              <a:cxn ang="0">
                <a:pos x="136" y="554"/>
              </a:cxn>
              <a:cxn ang="0">
                <a:pos x="112" y="576"/>
              </a:cxn>
              <a:cxn ang="0">
                <a:pos x="178" y="580"/>
              </a:cxn>
              <a:cxn ang="0">
                <a:pos x="186" y="524"/>
              </a:cxn>
              <a:cxn ang="0">
                <a:pos x="196" y="374"/>
              </a:cxn>
              <a:cxn ang="0">
                <a:pos x="230" y="546"/>
              </a:cxn>
              <a:cxn ang="0">
                <a:pos x="232" y="582"/>
              </a:cxn>
              <a:cxn ang="0">
                <a:pos x="268" y="584"/>
              </a:cxn>
              <a:cxn ang="0">
                <a:pos x="268" y="528"/>
              </a:cxn>
              <a:cxn ang="0">
                <a:pos x="256" y="396"/>
              </a:cxn>
              <a:cxn ang="0">
                <a:pos x="254" y="280"/>
              </a:cxn>
              <a:cxn ang="0">
                <a:pos x="266" y="184"/>
              </a:cxn>
              <a:cxn ang="0">
                <a:pos x="352" y="266"/>
              </a:cxn>
              <a:cxn ang="0">
                <a:pos x="374" y="284"/>
              </a:cxn>
              <a:cxn ang="0">
                <a:pos x="382" y="280"/>
              </a:cxn>
              <a:cxn ang="0">
                <a:pos x="390" y="274"/>
              </a:cxn>
              <a:cxn ang="0">
                <a:pos x="240" y="44"/>
              </a:cxn>
              <a:cxn ang="0">
                <a:pos x="236" y="30"/>
              </a:cxn>
              <a:cxn ang="0">
                <a:pos x="234" y="24"/>
              </a:cxn>
              <a:cxn ang="0">
                <a:pos x="228" y="18"/>
              </a:cxn>
              <a:cxn ang="0">
                <a:pos x="186" y="24"/>
              </a:cxn>
              <a:cxn ang="0">
                <a:pos x="190" y="10"/>
              </a:cxn>
              <a:cxn ang="0">
                <a:pos x="192" y="6"/>
              </a:cxn>
              <a:cxn ang="0">
                <a:pos x="194" y="8"/>
              </a:cxn>
              <a:cxn ang="0">
                <a:pos x="210" y="0"/>
              </a:cxn>
              <a:cxn ang="0">
                <a:pos x="208" y="4"/>
              </a:cxn>
              <a:cxn ang="0">
                <a:pos x="208" y="8"/>
              </a:cxn>
              <a:cxn ang="0">
                <a:pos x="210" y="8"/>
              </a:cxn>
              <a:cxn ang="0">
                <a:pos x="212" y="8"/>
              </a:cxn>
              <a:cxn ang="0">
                <a:pos x="222" y="10"/>
              </a:cxn>
              <a:cxn ang="0">
                <a:pos x="218" y="4"/>
              </a:cxn>
              <a:cxn ang="0">
                <a:pos x="218" y="8"/>
              </a:cxn>
              <a:cxn ang="0">
                <a:pos x="222" y="10"/>
              </a:cxn>
              <a:cxn ang="0">
                <a:pos x="218" y="12"/>
              </a:cxn>
            </a:cxnLst>
            <a:rect l="0" t="0" r="r" b="b"/>
            <a:pathLst>
              <a:path w="408" h="596">
                <a:moveTo>
                  <a:pt x="406" y="272"/>
                </a:moveTo>
                <a:lnTo>
                  <a:pt x="406" y="272"/>
                </a:lnTo>
                <a:lnTo>
                  <a:pt x="402" y="268"/>
                </a:lnTo>
                <a:lnTo>
                  <a:pt x="402" y="268"/>
                </a:lnTo>
                <a:lnTo>
                  <a:pt x="396" y="264"/>
                </a:lnTo>
                <a:lnTo>
                  <a:pt x="396" y="264"/>
                </a:lnTo>
                <a:lnTo>
                  <a:pt x="390" y="262"/>
                </a:lnTo>
                <a:lnTo>
                  <a:pt x="390" y="262"/>
                </a:lnTo>
                <a:lnTo>
                  <a:pt x="386" y="258"/>
                </a:lnTo>
                <a:lnTo>
                  <a:pt x="386" y="258"/>
                </a:lnTo>
                <a:lnTo>
                  <a:pt x="382" y="254"/>
                </a:lnTo>
                <a:lnTo>
                  <a:pt x="382" y="254"/>
                </a:lnTo>
                <a:lnTo>
                  <a:pt x="380" y="248"/>
                </a:lnTo>
                <a:lnTo>
                  <a:pt x="380" y="248"/>
                </a:lnTo>
                <a:lnTo>
                  <a:pt x="382" y="246"/>
                </a:lnTo>
                <a:lnTo>
                  <a:pt x="384" y="244"/>
                </a:lnTo>
                <a:lnTo>
                  <a:pt x="384" y="244"/>
                </a:lnTo>
                <a:lnTo>
                  <a:pt x="392" y="242"/>
                </a:lnTo>
                <a:lnTo>
                  <a:pt x="392" y="242"/>
                </a:lnTo>
                <a:lnTo>
                  <a:pt x="396" y="240"/>
                </a:lnTo>
                <a:lnTo>
                  <a:pt x="398" y="238"/>
                </a:lnTo>
                <a:lnTo>
                  <a:pt x="398" y="238"/>
                </a:lnTo>
                <a:lnTo>
                  <a:pt x="398" y="236"/>
                </a:lnTo>
                <a:lnTo>
                  <a:pt x="398" y="236"/>
                </a:lnTo>
                <a:lnTo>
                  <a:pt x="398" y="236"/>
                </a:lnTo>
                <a:lnTo>
                  <a:pt x="390" y="236"/>
                </a:lnTo>
                <a:lnTo>
                  <a:pt x="390" y="236"/>
                </a:lnTo>
                <a:lnTo>
                  <a:pt x="384" y="238"/>
                </a:lnTo>
                <a:lnTo>
                  <a:pt x="384" y="238"/>
                </a:lnTo>
                <a:lnTo>
                  <a:pt x="376" y="238"/>
                </a:lnTo>
                <a:lnTo>
                  <a:pt x="376" y="238"/>
                </a:lnTo>
                <a:lnTo>
                  <a:pt x="372" y="238"/>
                </a:lnTo>
                <a:lnTo>
                  <a:pt x="370" y="238"/>
                </a:lnTo>
                <a:lnTo>
                  <a:pt x="370" y="238"/>
                </a:lnTo>
                <a:lnTo>
                  <a:pt x="366" y="238"/>
                </a:lnTo>
                <a:lnTo>
                  <a:pt x="366" y="238"/>
                </a:lnTo>
                <a:lnTo>
                  <a:pt x="362" y="236"/>
                </a:lnTo>
                <a:lnTo>
                  <a:pt x="362" y="236"/>
                </a:lnTo>
                <a:lnTo>
                  <a:pt x="356" y="232"/>
                </a:lnTo>
                <a:lnTo>
                  <a:pt x="356" y="232"/>
                </a:lnTo>
                <a:lnTo>
                  <a:pt x="352" y="230"/>
                </a:lnTo>
                <a:lnTo>
                  <a:pt x="352" y="230"/>
                </a:lnTo>
                <a:lnTo>
                  <a:pt x="346" y="224"/>
                </a:lnTo>
                <a:lnTo>
                  <a:pt x="346" y="224"/>
                </a:lnTo>
                <a:lnTo>
                  <a:pt x="338" y="216"/>
                </a:lnTo>
                <a:lnTo>
                  <a:pt x="338" y="216"/>
                </a:lnTo>
                <a:lnTo>
                  <a:pt x="334" y="214"/>
                </a:lnTo>
                <a:lnTo>
                  <a:pt x="334" y="214"/>
                </a:lnTo>
                <a:lnTo>
                  <a:pt x="332" y="210"/>
                </a:lnTo>
                <a:lnTo>
                  <a:pt x="332" y="210"/>
                </a:lnTo>
                <a:lnTo>
                  <a:pt x="328" y="206"/>
                </a:lnTo>
                <a:lnTo>
                  <a:pt x="328" y="206"/>
                </a:lnTo>
                <a:lnTo>
                  <a:pt x="320" y="200"/>
                </a:lnTo>
                <a:lnTo>
                  <a:pt x="320" y="200"/>
                </a:lnTo>
                <a:lnTo>
                  <a:pt x="318" y="198"/>
                </a:lnTo>
                <a:lnTo>
                  <a:pt x="318" y="196"/>
                </a:lnTo>
                <a:lnTo>
                  <a:pt x="318" y="196"/>
                </a:lnTo>
                <a:lnTo>
                  <a:pt x="312" y="186"/>
                </a:lnTo>
                <a:lnTo>
                  <a:pt x="312" y="186"/>
                </a:lnTo>
                <a:lnTo>
                  <a:pt x="304" y="178"/>
                </a:lnTo>
                <a:lnTo>
                  <a:pt x="304" y="178"/>
                </a:lnTo>
                <a:lnTo>
                  <a:pt x="300" y="172"/>
                </a:lnTo>
                <a:lnTo>
                  <a:pt x="300" y="172"/>
                </a:lnTo>
                <a:lnTo>
                  <a:pt x="298" y="166"/>
                </a:lnTo>
                <a:lnTo>
                  <a:pt x="298" y="166"/>
                </a:lnTo>
                <a:lnTo>
                  <a:pt x="296" y="164"/>
                </a:lnTo>
                <a:lnTo>
                  <a:pt x="296" y="164"/>
                </a:lnTo>
                <a:lnTo>
                  <a:pt x="296" y="154"/>
                </a:lnTo>
                <a:lnTo>
                  <a:pt x="296" y="154"/>
                </a:lnTo>
                <a:lnTo>
                  <a:pt x="292" y="138"/>
                </a:lnTo>
                <a:lnTo>
                  <a:pt x="292" y="138"/>
                </a:lnTo>
                <a:lnTo>
                  <a:pt x="288" y="126"/>
                </a:lnTo>
                <a:lnTo>
                  <a:pt x="288" y="126"/>
                </a:lnTo>
                <a:lnTo>
                  <a:pt x="288" y="120"/>
                </a:lnTo>
                <a:lnTo>
                  <a:pt x="288" y="120"/>
                </a:lnTo>
                <a:lnTo>
                  <a:pt x="286" y="106"/>
                </a:lnTo>
                <a:lnTo>
                  <a:pt x="286" y="106"/>
                </a:lnTo>
                <a:lnTo>
                  <a:pt x="284" y="102"/>
                </a:lnTo>
                <a:lnTo>
                  <a:pt x="284" y="102"/>
                </a:lnTo>
                <a:lnTo>
                  <a:pt x="280" y="100"/>
                </a:lnTo>
                <a:lnTo>
                  <a:pt x="280" y="100"/>
                </a:lnTo>
                <a:lnTo>
                  <a:pt x="272" y="96"/>
                </a:lnTo>
                <a:lnTo>
                  <a:pt x="272" y="96"/>
                </a:lnTo>
                <a:lnTo>
                  <a:pt x="266" y="94"/>
                </a:lnTo>
                <a:lnTo>
                  <a:pt x="266" y="94"/>
                </a:lnTo>
                <a:lnTo>
                  <a:pt x="256" y="92"/>
                </a:lnTo>
                <a:lnTo>
                  <a:pt x="256" y="92"/>
                </a:lnTo>
                <a:lnTo>
                  <a:pt x="242" y="88"/>
                </a:lnTo>
                <a:lnTo>
                  <a:pt x="242" y="88"/>
                </a:lnTo>
                <a:lnTo>
                  <a:pt x="240" y="86"/>
                </a:lnTo>
                <a:lnTo>
                  <a:pt x="240" y="86"/>
                </a:lnTo>
                <a:lnTo>
                  <a:pt x="238" y="86"/>
                </a:lnTo>
                <a:lnTo>
                  <a:pt x="238" y="86"/>
                </a:lnTo>
                <a:lnTo>
                  <a:pt x="236" y="84"/>
                </a:lnTo>
                <a:lnTo>
                  <a:pt x="236" y="84"/>
                </a:lnTo>
                <a:lnTo>
                  <a:pt x="234" y="82"/>
                </a:lnTo>
                <a:lnTo>
                  <a:pt x="234" y="82"/>
                </a:lnTo>
                <a:lnTo>
                  <a:pt x="230" y="82"/>
                </a:lnTo>
                <a:lnTo>
                  <a:pt x="230" y="82"/>
                </a:lnTo>
                <a:lnTo>
                  <a:pt x="228" y="80"/>
                </a:lnTo>
                <a:lnTo>
                  <a:pt x="228" y="80"/>
                </a:lnTo>
                <a:lnTo>
                  <a:pt x="226" y="78"/>
                </a:lnTo>
                <a:lnTo>
                  <a:pt x="226" y="78"/>
                </a:lnTo>
                <a:lnTo>
                  <a:pt x="224" y="78"/>
                </a:lnTo>
                <a:lnTo>
                  <a:pt x="224" y="78"/>
                </a:lnTo>
                <a:lnTo>
                  <a:pt x="224" y="76"/>
                </a:lnTo>
                <a:lnTo>
                  <a:pt x="224" y="76"/>
                </a:lnTo>
                <a:lnTo>
                  <a:pt x="226" y="76"/>
                </a:lnTo>
                <a:lnTo>
                  <a:pt x="226" y="76"/>
                </a:lnTo>
                <a:lnTo>
                  <a:pt x="230" y="70"/>
                </a:lnTo>
                <a:lnTo>
                  <a:pt x="230" y="70"/>
                </a:lnTo>
                <a:lnTo>
                  <a:pt x="232" y="70"/>
                </a:lnTo>
                <a:lnTo>
                  <a:pt x="232" y="70"/>
                </a:lnTo>
                <a:lnTo>
                  <a:pt x="234" y="66"/>
                </a:lnTo>
                <a:lnTo>
                  <a:pt x="234" y="66"/>
                </a:lnTo>
                <a:lnTo>
                  <a:pt x="236" y="58"/>
                </a:lnTo>
                <a:lnTo>
                  <a:pt x="236" y="58"/>
                </a:lnTo>
                <a:lnTo>
                  <a:pt x="238" y="52"/>
                </a:lnTo>
                <a:lnTo>
                  <a:pt x="238" y="52"/>
                </a:lnTo>
                <a:lnTo>
                  <a:pt x="240" y="48"/>
                </a:lnTo>
                <a:lnTo>
                  <a:pt x="240" y="48"/>
                </a:lnTo>
                <a:lnTo>
                  <a:pt x="240" y="42"/>
                </a:lnTo>
                <a:lnTo>
                  <a:pt x="240" y="42"/>
                </a:lnTo>
                <a:lnTo>
                  <a:pt x="240" y="38"/>
                </a:lnTo>
                <a:lnTo>
                  <a:pt x="240" y="38"/>
                </a:lnTo>
                <a:lnTo>
                  <a:pt x="238" y="36"/>
                </a:lnTo>
                <a:lnTo>
                  <a:pt x="238" y="36"/>
                </a:lnTo>
                <a:lnTo>
                  <a:pt x="238" y="34"/>
                </a:lnTo>
                <a:lnTo>
                  <a:pt x="238" y="34"/>
                </a:lnTo>
                <a:lnTo>
                  <a:pt x="240" y="36"/>
                </a:lnTo>
                <a:lnTo>
                  <a:pt x="240" y="36"/>
                </a:lnTo>
                <a:lnTo>
                  <a:pt x="240" y="38"/>
                </a:lnTo>
                <a:lnTo>
                  <a:pt x="240" y="38"/>
                </a:lnTo>
                <a:lnTo>
                  <a:pt x="240" y="36"/>
                </a:lnTo>
                <a:lnTo>
                  <a:pt x="240" y="36"/>
                </a:lnTo>
                <a:lnTo>
                  <a:pt x="238" y="32"/>
                </a:lnTo>
                <a:lnTo>
                  <a:pt x="238" y="32"/>
                </a:lnTo>
                <a:lnTo>
                  <a:pt x="238" y="30"/>
                </a:lnTo>
                <a:lnTo>
                  <a:pt x="238" y="30"/>
                </a:lnTo>
                <a:lnTo>
                  <a:pt x="236" y="28"/>
                </a:lnTo>
                <a:lnTo>
                  <a:pt x="236" y="28"/>
                </a:lnTo>
                <a:lnTo>
                  <a:pt x="236" y="28"/>
                </a:lnTo>
                <a:lnTo>
                  <a:pt x="238" y="28"/>
                </a:lnTo>
                <a:lnTo>
                  <a:pt x="238" y="28"/>
                </a:lnTo>
                <a:lnTo>
                  <a:pt x="236" y="26"/>
                </a:lnTo>
                <a:lnTo>
                  <a:pt x="236" y="26"/>
                </a:lnTo>
                <a:lnTo>
                  <a:pt x="234" y="22"/>
                </a:lnTo>
                <a:lnTo>
                  <a:pt x="234" y="22"/>
                </a:lnTo>
                <a:lnTo>
                  <a:pt x="232" y="20"/>
                </a:lnTo>
                <a:lnTo>
                  <a:pt x="232" y="20"/>
                </a:lnTo>
                <a:lnTo>
                  <a:pt x="230" y="16"/>
                </a:lnTo>
                <a:lnTo>
                  <a:pt x="230" y="16"/>
                </a:lnTo>
                <a:lnTo>
                  <a:pt x="226" y="16"/>
                </a:lnTo>
                <a:lnTo>
                  <a:pt x="226" y="16"/>
                </a:lnTo>
                <a:lnTo>
                  <a:pt x="226" y="12"/>
                </a:lnTo>
                <a:lnTo>
                  <a:pt x="226" y="12"/>
                </a:lnTo>
                <a:lnTo>
                  <a:pt x="224" y="10"/>
                </a:lnTo>
                <a:lnTo>
                  <a:pt x="224" y="10"/>
                </a:lnTo>
                <a:lnTo>
                  <a:pt x="222" y="8"/>
                </a:lnTo>
                <a:lnTo>
                  <a:pt x="222" y="8"/>
                </a:lnTo>
                <a:lnTo>
                  <a:pt x="220" y="6"/>
                </a:lnTo>
                <a:lnTo>
                  <a:pt x="220" y="6"/>
                </a:lnTo>
                <a:lnTo>
                  <a:pt x="222" y="4"/>
                </a:lnTo>
                <a:lnTo>
                  <a:pt x="222" y="4"/>
                </a:lnTo>
                <a:lnTo>
                  <a:pt x="222" y="4"/>
                </a:lnTo>
                <a:lnTo>
                  <a:pt x="222" y="4"/>
                </a:lnTo>
                <a:lnTo>
                  <a:pt x="224" y="4"/>
                </a:lnTo>
                <a:lnTo>
                  <a:pt x="224" y="4"/>
                </a:lnTo>
                <a:lnTo>
                  <a:pt x="226" y="4"/>
                </a:lnTo>
                <a:lnTo>
                  <a:pt x="226" y="4"/>
                </a:lnTo>
                <a:lnTo>
                  <a:pt x="224" y="2"/>
                </a:lnTo>
                <a:lnTo>
                  <a:pt x="224" y="2"/>
                </a:lnTo>
                <a:lnTo>
                  <a:pt x="222" y="2"/>
                </a:lnTo>
                <a:lnTo>
                  <a:pt x="222" y="2"/>
                </a:lnTo>
                <a:lnTo>
                  <a:pt x="222" y="4"/>
                </a:lnTo>
                <a:lnTo>
                  <a:pt x="222" y="4"/>
                </a:lnTo>
                <a:lnTo>
                  <a:pt x="220" y="4"/>
                </a:lnTo>
                <a:lnTo>
                  <a:pt x="220" y="4"/>
                </a:lnTo>
                <a:lnTo>
                  <a:pt x="218" y="4"/>
                </a:lnTo>
                <a:lnTo>
                  <a:pt x="218" y="4"/>
                </a:lnTo>
                <a:lnTo>
                  <a:pt x="216" y="6"/>
                </a:lnTo>
                <a:lnTo>
                  <a:pt x="216" y="6"/>
                </a:lnTo>
                <a:lnTo>
                  <a:pt x="216" y="6"/>
                </a:lnTo>
                <a:lnTo>
                  <a:pt x="216" y="6"/>
                </a:lnTo>
                <a:lnTo>
                  <a:pt x="218" y="4"/>
                </a:lnTo>
                <a:lnTo>
                  <a:pt x="218" y="4"/>
                </a:lnTo>
                <a:lnTo>
                  <a:pt x="216" y="6"/>
                </a:lnTo>
                <a:lnTo>
                  <a:pt x="216" y="6"/>
                </a:lnTo>
                <a:lnTo>
                  <a:pt x="216" y="8"/>
                </a:lnTo>
                <a:lnTo>
                  <a:pt x="216" y="8"/>
                </a:lnTo>
                <a:lnTo>
                  <a:pt x="216" y="6"/>
                </a:lnTo>
                <a:lnTo>
                  <a:pt x="216" y="6"/>
                </a:lnTo>
                <a:lnTo>
                  <a:pt x="220" y="4"/>
                </a:lnTo>
                <a:lnTo>
                  <a:pt x="220" y="4"/>
                </a:lnTo>
                <a:lnTo>
                  <a:pt x="222" y="2"/>
                </a:lnTo>
                <a:lnTo>
                  <a:pt x="222" y="2"/>
                </a:lnTo>
                <a:lnTo>
                  <a:pt x="222" y="2"/>
                </a:lnTo>
                <a:lnTo>
                  <a:pt x="222" y="2"/>
                </a:lnTo>
                <a:lnTo>
                  <a:pt x="218" y="4"/>
                </a:lnTo>
                <a:lnTo>
                  <a:pt x="218" y="4"/>
                </a:lnTo>
                <a:lnTo>
                  <a:pt x="216" y="6"/>
                </a:lnTo>
                <a:lnTo>
                  <a:pt x="216" y="6"/>
                </a:lnTo>
                <a:lnTo>
                  <a:pt x="214" y="8"/>
                </a:lnTo>
                <a:lnTo>
                  <a:pt x="214" y="8"/>
                </a:lnTo>
                <a:lnTo>
                  <a:pt x="214" y="8"/>
                </a:lnTo>
                <a:lnTo>
                  <a:pt x="214" y="8"/>
                </a:lnTo>
                <a:lnTo>
                  <a:pt x="214" y="6"/>
                </a:lnTo>
                <a:lnTo>
                  <a:pt x="214" y="6"/>
                </a:lnTo>
                <a:lnTo>
                  <a:pt x="212" y="2"/>
                </a:lnTo>
                <a:lnTo>
                  <a:pt x="212" y="2"/>
                </a:lnTo>
                <a:lnTo>
                  <a:pt x="210" y="0"/>
                </a:lnTo>
                <a:lnTo>
                  <a:pt x="210" y="0"/>
                </a:lnTo>
                <a:lnTo>
                  <a:pt x="206" y="0"/>
                </a:lnTo>
                <a:lnTo>
                  <a:pt x="206" y="0"/>
                </a:lnTo>
                <a:lnTo>
                  <a:pt x="204" y="0"/>
                </a:lnTo>
                <a:lnTo>
                  <a:pt x="204" y="0"/>
                </a:lnTo>
                <a:lnTo>
                  <a:pt x="202" y="0"/>
                </a:lnTo>
                <a:lnTo>
                  <a:pt x="202" y="0"/>
                </a:lnTo>
                <a:lnTo>
                  <a:pt x="200" y="2"/>
                </a:lnTo>
                <a:lnTo>
                  <a:pt x="200" y="2"/>
                </a:lnTo>
                <a:lnTo>
                  <a:pt x="200" y="2"/>
                </a:lnTo>
                <a:lnTo>
                  <a:pt x="200" y="2"/>
                </a:lnTo>
                <a:lnTo>
                  <a:pt x="200" y="2"/>
                </a:lnTo>
                <a:lnTo>
                  <a:pt x="200" y="2"/>
                </a:lnTo>
                <a:lnTo>
                  <a:pt x="202" y="4"/>
                </a:lnTo>
                <a:lnTo>
                  <a:pt x="202" y="4"/>
                </a:lnTo>
                <a:lnTo>
                  <a:pt x="202" y="4"/>
                </a:lnTo>
                <a:lnTo>
                  <a:pt x="202" y="4"/>
                </a:lnTo>
                <a:lnTo>
                  <a:pt x="200" y="4"/>
                </a:lnTo>
                <a:lnTo>
                  <a:pt x="200" y="4"/>
                </a:lnTo>
                <a:lnTo>
                  <a:pt x="198" y="2"/>
                </a:lnTo>
                <a:lnTo>
                  <a:pt x="198" y="2"/>
                </a:lnTo>
                <a:lnTo>
                  <a:pt x="196" y="2"/>
                </a:lnTo>
                <a:lnTo>
                  <a:pt x="196" y="2"/>
                </a:lnTo>
                <a:lnTo>
                  <a:pt x="194" y="2"/>
                </a:lnTo>
                <a:lnTo>
                  <a:pt x="194" y="2"/>
                </a:lnTo>
                <a:lnTo>
                  <a:pt x="192" y="2"/>
                </a:lnTo>
                <a:lnTo>
                  <a:pt x="192" y="2"/>
                </a:lnTo>
                <a:lnTo>
                  <a:pt x="194" y="2"/>
                </a:lnTo>
                <a:lnTo>
                  <a:pt x="194" y="2"/>
                </a:lnTo>
                <a:lnTo>
                  <a:pt x="196" y="2"/>
                </a:lnTo>
                <a:lnTo>
                  <a:pt x="196" y="2"/>
                </a:lnTo>
                <a:lnTo>
                  <a:pt x="194" y="4"/>
                </a:lnTo>
                <a:lnTo>
                  <a:pt x="194" y="4"/>
                </a:lnTo>
                <a:lnTo>
                  <a:pt x="192" y="4"/>
                </a:lnTo>
                <a:lnTo>
                  <a:pt x="192" y="4"/>
                </a:lnTo>
                <a:lnTo>
                  <a:pt x="192" y="4"/>
                </a:lnTo>
                <a:lnTo>
                  <a:pt x="192" y="4"/>
                </a:lnTo>
                <a:lnTo>
                  <a:pt x="190" y="6"/>
                </a:lnTo>
                <a:lnTo>
                  <a:pt x="190" y="6"/>
                </a:lnTo>
                <a:lnTo>
                  <a:pt x="188" y="8"/>
                </a:lnTo>
                <a:lnTo>
                  <a:pt x="188" y="8"/>
                </a:lnTo>
                <a:lnTo>
                  <a:pt x="188" y="10"/>
                </a:lnTo>
                <a:lnTo>
                  <a:pt x="188" y="10"/>
                </a:lnTo>
                <a:lnTo>
                  <a:pt x="188" y="14"/>
                </a:lnTo>
                <a:lnTo>
                  <a:pt x="188" y="14"/>
                </a:lnTo>
                <a:lnTo>
                  <a:pt x="186" y="16"/>
                </a:lnTo>
                <a:lnTo>
                  <a:pt x="186" y="16"/>
                </a:lnTo>
                <a:lnTo>
                  <a:pt x="186" y="18"/>
                </a:lnTo>
                <a:lnTo>
                  <a:pt x="186" y="18"/>
                </a:lnTo>
                <a:lnTo>
                  <a:pt x="184" y="20"/>
                </a:lnTo>
                <a:lnTo>
                  <a:pt x="184" y="20"/>
                </a:lnTo>
                <a:lnTo>
                  <a:pt x="186" y="20"/>
                </a:lnTo>
                <a:lnTo>
                  <a:pt x="186" y="20"/>
                </a:lnTo>
                <a:lnTo>
                  <a:pt x="186" y="18"/>
                </a:lnTo>
                <a:lnTo>
                  <a:pt x="186" y="18"/>
                </a:lnTo>
                <a:lnTo>
                  <a:pt x="186" y="18"/>
                </a:lnTo>
                <a:lnTo>
                  <a:pt x="186" y="18"/>
                </a:lnTo>
                <a:lnTo>
                  <a:pt x="186" y="20"/>
                </a:lnTo>
                <a:lnTo>
                  <a:pt x="186" y="20"/>
                </a:lnTo>
                <a:lnTo>
                  <a:pt x="184" y="22"/>
                </a:lnTo>
                <a:lnTo>
                  <a:pt x="184" y="22"/>
                </a:lnTo>
                <a:lnTo>
                  <a:pt x="184" y="22"/>
                </a:lnTo>
                <a:lnTo>
                  <a:pt x="184" y="22"/>
                </a:lnTo>
                <a:lnTo>
                  <a:pt x="182" y="24"/>
                </a:lnTo>
                <a:lnTo>
                  <a:pt x="182" y="24"/>
                </a:lnTo>
                <a:lnTo>
                  <a:pt x="184" y="24"/>
                </a:lnTo>
                <a:lnTo>
                  <a:pt x="184" y="24"/>
                </a:lnTo>
                <a:lnTo>
                  <a:pt x="184" y="24"/>
                </a:lnTo>
                <a:lnTo>
                  <a:pt x="184" y="24"/>
                </a:lnTo>
                <a:lnTo>
                  <a:pt x="184" y="26"/>
                </a:lnTo>
                <a:lnTo>
                  <a:pt x="184" y="26"/>
                </a:lnTo>
                <a:lnTo>
                  <a:pt x="182" y="26"/>
                </a:lnTo>
                <a:lnTo>
                  <a:pt x="182" y="26"/>
                </a:lnTo>
                <a:lnTo>
                  <a:pt x="180" y="28"/>
                </a:lnTo>
                <a:lnTo>
                  <a:pt x="180" y="28"/>
                </a:lnTo>
                <a:lnTo>
                  <a:pt x="180" y="30"/>
                </a:lnTo>
                <a:lnTo>
                  <a:pt x="180" y="30"/>
                </a:lnTo>
                <a:lnTo>
                  <a:pt x="180" y="30"/>
                </a:lnTo>
                <a:lnTo>
                  <a:pt x="180" y="30"/>
                </a:lnTo>
                <a:lnTo>
                  <a:pt x="182" y="26"/>
                </a:lnTo>
                <a:lnTo>
                  <a:pt x="182" y="26"/>
                </a:lnTo>
                <a:lnTo>
                  <a:pt x="184" y="24"/>
                </a:lnTo>
                <a:lnTo>
                  <a:pt x="184" y="24"/>
                </a:lnTo>
                <a:lnTo>
                  <a:pt x="186" y="24"/>
                </a:lnTo>
                <a:lnTo>
                  <a:pt x="186" y="24"/>
                </a:lnTo>
                <a:lnTo>
                  <a:pt x="184" y="24"/>
                </a:lnTo>
                <a:lnTo>
                  <a:pt x="184" y="24"/>
                </a:lnTo>
                <a:lnTo>
                  <a:pt x="184" y="26"/>
                </a:lnTo>
                <a:lnTo>
                  <a:pt x="184" y="26"/>
                </a:lnTo>
                <a:lnTo>
                  <a:pt x="182" y="28"/>
                </a:lnTo>
                <a:lnTo>
                  <a:pt x="182" y="28"/>
                </a:lnTo>
                <a:lnTo>
                  <a:pt x="182" y="30"/>
                </a:lnTo>
                <a:lnTo>
                  <a:pt x="182" y="30"/>
                </a:lnTo>
                <a:lnTo>
                  <a:pt x="182" y="28"/>
                </a:lnTo>
                <a:lnTo>
                  <a:pt x="182" y="28"/>
                </a:lnTo>
                <a:lnTo>
                  <a:pt x="184" y="26"/>
                </a:lnTo>
                <a:lnTo>
                  <a:pt x="184" y="26"/>
                </a:lnTo>
                <a:lnTo>
                  <a:pt x="186" y="26"/>
                </a:lnTo>
                <a:lnTo>
                  <a:pt x="186" y="26"/>
                </a:lnTo>
                <a:lnTo>
                  <a:pt x="184" y="28"/>
                </a:lnTo>
                <a:lnTo>
                  <a:pt x="184" y="28"/>
                </a:lnTo>
                <a:lnTo>
                  <a:pt x="182" y="30"/>
                </a:lnTo>
                <a:lnTo>
                  <a:pt x="182" y="30"/>
                </a:lnTo>
                <a:lnTo>
                  <a:pt x="182" y="34"/>
                </a:lnTo>
                <a:lnTo>
                  <a:pt x="182" y="34"/>
                </a:lnTo>
                <a:lnTo>
                  <a:pt x="182" y="38"/>
                </a:lnTo>
                <a:lnTo>
                  <a:pt x="182" y="38"/>
                </a:lnTo>
                <a:lnTo>
                  <a:pt x="180" y="42"/>
                </a:lnTo>
                <a:lnTo>
                  <a:pt x="180" y="42"/>
                </a:lnTo>
                <a:lnTo>
                  <a:pt x="180" y="50"/>
                </a:lnTo>
                <a:lnTo>
                  <a:pt x="180" y="54"/>
                </a:lnTo>
                <a:lnTo>
                  <a:pt x="180" y="54"/>
                </a:lnTo>
                <a:lnTo>
                  <a:pt x="180" y="58"/>
                </a:lnTo>
                <a:lnTo>
                  <a:pt x="180" y="58"/>
                </a:lnTo>
                <a:lnTo>
                  <a:pt x="182" y="58"/>
                </a:lnTo>
                <a:lnTo>
                  <a:pt x="182" y="58"/>
                </a:lnTo>
                <a:lnTo>
                  <a:pt x="182" y="58"/>
                </a:lnTo>
                <a:lnTo>
                  <a:pt x="184" y="60"/>
                </a:lnTo>
                <a:lnTo>
                  <a:pt x="184" y="60"/>
                </a:lnTo>
                <a:lnTo>
                  <a:pt x="184" y="62"/>
                </a:lnTo>
                <a:lnTo>
                  <a:pt x="184" y="66"/>
                </a:lnTo>
                <a:lnTo>
                  <a:pt x="184" y="66"/>
                </a:lnTo>
                <a:lnTo>
                  <a:pt x="182" y="74"/>
                </a:lnTo>
                <a:lnTo>
                  <a:pt x="182" y="74"/>
                </a:lnTo>
                <a:lnTo>
                  <a:pt x="182" y="76"/>
                </a:lnTo>
                <a:lnTo>
                  <a:pt x="182" y="78"/>
                </a:lnTo>
                <a:lnTo>
                  <a:pt x="182" y="80"/>
                </a:lnTo>
                <a:lnTo>
                  <a:pt x="182" y="80"/>
                </a:lnTo>
                <a:lnTo>
                  <a:pt x="180" y="82"/>
                </a:lnTo>
                <a:lnTo>
                  <a:pt x="180" y="82"/>
                </a:lnTo>
                <a:lnTo>
                  <a:pt x="178" y="84"/>
                </a:lnTo>
                <a:lnTo>
                  <a:pt x="178" y="84"/>
                </a:lnTo>
                <a:lnTo>
                  <a:pt x="172" y="88"/>
                </a:lnTo>
                <a:lnTo>
                  <a:pt x="172" y="88"/>
                </a:lnTo>
                <a:lnTo>
                  <a:pt x="166" y="90"/>
                </a:lnTo>
                <a:lnTo>
                  <a:pt x="166" y="90"/>
                </a:lnTo>
                <a:lnTo>
                  <a:pt x="148" y="96"/>
                </a:lnTo>
                <a:lnTo>
                  <a:pt x="148" y="96"/>
                </a:lnTo>
                <a:lnTo>
                  <a:pt x="136" y="100"/>
                </a:lnTo>
                <a:lnTo>
                  <a:pt x="136" y="100"/>
                </a:lnTo>
                <a:lnTo>
                  <a:pt x="132" y="102"/>
                </a:lnTo>
                <a:lnTo>
                  <a:pt x="132" y="102"/>
                </a:lnTo>
                <a:lnTo>
                  <a:pt x="130" y="102"/>
                </a:lnTo>
                <a:lnTo>
                  <a:pt x="130" y="102"/>
                </a:lnTo>
                <a:lnTo>
                  <a:pt x="128" y="106"/>
                </a:lnTo>
                <a:lnTo>
                  <a:pt x="128" y="106"/>
                </a:lnTo>
                <a:lnTo>
                  <a:pt x="126" y="108"/>
                </a:lnTo>
                <a:lnTo>
                  <a:pt x="126" y="108"/>
                </a:lnTo>
                <a:lnTo>
                  <a:pt x="126" y="112"/>
                </a:lnTo>
                <a:lnTo>
                  <a:pt x="126" y="112"/>
                </a:lnTo>
                <a:lnTo>
                  <a:pt x="124" y="116"/>
                </a:lnTo>
                <a:lnTo>
                  <a:pt x="124" y="116"/>
                </a:lnTo>
                <a:lnTo>
                  <a:pt x="122" y="118"/>
                </a:lnTo>
                <a:lnTo>
                  <a:pt x="122" y="118"/>
                </a:lnTo>
                <a:lnTo>
                  <a:pt x="122" y="120"/>
                </a:lnTo>
                <a:lnTo>
                  <a:pt x="122" y="120"/>
                </a:lnTo>
                <a:lnTo>
                  <a:pt x="122" y="126"/>
                </a:lnTo>
                <a:lnTo>
                  <a:pt x="122" y="126"/>
                </a:lnTo>
                <a:lnTo>
                  <a:pt x="118" y="136"/>
                </a:lnTo>
                <a:lnTo>
                  <a:pt x="118" y="136"/>
                </a:lnTo>
                <a:lnTo>
                  <a:pt x="116" y="144"/>
                </a:lnTo>
                <a:lnTo>
                  <a:pt x="116" y="144"/>
                </a:lnTo>
                <a:lnTo>
                  <a:pt x="114" y="148"/>
                </a:lnTo>
                <a:lnTo>
                  <a:pt x="110" y="154"/>
                </a:lnTo>
                <a:lnTo>
                  <a:pt x="110" y="154"/>
                </a:lnTo>
                <a:lnTo>
                  <a:pt x="108" y="160"/>
                </a:lnTo>
                <a:lnTo>
                  <a:pt x="106" y="164"/>
                </a:lnTo>
                <a:lnTo>
                  <a:pt x="106" y="164"/>
                </a:lnTo>
                <a:lnTo>
                  <a:pt x="106" y="170"/>
                </a:lnTo>
                <a:lnTo>
                  <a:pt x="106" y="170"/>
                </a:lnTo>
                <a:lnTo>
                  <a:pt x="104" y="172"/>
                </a:lnTo>
                <a:lnTo>
                  <a:pt x="104" y="172"/>
                </a:lnTo>
                <a:lnTo>
                  <a:pt x="102" y="176"/>
                </a:lnTo>
                <a:lnTo>
                  <a:pt x="102" y="176"/>
                </a:lnTo>
                <a:lnTo>
                  <a:pt x="96" y="182"/>
                </a:lnTo>
                <a:lnTo>
                  <a:pt x="96" y="182"/>
                </a:lnTo>
                <a:lnTo>
                  <a:pt x="92" y="190"/>
                </a:lnTo>
                <a:lnTo>
                  <a:pt x="92" y="190"/>
                </a:lnTo>
                <a:lnTo>
                  <a:pt x="88" y="194"/>
                </a:lnTo>
                <a:lnTo>
                  <a:pt x="88" y="194"/>
                </a:lnTo>
                <a:lnTo>
                  <a:pt x="80" y="204"/>
                </a:lnTo>
                <a:lnTo>
                  <a:pt x="80" y="204"/>
                </a:lnTo>
                <a:lnTo>
                  <a:pt x="74" y="212"/>
                </a:lnTo>
                <a:lnTo>
                  <a:pt x="74" y="212"/>
                </a:lnTo>
                <a:lnTo>
                  <a:pt x="68" y="218"/>
                </a:lnTo>
                <a:lnTo>
                  <a:pt x="68" y="218"/>
                </a:lnTo>
                <a:lnTo>
                  <a:pt x="62" y="226"/>
                </a:lnTo>
                <a:lnTo>
                  <a:pt x="62" y="226"/>
                </a:lnTo>
                <a:lnTo>
                  <a:pt x="56" y="236"/>
                </a:lnTo>
                <a:lnTo>
                  <a:pt x="56" y="236"/>
                </a:lnTo>
                <a:lnTo>
                  <a:pt x="54" y="238"/>
                </a:lnTo>
                <a:lnTo>
                  <a:pt x="54" y="238"/>
                </a:lnTo>
                <a:lnTo>
                  <a:pt x="48" y="242"/>
                </a:lnTo>
                <a:lnTo>
                  <a:pt x="48" y="242"/>
                </a:lnTo>
                <a:lnTo>
                  <a:pt x="42" y="248"/>
                </a:lnTo>
                <a:lnTo>
                  <a:pt x="42" y="248"/>
                </a:lnTo>
                <a:lnTo>
                  <a:pt x="40" y="250"/>
                </a:lnTo>
                <a:lnTo>
                  <a:pt x="40" y="250"/>
                </a:lnTo>
                <a:lnTo>
                  <a:pt x="40" y="250"/>
                </a:lnTo>
                <a:lnTo>
                  <a:pt x="38" y="250"/>
                </a:lnTo>
                <a:lnTo>
                  <a:pt x="38" y="250"/>
                </a:lnTo>
                <a:lnTo>
                  <a:pt x="34" y="250"/>
                </a:lnTo>
                <a:lnTo>
                  <a:pt x="34" y="250"/>
                </a:lnTo>
                <a:lnTo>
                  <a:pt x="28" y="250"/>
                </a:lnTo>
                <a:lnTo>
                  <a:pt x="28" y="250"/>
                </a:lnTo>
                <a:lnTo>
                  <a:pt x="24" y="248"/>
                </a:lnTo>
                <a:lnTo>
                  <a:pt x="24" y="248"/>
                </a:lnTo>
                <a:lnTo>
                  <a:pt x="18" y="248"/>
                </a:lnTo>
                <a:lnTo>
                  <a:pt x="18" y="248"/>
                </a:lnTo>
                <a:lnTo>
                  <a:pt x="12" y="246"/>
                </a:lnTo>
                <a:lnTo>
                  <a:pt x="12" y="246"/>
                </a:lnTo>
                <a:lnTo>
                  <a:pt x="10" y="246"/>
                </a:lnTo>
                <a:lnTo>
                  <a:pt x="10" y="250"/>
                </a:lnTo>
                <a:lnTo>
                  <a:pt x="10" y="250"/>
                </a:lnTo>
                <a:lnTo>
                  <a:pt x="12" y="250"/>
                </a:lnTo>
                <a:lnTo>
                  <a:pt x="12" y="250"/>
                </a:lnTo>
                <a:lnTo>
                  <a:pt x="14" y="252"/>
                </a:lnTo>
                <a:lnTo>
                  <a:pt x="16" y="254"/>
                </a:lnTo>
                <a:lnTo>
                  <a:pt x="16" y="254"/>
                </a:lnTo>
                <a:lnTo>
                  <a:pt x="22" y="256"/>
                </a:lnTo>
                <a:lnTo>
                  <a:pt x="22" y="256"/>
                </a:lnTo>
                <a:lnTo>
                  <a:pt x="24" y="260"/>
                </a:lnTo>
                <a:lnTo>
                  <a:pt x="24" y="262"/>
                </a:lnTo>
                <a:lnTo>
                  <a:pt x="24" y="262"/>
                </a:lnTo>
                <a:lnTo>
                  <a:pt x="22" y="266"/>
                </a:lnTo>
                <a:lnTo>
                  <a:pt x="20" y="268"/>
                </a:lnTo>
                <a:lnTo>
                  <a:pt x="20" y="268"/>
                </a:lnTo>
                <a:lnTo>
                  <a:pt x="14" y="272"/>
                </a:lnTo>
                <a:lnTo>
                  <a:pt x="14" y="272"/>
                </a:lnTo>
                <a:lnTo>
                  <a:pt x="10" y="276"/>
                </a:lnTo>
                <a:lnTo>
                  <a:pt x="10" y="276"/>
                </a:lnTo>
                <a:lnTo>
                  <a:pt x="0" y="284"/>
                </a:lnTo>
                <a:lnTo>
                  <a:pt x="0" y="284"/>
                </a:lnTo>
                <a:lnTo>
                  <a:pt x="0" y="286"/>
                </a:lnTo>
                <a:lnTo>
                  <a:pt x="0" y="288"/>
                </a:lnTo>
                <a:lnTo>
                  <a:pt x="0" y="288"/>
                </a:lnTo>
                <a:lnTo>
                  <a:pt x="2" y="288"/>
                </a:lnTo>
                <a:lnTo>
                  <a:pt x="6" y="284"/>
                </a:lnTo>
                <a:lnTo>
                  <a:pt x="6" y="284"/>
                </a:lnTo>
                <a:lnTo>
                  <a:pt x="14" y="280"/>
                </a:lnTo>
                <a:lnTo>
                  <a:pt x="14" y="280"/>
                </a:lnTo>
                <a:lnTo>
                  <a:pt x="16" y="278"/>
                </a:lnTo>
                <a:lnTo>
                  <a:pt x="16" y="278"/>
                </a:lnTo>
                <a:lnTo>
                  <a:pt x="18" y="278"/>
                </a:lnTo>
                <a:lnTo>
                  <a:pt x="20" y="278"/>
                </a:lnTo>
                <a:lnTo>
                  <a:pt x="20" y="278"/>
                </a:lnTo>
                <a:lnTo>
                  <a:pt x="20" y="278"/>
                </a:lnTo>
                <a:lnTo>
                  <a:pt x="20" y="280"/>
                </a:lnTo>
                <a:lnTo>
                  <a:pt x="20" y="280"/>
                </a:lnTo>
                <a:lnTo>
                  <a:pt x="16" y="284"/>
                </a:lnTo>
                <a:lnTo>
                  <a:pt x="16" y="284"/>
                </a:lnTo>
                <a:lnTo>
                  <a:pt x="12" y="288"/>
                </a:lnTo>
                <a:lnTo>
                  <a:pt x="12" y="288"/>
                </a:lnTo>
                <a:lnTo>
                  <a:pt x="4" y="296"/>
                </a:lnTo>
                <a:lnTo>
                  <a:pt x="4" y="296"/>
                </a:lnTo>
                <a:lnTo>
                  <a:pt x="4" y="298"/>
                </a:lnTo>
                <a:lnTo>
                  <a:pt x="4" y="298"/>
                </a:lnTo>
                <a:lnTo>
                  <a:pt x="6" y="300"/>
                </a:lnTo>
                <a:lnTo>
                  <a:pt x="6" y="300"/>
                </a:lnTo>
                <a:lnTo>
                  <a:pt x="10" y="296"/>
                </a:lnTo>
                <a:lnTo>
                  <a:pt x="10" y="296"/>
                </a:lnTo>
                <a:lnTo>
                  <a:pt x="20" y="290"/>
                </a:lnTo>
                <a:lnTo>
                  <a:pt x="20" y="290"/>
                </a:lnTo>
                <a:lnTo>
                  <a:pt x="20" y="290"/>
                </a:lnTo>
                <a:lnTo>
                  <a:pt x="20" y="290"/>
                </a:lnTo>
                <a:lnTo>
                  <a:pt x="20" y="290"/>
                </a:lnTo>
                <a:lnTo>
                  <a:pt x="12" y="300"/>
                </a:lnTo>
                <a:lnTo>
                  <a:pt x="12" y="300"/>
                </a:lnTo>
                <a:lnTo>
                  <a:pt x="12" y="302"/>
                </a:lnTo>
                <a:lnTo>
                  <a:pt x="12" y="304"/>
                </a:lnTo>
                <a:lnTo>
                  <a:pt x="12" y="304"/>
                </a:lnTo>
                <a:lnTo>
                  <a:pt x="16" y="300"/>
                </a:lnTo>
                <a:lnTo>
                  <a:pt x="16" y="300"/>
                </a:lnTo>
                <a:lnTo>
                  <a:pt x="20" y="296"/>
                </a:lnTo>
                <a:lnTo>
                  <a:pt x="20" y="296"/>
                </a:lnTo>
                <a:lnTo>
                  <a:pt x="22" y="298"/>
                </a:lnTo>
                <a:lnTo>
                  <a:pt x="22" y="298"/>
                </a:lnTo>
                <a:lnTo>
                  <a:pt x="22" y="298"/>
                </a:lnTo>
                <a:lnTo>
                  <a:pt x="28" y="290"/>
                </a:lnTo>
                <a:lnTo>
                  <a:pt x="28" y="290"/>
                </a:lnTo>
                <a:lnTo>
                  <a:pt x="36" y="280"/>
                </a:lnTo>
                <a:lnTo>
                  <a:pt x="36" y="280"/>
                </a:lnTo>
                <a:lnTo>
                  <a:pt x="40" y="276"/>
                </a:lnTo>
                <a:lnTo>
                  <a:pt x="40" y="276"/>
                </a:lnTo>
                <a:lnTo>
                  <a:pt x="46" y="270"/>
                </a:lnTo>
                <a:lnTo>
                  <a:pt x="46" y="270"/>
                </a:lnTo>
                <a:lnTo>
                  <a:pt x="48" y="268"/>
                </a:lnTo>
                <a:lnTo>
                  <a:pt x="48" y="268"/>
                </a:lnTo>
                <a:lnTo>
                  <a:pt x="52" y="266"/>
                </a:lnTo>
                <a:lnTo>
                  <a:pt x="52" y="266"/>
                </a:lnTo>
                <a:lnTo>
                  <a:pt x="54" y="264"/>
                </a:lnTo>
                <a:lnTo>
                  <a:pt x="54" y="264"/>
                </a:lnTo>
                <a:lnTo>
                  <a:pt x="56" y="268"/>
                </a:lnTo>
                <a:lnTo>
                  <a:pt x="56" y="268"/>
                </a:lnTo>
                <a:lnTo>
                  <a:pt x="58" y="268"/>
                </a:lnTo>
                <a:lnTo>
                  <a:pt x="58" y="268"/>
                </a:lnTo>
                <a:lnTo>
                  <a:pt x="60" y="270"/>
                </a:lnTo>
                <a:lnTo>
                  <a:pt x="60" y="270"/>
                </a:lnTo>
                <a:lnTo>
                  <a:pt x="64" y="266"/>
                </a:lnTo>
                <a:lnTo>
                  <a:pt x="64" y="266"/>
                </a:lnTo>
                <a:lnTo>
                  <a:pt x="80" y="254"/>
                </a:lnTo>
                <a:lnTo>
                  <a:pt x="80" y="254"/>
                </a:lnTo>
                <a:lnTo>
                  <a:pt x="90" y="246"/>
                </a:lnTo>
                <a:lnTo>
                  <a:pt x="104" y="236"/>
                </a:lnTo>
                <a:lnTo>
                  <a:pt x="104" y="236"/>
                </a:lnTo>
                <a:lnTo>
                  <a:pt x="112" y="228"/>
                </a:lnTo>
                <a:lnTo>
                  <a:pt x="118" y="226"/>
                </a:lnTo>
                <a:lnTo>
                  <a:pt x="118" y="226"/>
                </a:lnTo>
                <a:lnTo>
                  <a:pt x="120" y="224"/>
                </a:lnTo>
                <a:lnTo>
                  <a:pt x="122" y="220"/>
                </a:lnTo>
                <a:lnTo>
                  <a:pt x="122" y="220"/>
                </a:lnTo>
                <a:lnTo>
                  <a:pt x="126" y="214"/>
                </a:lnTo>
                <a:lnTo>
                  <a:pt x="126" y="214"/>
                </a:lnTo>
                <a:lnTo>
                  <a:pt x="132" y="204"/>
                </a:lnTo>
                <a:lnTo>
                  <a:pt x="132" y="204"/>
                </a:lnTo>
                <a:lnTo>
                  <a:pt x="138" y="192"/>
                </a:lnTo>
                <a:lnTo>
                  <a:pt x="138" y="192"/>
                </a:lnTo>
                <a:lnTo>
                  <a:pt x="138" y="190"/>
                </a:lnTo>
                <a:lnTo>
                  <a:pt x="138" y="190"/>
                </a:lnTo>
                <a:lnTo>
                  <a:pt x="140" y="200"/>
                </a:lnTo>
                <a:lnTo>
                  <a:pt x="140" y="200"/>
                </a:lnTo>
                <a:lnTo>
                  <a:pt x="142" y="216"/>
                </a:lnTo>
                <a:lnTo>
                  <a:pt x="142" y="216"/>
                </a:lnTo>
                <a:lnTo>
                  <a:pt x="140" y="234"/>
                </a:lnTo>
                <a:lnTo>
                  <a:pt x="140" y="234"/>
                </a:lnTo>
                <a:lnTo>
                  <a:pt x="138" y="238"/>
                </a:lnTo>
                <a:lnTo>
                  <a:pt x="138" y="238"/>
                </a:lnTo>
                <a:lnTo>
                  <a:pt x="136" y="250"/>
                </a:lnTo>
                <a:lnTo>
                  <a:pt x="136" y="250"/>
                </a:lnTo>
                <a:lnTo>
                  <a:pt x="136" y="254"/>
                </a:lnTo>
                <a:lnTo>
                  <a:pt x="138" y="250"/>
                </a:lnTo>
                <a:lnTo>
                  <a:pt x="138" y="250"/>
                </a:lnTo>
                <a:lnTo>
                  <a:pt x="138" y="266"/>
                </a:lnTo>
                <a:lnTo>
                  <a:pt x="138" y="266"/>
                </a:lnTo>
                <a:lnTo>
                  <a:pt x="138" y="288"/>
                </a:lnTo>
                <a:lnTo>
                  <a:pt x="138" y="288"/>
                </a:lnTo>
                <a:lnTo>
                  <a:pt x="138" y="304"/>
                </a:lnTo>
                <a:lnTo>
                  <a:pt x="138" y="304"/>
                </a:lnTo>
                <a:lnTo>
                  <a:pt x="138" y="314"/>
                </a:lnTo>
                <a:lnTo>
                  <a:pt x="140" y="314"/>
                </a:lnTo>
                <a:lnTo>
                  <a:pt x="142" y="334"/>
                </a:lnTo>
                <a:lnTo>
                  <a:pt x="144" y="378"/>
                </a:lnTo>
                <a:lnTo>
                  <a:pt x="144" y="378"/>
                </a:lnTo>
                <a:lnTo>
                  <a:pt x="144" y="420"/>
                </a:lnTo>
                <a:lnTo>
                  <a:pt x="144" y="420"/>
                </a:lnTo>
                <a:lnTo>
                  <a:pt x="146" y="456"/>
                </a:lnTo>
                <a:lnTo>
                  <a:pt x="146" y="456"/>
                </a:lnTo>
                <a:lnTo>
                  <a:pt x="148" y="490"/>
                </a:lnTo>
                <a:lnTo>
                  <a:pt x="148" y="490"/>
                </a:lnTo>
                <a:lnTo>
                  <a:pt x="150" y="512"/>
                </a:lnTo>
                <a:lnTo>
                  <a:pt x="150" y="512"/>
                </a:lnTo>
                <a:lnTo>
                  <a:pt x="150" y="516"/>
                </a:lnTo>
                <a:lnTo>
                  <a:pt x="148" y="520"/>
                </a:lnTo>
                <a:lnTo>
                  <a:pt x="148" y="520"/>
                </a:lnTo>
                <a:lnTo>
                  <a:pt x="148" y="528"/>
                </a:lnTo>
                <a:lnTo>
                  <a:pt x="148" y="528"/>
                </a:lnTo>
                <a:lnTo>
                  <a:pt x="148" y="532"/>
                </a:lnTo>
                <a:lnTo>
                  <a:pt x="148" y="532"/>
                </a:lnTo>
                <a:lnTo>
                  <a:pt x="146" y="532"/>
                </a:lnTo>
                <a:lnTo>
                  <a:pt x="146" y="532"/>
                </a:lnTo>
                <a:lnTo>
                  <a:pt x="146" y="532"/>
                </a:lnTo>
                <a:lnTo>
                  <a:pt x="144" y="534"/>
                </a:lnTo>
                <a:lnTo>
                  <a:pt x="144" y="534"/>
                </a:lnTo>
                <a:lnTo>
                  <a:pt x="142" y="542"/>
                </a:lnTo>
                <a:lnTo>
                  <a:pt x="142" y="542"/>
                </a:lnTo>
                <a:lnTo>
                  <a:pt x="138" y="548"/>
                </a:lnTo>
                <a:lnTo>
                  <a:pt x="138" y="548"/>
                </a:lnTo>
                <a:lnTo>
                  <a:pt x="136" y="554"/>
                </a:lnTo>
                <a:lnTo>
                  <a:pt x="136" y="554"/>
                </a:lnTo>
                <a:lnTo>
                  <a:pt x="136" y="556"/>
                </a:lnTo>
                <a:lnTo>
                  <a:pt x="134" y="556"/>
                </a:lnTo>
                <a:lnTo>
                  <a:pt x="136" y="558"/>
                </a:lnTo>
                <a:lnTo>
                  <a:pt x="130" y="562"/>
                </a:lnTo>
                <a:lnTo>
                  <a:pt x="132" y="562"/>
                </a:lnTo>
                <a:lnTo>
                  <a:pt x="132" y="562"/>
                </a:lnTo>
                <a:lnTo>
                  <a:pt x="132" y="562"/>
                </a:lnTo>
                <a:lnTo>
                  <a:pt x="134" y="562"/>
                </a:lnTo>
                <a:lnTo>
                  <a:pt x="134" y="562"/>
                </a:lnTo>
                <a:lnTo>
                  <a:pt x="128" y="566"/>
                </a:lnTo>
                <a:lnTo>
                  <a:pt x="128" y="566"/>
                </a:lnTo>
                <a:lnTo>
                  <a:pt x="126" y="568"/>
                </a:lnTo>
                <a:lnTo>
                  <a:pt x="126" y="568"/>
                </a:lnTo>
                <a:lnTo>
                  <a:pt x="120" y="568"/>
                </a:lnTo>
                <a:lnTo>
                  <a:pt x="120" y="568"/>
                </a:lnTo>
                <a:lnTo>
                  <a:pt x="112" y="574"/>
                </a:lnTo>
                <a:lnTo>
                  <a:pt x="112" y="574"/>
                </a:lnTo>
                <a:lnTo>
                  <a:pt x="112" y="576"/>
                </a:lnTo>
                <a:lnTo>
                  <a:pt x="112" y="576"/>
                </a:lnTo>
                <a:lnTo>
                  <a:pt x="112" y="576"/>
                </a:lnTo>
                <a:lnTo>
                  <a:pt x="110" y="576"/>
                </a:lnTo>
                <a:lnTo>
                  <a:pt x="110" y="576"/>
                </a:lnTo>
                <a:lnTo>
                  <a:pt x="110" y="580"/>
                </a:lnTo>
                <a:lnTo>
                  <a:pt x="110" y="580"/>
                </a:lnTo>
                <a:lnTo>
                  <a:pt x="112" y="582"/>
                </a:lnTo>
                <a:lnTo>
                  <a:pt x="116" y="584"/>
                </a:lnTo>
                <a:lnTo>
                  <a:pt x="116" y="584"/>
                </a:lnTo>
                <a:lnTo>
                  <a:pt x="128" y="584"/>
                </a:lnTo>
                <a:lnTo>
                  <a:pt x="140" y="584"/>
                </a:lnTo>
                <a:lnTo>
                  <a:pt x="140" y="584"/>
                </a:lnTo>
                <a:lnTo>
                  <a:pt x="150" y="582"/>
                </a:lnTo>
                <a:lnTo>
                  <a:pt x="154" y="580"/>
                </a:lnTo>
                <a:lnTo>
                  <a:pt x="154" y="580"/>
                </a:lnTo>
                <a:lnTo>
                  <a:pt x="158" y="582"/>
                </a:lnTo>
                <a:lnTo>
                  <a:pt x="158" y="582"/>
                </a:lnTo>
                <a:lnTo>
                  <a:pt x="170" y="582"/>
                </a:lnTo>
                <a:lnTo>
                  <a:pt x="170" y="582"/>
                </a:lnTo>
                <a:lnTo>
                  <a:pt x="176" y="580"/>
                </a:lnTo>
                <a:lnTo>
                  <a:pt x="178" y="580"/>
                </a:lnTo>
                <a:lnTo>
                  <a:pt x="178" y="580"/>
                </a:lnTo>
                <a:lnTo>
                  <a:pt x="178" y="574"/>
                </a:lnTo>
                <a:lnTo>
                  <a:pt x="178" y="574"/>
                </a:lnTo>
                <a:lnTo>
                  <a:pt x="178" y="572"/>
                </a:lnTo>
                <a:lnTo>
                  <a:pt x="178" y="572"/>
                </a:lnTo>
                <a:lnTo>
                  <a:pt x="178" y="572"/>
                </a:lnTo>
                <a:lnTo>
                  <a:pt x="178" y="572"/>
                </a:lnTo>
                <a:lnTo>
                  <a:pt x="178" y="566"/>
                </a:lnTo>
                <a:lnTo>
                  <a:pt x="178" y="566"/>
                </a:lnTo>
                <a:lnTo>
                  <a:pt x="178" y="562"/>
                </a:lnTo>
                <a:lnTo>
                  <a:pt x="178" y="562"/>
                </a:lnTo>
                <a:lnTo>
                  <a:pt x="178" y="554"/>
                </a:lnTo>
                <a:lnTo>
                  <a:pt x="178" y="554"/>
                </a:lnTo>
                <a:lnTo>
                  <a:pt x="176" y="550"/>
                </a:lnTo>
                <a:lnTo>
                  <a:pt x="176" y="550"/>
                </a:lnTo>
                <a:lnTo>
                  <a:pt x="180" y="544"/>
                </a:lnTo>
                <a:lnTo>
                  <a:pt x="180" y="544"/>
                </a:lnTo>
                <a:lnTo>
                  <a:pt x="186" y="532"/>
                </a:lnTo>
                <a:lnTo>
                  <a:pt x="186" y="532"/>
                </a:lnTo>
                <a:lnTo>
                  <a:pt x="186" y="524"/>
                </a:lnTo>
                <a:lnTo>
                  <a:pt x="186" y="524"/>
                </a:lnTo>
                <a:lnTo>
                  <a:pt x="186" y="508"/>
                </a:lnTo>
                <a:lnTo>
                  <a:pt x="186" y="508"/>
                </a:lnTo>
                <a:lnTo>
                  <a:pt x="188" y="496"/>
                </a:lnTo>
                <a:lnTo>
                  <a:pt x="188" y="496"/>
                </a:lnTo>
                <a:lnTo>
                  <a:pt x="190" y="468"/>
                </a:lnTo>
                <a:lnTo>
                  <a:pt x="190" y="468"/>
                </a:lnTo>
                <a:lnTo>
                  <a:pt x="192" y="444"/>
                </a:lnTo>
                <a:lnTo>
                  <a:pt x="192" y="444"/>
                </a:lnTo>
                <a:lnTo>
                  <a:pt x="190" y="436"/>
                </a:lnTo>
                <a:lnTo>
                  <a:pt x="190" y="436"/>
                </a:lnTo>
                <a:lnTo>
                  <a:pt x="192" y="430"/>
                </a:lnTo>
                <a:lnTo>
                  <a:pt x="192" y="430"/>
                </a:lnTo>
                <a:lnTo>
                  <a:pt x="194" y="414"/>
                </a:lnTo>
                <a:lnTo>
                  <a:pt x="194" y="414"/>
                </a:lnTo>
                <a:lnTo>
                  <a:pt x="194" y="400"/>
                </a:lnTo>
                <a:lnTo>
                  <a:pt x="194" y="400"/>
                </a:lnTo>
                <a:lnTo>
                  <a:pt x="196" y="384"/>
                </a:lnTo>
                <a:lnTo>
                  <a:pt x="196" y="384"/>
                </a:lnTo>
                <a:lnTo>
                  <a:pt x="196" y="374"/>
                </a:lnTo>
                <a:lnTo>
                  <a:pt x="196" y="374"/>
                </a:lnTo>
                <a:lnTo>
                  <a:pt x="198" y="364"/>
                </a:lnTo>
                <a:lnTo>
                  <a:pt x="198" y="364"/>
                </a:lnTo>
                <a:lnTo>
                  <a:pt x="200" y="352"/>
                </a:lnTo>
                <a:lnTo>
                  <a:pt x="200" y="352"/>
                </a:lnTo>
                <a:lnTo>
                  <a:pt x="200" y="352"/>
                </a:lnTo>
                <a:lnTo>
                  <a:pt x="200" y="352"/>
                </a:lnTo>
                <a:lnTo>
                  <a:pt x="202" y="362"/>
                </a:lnTo>
                <a:lnTo>
                  <a:pt x="202" y="362"/>
                </a:lnTo>
                <a:lnTo>
                  <a:pt x="208" y="404"/>
                </a:lnTo>
                <a:lnTo>
                  <a:pt x="208" y="404"/>
                </a:lnTo>
                <a:lnTo>
                  <a:pt x="214" y="444"/>
                </a:lnTo>
                <a:lnTo>
                  <a:pt x="214" y="444"/>
                </a:lnTo>
                <a:lnTo>
                  <a:pt x="218" y="474"/>
                </a:lnTo>
                <a:lnTo>
                  <a:pt x="218" y="474"/>
                </a:lnTo>
                <a:lnTo>
                  <a:pt x="222" y="498"/>
                </a:lnTo>
                <a:lnTo>
                  <a:pt x="222" y="498"/>
                </a:lnTo>
                <a:lnTo>
                  <a:pt x="228" y="532"/>
                </a:lnTo>
                <a:lnTo>
                  <a:pt x="228" y="532"/>
                </a:lnTo>
                <a:lnTo>
                  <a:pt x="230" y="540"/>
                </a:lnTo>
                <a:lnTo>
                  <a:pt x="230" y="546"/>
                </a:lnTo>
                <a:lnTo>
                  <a:pt x="230" y="546"/>
                </a:lnTo>
                <a:lnTo>
                  <a:pt x="230" y="556"/>
                </a:lnTo>
                <a:lnTo>
                  <a:pt x="230" y="556"/>
                </a:lnTo>
                <a:lnTo>
                  <a:pt x="230" y="560"/>
                </a:lnTo>
                <a:lnTo>
                  <a:pt x="230" y="560"/>
                </a:lnTo>
                <a:lnTo>
                  <a:pt x="232" y="562"/>
                </a:lnTo>
                <a:lnTo>
                  <a:pt x="232" y="562"/>
                </a:lnTo>
                <a:lnTo>
                  <a:pt x="238" y="566"/>
                </a:lnTo>
                <a:lnTo>
                  <a:pt x="238" y="566"/>
                </a:lnTo>
                <a:lnTo>
                  <a:pt x="238" y="570"/>
                </a:lnTo>
                <a:lnTo>
                  <a:pt x="238" y="570"/>
                </a:lnTo>
                <a:lnTo>
                  <a:pt x="236" y="574"/>
                </a:lnTo>
                <a:lnTo>
                  <a:pt x="236" y="574"/>
                </a:lnTo>
                <a:lnTo>
                  <a:pt x="234" y="576"/>
                </a:lnTo>
                <a:lnTo>
                  <a:pt x="234" y="576"/>
                </a:lnTo>
                <a:lnTo>
                  <a:pt x="234" y="576"/>
                </a:lnTo>
                <a:lnTo>
                  <a:pt x="234" y="576"/>
                </a:lnTo>
                <a:lnTo>
                  <a:pt x="234" y="578"/>
                </a:lnTo>
                <a:lnTo>
                  <a:pt x="234" y="578"/>
                </a:lnTo>
                <a:lnTo>
                  <a:pt x="232" y="582"/>
                </a:lnTo>
                <a:lnTo>
                  <a:pt x="232" y="582"/>
                </a:lnTo>
                <a:lnTo>
                  <a:pt x="232" y="588"/>
                </a:lnTo>
                <a:lnTo>
                  <a:pt x="232" y="588"/>
                </a:lnTo>
                <a:lnTo>
                  <a:pt x="232" y="588"/>
                </a:lnTo>
                <a:lnTo>
                  <a:pt x="232" y="588"/>
                </a:lnTo>
                <a:lnTo>
                  <a:pt x="232" y="588"/>
                </a:lnTo>
                <a:lnTo>
                  <a:pt x="230" y="590"/>
                </a:lnTo>
                <a:lnTo>
                  <a:pt x="230" y="590"/>
                </a:lnTo>
                <a:lnTo>
                  <a:pt x="232" y="592"/>
                </a:lnTo>
                <a:lnTo>
                  <a:pt x="238" y="594"/>
                </a:lnTo>
                <a:lnTo>
                  <a:pt x="238" y="594"/>
                </a:lnTo>
                <a:lnTo>
                  <a:pt x="258" y="596"/>
                </a:lnTo>
                <a:lnTo>
                  <a:pt x="258" y="596"/>
                </a:lnTo>
                <a:lnTo>
                  <a:pt x="262" y="594"/>
                </a:lnTo>
                <a:lnTo>
                  <a:pt x="264" y="594"/>
                </a:lnTo>
                <a:lnTo>
                  <a:pt x="264" y="592"/>
                </a:lnTo>
                <a:lnTo>
                  <a:pt x="264" y="592"/>
                </a:lnTo>
                <a:lnTo>
                  <a:pt x="266" y="588"/>
                </a:lnTo>
                <a:lnTo>
                  <a:pt x="266" y="588"/>
                </a:lnTo>
                <a:lnTo>
                  <a:pt x="268" y="584"/>
                </a:lnTo>
                <a:lnTo>
                  <a:pt x="268" y="584"/>
                </a:lnTo>
                <a:lnTo>
                  <a:pt x="268" y="578"/>
                </a:lnTo>
                <a:lnTo>
                  <a:pt x="268" y="578"/>
                </a:lnTo>
                <a:lnTo>
                  <a:pt x="268" y="574"/>
                </a:lnTo>
                <a:lnTo>
                  <a:pt x="266" y="572"/>
                </a:lnTo>
                <a:lnTo>
                  <a:pt x="266" y="572"/>
                </a:lnTo>
                <a:lnTo>
                  <a:pt x="266" y="566"/>
                </a:lnTo>
                <a:lnTo>
                  <a:pt x="266" y="566"/>
                </a:lnTo>
                <a:lnTo>
                  <a:pt x="266" y="564"/>
                </a:lnTo>
                <a:lnTo>
                  <a:pt x="266" y="564"/>
                </a:lnTo>
                <a:lnTo>
                  <a:pt x="266" y="564"/>
                </a:lnTo>
                <a:lnTo>
                  <a:pt x="266" y="564"/>
                </a:lnTo>
                <a:lnTo>
                  <a:pt x="268" y="556"/>
                </a:lnTo>
                <a:lnTo>
                  <a:pt x="268" y="556"/>
                </a:lnTo>
                <a:lnTo>
                  <a:pt x="268" y="548"/>
                </a:lnTo>
                <a:lnTo>
                  <a:pt x="268" y="548"/>
                </a:lnTo>
                <a:lnTo>
                  <a:pt x="266" y="536"/>
                </a:lnTo>
                <a:lnTo>
                  <a:pt x="266" y="536"/>
                </a:lnTo>
                <a:lnTo>
                  <a:pt x="266" y="532"/>
                </a:lnTo>
                <a:lnTo>
                  <a:pt x="268" y="528"/>
                </a:lnTo>
                <a:lnTo>
                  <a:pt x="268" y="528"/>
                </a:lnTo>
                <a:lnTo>
                  <a:pt x="268" y="524"/>
                </a:lnTo>
                <a:lnTo>
                  <a:pt x="268" y="520"/>
                </a:lnTo>
                <a:lnTo>
                  <a:pt x="268" y="520"/>
                </a:lnTo>
                <a:lnTo>
                  <a:pt x="266" y="502"/>
                </a:lnTo>
                <a:lnTo>
                  <a:pt x="266" y="502"/>
                </a:lnTo>
                <a:lnTo>
                  <a:pt x="264" y="482"/>
                </a:lnTo>
                <a:lnTo>
                  <a:pt x="264" y="482"/>
                </a:lnTo>
                <a:lnTo>
                  <a:pt x="262" y="476"/>
                </a:lnTo>
                <a:lnTo>
                  <a:pt x="262" y="476"/>
                </a:lnTo>
                <a:lnTo>
                  <a:pt x="262" y="458"/>
                </a:lnTo>
                <a:lnTo>
                  <a:pt x="262" y="458"/>
                </a:lnTo>
                <a:lnTo>
                  <a:pt x="260" y="442"/>
                </a:lnTo>
                <a:lnTo>
                  <a:pt x="260" y="442"/>
                </a:lnTo>
                <a:lnTo>
                  <a:pt x="258" y="436"/>
                </a:lnTo>
                <a:lnTo>
                  <a:pt x="258" y="436"/>
                </a:lnTo>
                <a:lnTo>
                  <a:pt x="258" y="418"/>
                </a:lnTo>
                <a:lnTo>
                  <a:pt x="258" y="418"/>
                </a:lnTo>
                <a:lnTo>
                  <a:pt x="256" y="396"/>
                </a:lnTo>
                <a:lnTo>
                  <a:pt x="256" y="396"/>
                </a:lnTo>
                <a:lnTo>
                  <a:pt x="258" y="386"/>
                </a:lnTo>
                <a:lnTo>
                  <a:pt x="258" y="386"/>
                </a:lnTo>
                <a:lnTo>
                  <a:pt x="258" y="368"/>
                </a:lnTo>
                <a:lnTo>
                  <a:pt x="258" y="368"/>
                </a:lnTo>
                <a:lnTo>
                  <a:pt x="258" y="346"/>
                </a:lnTo>
                <a:lnTo>
                  <a:pt x="258" y="346"/>
                </a:lnTo>
                <a:lnTo>
                  <a:pt x="256" y="330"/>
                </a:lnTo>
                <a:lnTo>
                  <a:pt x="256" y="330"/>
                </a:lnTo>
                <a:lnTo>
                  <a:pt x="256" y="316"/>
                </a:lnTo>
                <a:lnTo>
                  <a:pt x="256" y="316"/>
                </a:lnTo>
                <a:lnTo>
                  <a:pt x="256" y="316"/>
                </a:lnTo>
                <a:lnTo>
                  <a:pt x="256" y="316"/>
                </a:lnTo>
                <a:lnTo>
                  <a:pt x="256" y="316"/>
                </a:lnTo>
                <a:lnTo>
                  <a:pt x="256" y="304"/>
                </a:lnTo>
                <a:lnTo>
                  <a:pt x="256" y="304"/>
                </a:lnTo>
                <a:lnTo>
                  <a:pt x="254" y="296"/>
                </a:lnTo>
                <a:lnTo>
                  <a:pt x="254" y="296"/>
                </a:lnTo>
                <a:lnTo>
                  <a:pt x="256" y="290"/>
                </a:lnTo>
                <a:lnTo>
                  <a:pt x="256" y="290"/>
                </a:lnTo>
                <a:lnTo>
                  <a:pt x="254" y="280"/>
                </a:lnTo>
                <a:lnTo>
                  <a:pt x="254" y="280"/>
                </a:lnTo>
                <a:lnTo>
                  <a:pt x="256" y="270"/>
                </a:lnTo>
                <a:lnTo>
                  <a:pt x="256" y="270"/>
                </a:lnTo>
                <a:lnTo>
                  <a:pt x="254" y="260"/>
                </a:lnTo>
                <a:lnTo>
                  <a:pt x="254" y="260"/>
                </a:lnTo>
                <a:lnTo>
                  <a:pt x="254" y="252"/>
                </a:lnTo>
                <a:lnTo>
                  <a:pt x="254" y="252"/>
                </a:lnTo>
                <a:lnTo>
                  <a:pt x="252" y="246"/>
                </a:lnTo>
                <a:lnTo>
                  <a:pt x="252" y="246"/>
                </a:lnTo>
                <a:lnTo>
                  <a:pt x="254" y="234"/>
                </a:lnTo>
                <a:lnTo>
                  <a:pt x="254" y="234"/>
                </a:lnTo>
                <a:lnTo>
                  <a:pt x="256" y="226"/>
                </a:lnTo>
                <a:lnTo>
                  <a:pt x="256" y="226"/>
                </a:lnTo>
                <a:lnTo>
                  <a:pt x="256" y="212"/>
                </a:lnTo>
                <a:lnTo>
                  <a:pt x="256" y="212"/>
                </a:lnTo>
                <a:lnTo>
                  <a:pt x="260" y="202"/>
                </a:lnTo>
                <a:lnTo>
                  <a:pt x="260" y="202"/>
                </a:lnTo>
                <a:lnTo>
                  <a:pt x="266" y="190"/>
                </a:lnTo>
                <a:lnTo>
                  <a:pt x="266" y="190"/>
                </a:lnTo>
                <a:lnTo>
                  <a:pt x="266" y="184"/>
                </a:lnTo>
                <a:lnTo>
                  <a:pt x="266" y="184"/>
                </a:lnTo>
                <a:lnTo>
                  <a:pt x="268" y="184"/>
                </a:lnTo>
                <a:lnTo>
                  <a:pt x="270" y="188"/>
                </a:lnTo>
                <a:lnTo>
                  <a:pt x="270" y="188"/>
                </a:lnTo>
                <a:lnTo>
                  <a:pt x="276" y="202"/>
                </a:lnTo>
                <a:lnTo>
                  <a:pt x="276" y="202"/>
                </a:lnTo>
                <a:lnTo>
                  <a:pt x="284" y="218"/>
                </a:lnTo>
                <a:lnTo>
                  <a:pt x="284" y="218"/>
                </a:lnTo>
                <a:lnTo>
                  <a:pt x="286" y="222"/>
                </a:lnTo>
                <a:lnTo>
                  <a:pt x="290" y="224"/>
                </a:lnTo>
                <a:lnTo>
                  <a:pt x="290" y="224"/>
                </a:lnTo>
                <a:lnTo>
                  <a:pt x="306" y="238"/>
                </a:lnTo>
                <a:lnTo>
                  <a:pt x="306" y="238"/>
                </a:lnTo>
                <a:lnTo>
                  <a:pt x="322" y="248"/>
                </a:lnTo>
                <a:lnTo>
                  <a:pt x="322" y="248"/>
                </a:lnTo>
                <a:lnTo>
                  <a:pt x="338" y="256"/>
                </a:lnTo>
                <a:lnTo>
                  <a:pt x="338" y="256"/>
                </a:lnTo>
                <a:lnTo>
                  <a:pt x="346" y="262"/>
                </a:lnTo>
                <a:lnTo>
                  <a:pt x="346" y="262"/>
                </a:lnTo>
                <a:lnTo>
                  <a:pt x="352" y="266"/>
                </a:lnTo>
                <a:lnTo>
                  <a:pt x="352" y="266"/>
                </a:lnTo>
                <a:lnTo>
                  <a:pt x="352" y="266"/>
                </a:lnTo>
                <a:lnTo>
                  <a:pt x="352" y="266"/>
                </a:lnTo>
                <a:lnTo>
                  <a:pt x="356" y="266"/>
                </a:lnTo>
                <a:lnTo>
                  <a:pt x="356" y="266"/>
                </a:lnTo>
                <a:lnTo>
                  <a:pt x="358" y="266"/>
                </a:lnTo>
                <a:lnTo>
                  <a:pt x="358" y="264"/>
                </a:lnTo>
                <a:lnTo>
                  <a:pt x="358" y="264"/>
                </a:lnTo>
                <a:lnTo>
                  <a:pt x="362" y="268"/>
                </a:lnTo>
                <a:lnTo>
                  <a:pt x="362" y="268"/>
                </a:lnTo>
                <a:lnTo>
                  <a:pt x="366" y="272"/>
                </a:lnTo>
                <a:lnTo>
                  <a:pt x="366" y="272"/>
                </a:lnTo>
                <a:lnTo>
                  <a:pt x="368" y="278"/>
                </a:lnTo>
                <a:lnTo>
                  <a:pt x="368" y="278"/>
                </a:lnTo>
                <a:lnTo>
                  <a:pt x="370" y="282"/>
                </a:lnTo>
                <a:lnTo>
                  <a:pt x="370" y="282"/>
                </a:lnTo>
                <a:lnTo>
                  <a:pt x="372" y="286"/>
                </a:lnTo>
                <a:lnTo>
                  <a:pt x="372" y="286"/>
                </a:lnTo>
                <a:lnTo>
                  <a:pt x="374" y="284"/>
                </a:lnTo>
                <a:lnTo>
                  <a:pt x="374" y="284"/>
                </a:lnTo>
                <a:lnTo>
                  <a:pt x="374" y="284"/>
                </a:lnTo>
                <a:lnTo>
                  <a:pt x="374" y="284"/>
                </a:lnTo>
                <a:lnTo>
                  <a:pt x="372" y="278"/>
                </a:lnTo>
                <a:lnTo>
                  <a:pt x="372" y="278"/>
                </a:lnTo>
                <a:lnTo>
                  <a:pt x="372" y="274"/>
                </a:lnTo>
                <a:lnTo>
                  <a:pt x="372" y="274"/>
                </a:lnTo>
                <a:lnTo>
                  <a:pt x="372" y="274"/>
                </a:lnTo>
                <a:lnTo>
                  <a:pt x="374" y="276"/>
                </a:lnTo>
                <a:lnTo>
                  <a:pt x="374" y="276"/>
                </a:lnTo>
                <a:lnTo>
                  <a:pt x="374" y="278"/>
                </a:lnTo>
                <a:lnTo>
                  <a:pt x="374" y="278"/>
                </a:lnTo>
                <a:lnTo>
                  <a:pt x="386" y="292"/>
                </a:lnTo>
                <a:lnTo>
                  <a:pt x="386" y="292"/>
                </a:lnTo>
                <a:lnTo>
                  <a:pt x="388" y="294"/>
                </a:lnTo>
                <a:lnTo>
                  <a:pt x="388" y="292"/>
                </a:lnTo>
                <a:lnTo>
                  <a:pt x="388" y="292"/>
                </a:lnTo>
                <a:lnTo>
                  <a:pt x="388" y="290"/>
                </a:lnTo>
                <a:lnTo>
                  <a:pt x="388" y="288"/>
                </a:lnTo>
                <a:lnTo>
                  <a:pt x="388" y="288"/>
                </a:lnTo>
                <a:lnTo>
                  <a:pt x="382" y="280"/>
                </a:lnTo>
                <a:lnTo>
                  <a:pt x="382" y="280"/>
                </a:lnTo>
                <a:lnTo>
                  <a:pt x="378" y="274"/>
                </a:lnTo>
                <a:lnTo>
                  <a:pt x="378" y="274"/>
                </a:lnTo>
                <a:lnTo>
                  <a:pt x="378" y="272"/>
                </a:lnTo>
                <a:lnTo>
                  <a:pt x="378" y="272"/>
                </a:lnTo>
                <a:lnTo>
                  <a:pt x="382" y="276"/>
                </a:lnTo>
                <a:lnTo>
                  <a:pt x="382" y="276"/>
                </a:lnTo>
                <a:lnTo>
                  <a:pt x="390" y="282"/>
                </a:lnTo>
                <a:lnTo>
                  <a:pt x="390" y="282"/>
                </a:lnTo>
                <a:lnTo>
                  <a:pt x="396" y="286"/>
                </a:lnTo>
                <a:lnTo>
                  <a:pt x="396" y="286"/>
                </a:lnTo>
                <a:lnTo>
                  <a:pt x="400" y="288"/>
                </a:lnTo>
                <a:lnTo>
                  <a:pt x="400" y="288"/>
                </a:lnTo>
                <a:lnTo>
                  <a:pt x="400" y="288"/>
                </a:lnTo>
                <a:lnTo>
                  <a:pt x="400" y="286"/>
                </a:lnTo>
                <a:lnTo>
                  <a:pt x="400" y="286"/>
                </a:lnTo>
                <a:lnTo>
                  <a:pt x="400" y="284"/>
                </a:lnTo>
                <a:lnTo>
                  <a:pt x="398" y="282"/>
                </a:lnTo>
                <a:lnTo>
                  <a:pt x="398" y="282"/>
                </a:lnTo>
                <a:lnTo>
                  <a:pt x="390" y="274"/>
                </a:lnTo>
                <a:lnTo>
                  <a:pt x="390" y="274"/>
                </a:lnTo>
                <a:lnTo>
                  <a:pt x="384" y="268"/>
                </a:lnTo>
                <a:lnTo>
                  <a:pt x="384" y="268"/>
                </a:lnTo>
                <a:lnTo>
                  <a:pt x="384" y="266"/>
                </a:lnTo>
                <a:lnTo>
                  <a:pt x="384" y="266"/>
                </a:lnTo>
                <a:lnTo>
                  <a:pt x="386" y="266"/>
                </a:lnTo>
                <a:lnTo>
                  <a:pt x="388" y="266"/>
                </a:lnTo>
                <a:lnTo>
                  <a:pt x="388" y="266"/>
                </a:lnTo>
                <a:lnTo>
                  <a:pt x="396" y="270"/>
                </a:lnTo>
                <a:lnTo>
                  <a:pt x="396" y="270"/>
                </a:lnTo>
                <a:lnTo>
                  <a:pt x="404" y="276"/>
                </a:lnTo>
                <a:lnTo>
                  <a:pt x="404" y="276"/>
                </a:lnTo>
                <a:lnTo>
                  <a:pt x="408" y="276"/>
                </a:lnTo>
                <a:lnTo>
                  <a:pt x="408" y="276"/>
                </a:lnTo>
                <a:lnTo>
                  <a:pt x="408" y="276"/>
                </a:lnTo>
                <a:lnTo>
                  <a:pt x="406" y="272"/>
                </a:lnTo>
                <a:lnTo>
                  <a:pt x="406" y="272"/>
                </a:lnTo>
                <a:close/>
                <a:moveTo>
                  <a:pt x="240" y="44"/>
                </a:moveTo>
                <a:lnTo>
                  <a:pt x="240" y="44"/>
                </a:lnTo>
                <a:lnTo>
                  <a:pt x="240" y="44"/>
                </a:lnTo>
                <a:lnTo>
                  <a:pt x="240" y="44"/>
                </a:lnTo>
                <a:lnTo>
                  <a:pt x="240" y="48"/>
                </a:lnTo>
                <a:lnTo>
                  <a:pt x="240" y="48"/>
                </a:lnTo>
                <a:lnTo>
                  <a:pt x="240" y="50"/>
                </a:lnTo>
                <a:lnTo>
                  <a:pt x="240" y="50"/>
                </a:lnTo>
                <a:lnTo>
                  <a:pt x="240" y="46"/>
                </a:lnTo>
                <a:lnTo>
                  <a:pt x="240" y="46"/>
                </a:lnTo>
                <a:lnTo>
                  <a:pt x="240" y="44"/>
                </a:lnTo>
                <a:lnTo>
                  <a:pt x="240" y="44"/>
                </a:lnTo>
                <a:close/>
                <a:moveTo>
                  <a:pt x="238" y="36"/>
                </a:moveTo>
                <a:lnTo>
                  <a:pt x="238" y="36"/>
                </a:lnTo>
                <a:lnTo>
                  <a:pt x="240" y="40"/>
                </a:lnTo>
                <a:lnTo>
                  <a:pt x="240" y="40"/>
                </a:lnTo>
                <a:lnTo>
                  <a:pt x="240" y="42"/>
                </a:lnTo>
                <a:lnTo>
                  <a:pt x="240" y="42"/>
                </a:lnTo>
                <a:lnTo>
                  <a:pt x="238" y="40"/>
                </a:lnTo>
                <a:lnTo>
                  <a:pt x="238" y="40"/>
                </a:lnTo>
                <a:lnTo>
                  <a:pt x="238" y="36"/>
                </a:lnTo>
                <a:lnTo>
                  <a:pt x="238" y="36"/>
                </a:lnTo>
                <a:close/>
                <a:moveTo>
                  <a:pt x="236" y="30"/>
                </a:moveTo>
                <a:lnTo>
                  <a:pt x="236" y="30"/>
                </a:lnTo>
                <a:lnTo>
                  <a:pt x="238" y="32"/>
                </a:lnTo>
                <a:lnTo>
                  <a:pt x="238" y="32"/>
                </a:lnTo>
                <a:lnTo>
                  <a:pt x="238" y="32"/>
                </a:lnTo>
                <a:lnTo>
                  <a:pt x="238" y="32"/>
                </a:lnTo>
                <a:lnTo>
                  <a:pt x="236" y="32"/>
                </a:lnTo>
                <a:lnTo>
                  <a:pt x="236" y="32"/>
                </a:lnTo>
                <a:lnTo>
                  <a:pt x="236" y="30"/>
                </a:lnTo>
                <a:lnTo>
                  <a:pt x="236" y="30"/>
                </a:lnTo>
                <a:lnTo>
                  <a:pt x="236" y="30"/>
                </a:lnTo>
                <a:lnTo>
                  <a:pt x="236" y="30"/>
                </a:lnTo>
                <a:lnTo>
                  <a:pt x="236" y="30"/>
                </a:lnTo>
                <a:lnTo>
                  <a:pt x="236" y="30"/>
                </a:lnTo>
                <a:close/>
                <a:moveTo>
                  <a:pt x="232" y="22"/>
                </a:moveTo>
                <a:lnTo>
                  <a:pt x="232" y="22"/>
                </a:lnTo>
                <a:lnTo>
                  <a:pt x="234" y="24"/>
                </a:lnTo>
                <a:lnTo>
                  <a:pt x="234" y="24"/>
                </a:lnTo>
                <a:lnTo>
                  <a:pt x="234" y="24"/>
                </a:lnTo>
                <a:lnTo>
                  <a:pt x="234" y="24"/>
                </a:lnTo>
                <a:lnTo>
                  <a:pt x="234" y="24"/>
                </a:lnTo>
                <a:lnTo>
                  <a:pt x="234" y="24"/>
                </a:lnTo>
                <a:lnTo>
                  <a:pt x="232" y="22"/>
                </a:lnTo>
                <a:lnTo>
                  <a:pt x="232" y="22"/>
                </a:lnTo>
                <a:close/>
                <a:moveTo>
                  <a:pt x="232" y="22"/>
                </a:moveTo>
                <a:lnTo>
                  <a:pt x="232" y="22"/>
                </a:lnTo>
                <a:lnTo>
                  <a:pt x="230" y="22"/>
                </a:lnTo>
                <a:lnTo>
                  <a:pt x="230" y="22"/>
                </a:lnTo>
                <a:lnTo>
                  <a:pt x="230" y="22"/>
                </a:lnTo>
                <a:lnTo>
                  <a:pt x="230" y="22"/>
                </a:lnTo>
                <a:lnTo>
                  <a:pt x="232" y="22"/>
                </a:lnTo>
                <a:lnTo>
                  <a:pt x="232" y="22"/>
                </a:lnTo>
                <a:lnTo>
                  <a:pt x="232" y="22"/>
                </a:lnTo>
                <a:lnTo>
                  <a:pt x="232" y="22"/>
                </a:lnTo>
                <a:close/>
                <a:moveTo>
                  <a:pt x="230" y="20"/>
                </a:moveTo>
                <a:lnTo>
                  <a:pt x="230" y="20"/>
                </a:lnTo>
                <a:lnTo>
                  <a:pt x="232" y="20"/>
                </a:lnTo>
                <a:lnTo>
                  <a:pt x="232" y="20"/>
                </a:lnTo>
                <a:lnTo>
                  <a:pt x="230" y="20"/>
                </a:lnTo>
                <a:lnTo>
                  <a:pt x="230" y="20"/>
                </a:lnTo>
                <a:lnTo>
                  <a:pt x="228" y="18"/>
                </a:lnTo>
                <a:lnTo>
                  <a:pt x="228" y="18"/>
                </a:lnTo>
                <a:lnTo>
                  <a:pt x="230" y="20"/>
                </a:lnTo>
                <a:lnTo>
                  <a:pt x="230" y="20"/>
                </a:lnTo>
                <a:close/>
                <a:moveTo>
                  <a:pt x="228" y="20"/>
                </a:moveTo>
                <a:lnTo>
                  <a:pt x="228" y="20"/>
                </a:lnTo>
                <a:lnTo>
                  <a:pt x="230" y="22"/>
                </a:lnTo>
                <a:lnTo>
                  <a:pt x="230" y="22"/>
                </a:lnTo>
                <a:lnTo>
                  <a:pt x="228" y="22"/>
                </a:lnTo>
                <a:lnTo>
                  <a:pt x="228" y="22"/>
                </a:lnTo>
                <a:lnTo>
                  <a:pt x="228" y="20"/>
                </a:lnTo>
                <a:lnTo>
                  <a:pt x="228" y="20"/>
                </a:lnTo>
                <a:close/>
                <a:moveTo>
                  <a:pt x="186" y="24"/>
                </a:moveTo>
                <a:lnTo>
                  <a:pt x="186" y="24"/>
                </a:lnTo>
                <a:lnTo>
                  <a:pt x="184" y="24"/>
                </a:lnTo>
                <a:lnTo>
                  <a:pt x="184" y="24"/>
                </a:lnTo>
                <a:lnTo>
                  <a:pt x="186" y="22"/>
                </a:lnTo>
                <a:lnTo>
                  <a:pt x="186" y="22"/>
                </a:lnTo>
                <a:lnTo>
                  <a:pt x="186" y="22"/>
                </a:lnTo>
                <a:lnTo>
                  <a:pt x="186" y="22"/>
                </a:lnTo>
                <a:lnTo>
                  <a:pt x="186" y="24"/>
                </a:lnTo>
                <a:lnTo>
                  <a:pt x="186" y="24"/>
                </a:lnTo>
                <a:close/>
                <a:moveTo>
                  <a:pt x="188" y="20"/>
                </a:moveTo>
                <a:lnTo>
                  <a:pt x="188" y="20"/>
                </a:lnTo>
                <a:lnTo>
                  <a:pt x="186" y="20"/>
                </a:lnTo>
                <a:lnTo>
                  <a:pt x="186" y="20"/>
                </a:lnTo>
                <a:lnTo>
                  <a:pt x="186" y="22"/>
                </a:lnTo>
                <a:lnTo>
                  <a:pt x="186" y="22"/>
                </a:lnTo>
                <a:lnTo>
                  <a:pt x="184" y="24"/>
                </a:lnTo>
                <a:lnTo>
                  <a:pt x="184" y="24"/>
                </a:lnTo>
                <a:lnTo>
                  <a:pt x="186" y="20"/>
                </a:lnTo>
                <a:lnTo>
                  <a:pt x="186" y="20"/>
                </a:lnTo>
                <a:lnTo>
                  <a:pt x="188" y="18"/>
                </a:lnTo>
                <a:lnTo>
                  <a:pt x="188" y="18"/>
                </a:lnTo>
                <a:lnTo>
                  <a:pt x="188" y="20"/>
                </a:lnTo>
                <a:lnTo>
                  <a:pt x="188" y="20"/>
                </a:lnTo>
                <a:close/>
                <a:moveTo>
                  <a:pt x="192" y="6"/>
                </a:moveTo>
                <a:lnTo>
                  <a:pt x="192" y="6"/>
                </a:lnTo>
                <a:lnTo>
                  <a:pt x="192" y="8"/>
                </a:lnTo>
                <a:lnTo>
                  <a:pt x="192" y="8"/>
                </a:lnTo>
                <a:lnTo>
                  <a:pt x="190" y="10"/>
                </a:lnTo>
                <a:lnTo>
                  <a:pt x="190" y="10"/>
                </a:lnTo>
                <a:lnTo>
                  <a:pt x="190" y="10"/>
                </a:lnTo>
                <a:lnTo>
                  <a:pt x="190" y="10"/>
                </a:lnTo>
                <a:lnTo>
                  <a:pt x="192" y="8"/>
                </a:lnTo>
                <a:lnTo>
                  <a:pt x="192" y="8"/>
                </a:lnTo>
                <a:lnTo>
                  <a:pt x="192" y="6"/>
                </a:lnTo>
                <a:lnTo>
                  <a:pt x="192" y="6"/>
                </a:lnTo>
                <a:close/>
                <a:moveTo>
                  <a:pt x="194" y="6"/>
                </a:moveTo>
                <a:lnTo>
                  <a:pt x="194" y="6"/>
                </a:lnTo>
                <a:lnTo>
                  <a:pt x="194" y="8"/>
                </a:lnTo>
                <a:lnTo>
                  <a:pt x="194" y="8"/>
                </a:lnTo>
                <a:lnTo>
                  <a:pt x="192" y="10"/>
                </a:lnTo>
                <a:lnTo>
                  <a:pt x="192" y="10"/>
                </a:lnTo>
                <a:lnTo>
                  <a:pt x="192" y="8"/>
                </a:lnTo>
                <a:lnTo>
                  <a:pt x="192" y="8"/>
                </a:lnTo>
                <a:lnTo>
                  <a:pt x="194" y="6"/>
                </a:lnTo>
                <a:lnTo>
                  <a:pt x="194" y="6"/>
                </a:lnTo>
                <a:close/>
                <a:moveTo>
                  <a:pt x="190" y="8"/>
                </a:moveTo>
                <a:lnTo>
                  <a:pt x="190" y="8"/>
                </a:lnTo>
                <a:lnTo>
                  <a:pt x="192" y="6"/>
                </a:lnTo>
                <a:lnTo>
                  <a:pt x="192" y="6"/>
                </a:lnTo>
                <a:lnTo>
                  <a:pt x="192" y="6"/>
                </a:lnTo>
                <a:lnTo>
                  <a:pt x="192" y="6"/>
                </a:lnTo>
                <a:lnTo>
                  <a:pt x="192" y="6"/>
                </a:lnTo>
                <a:lnTo>
                  <a:pt x="192" y="6"/>
                </a:lnTo>
                <a:lnTo>
                  <a:pt x="190" y="6"/>
                </a:lnTo>
                <a:lnTo>
                  <a:pt x="190" y="6"/>
                </a:lnTo>
                <a:lnTo>
                  <a:pt x="188" y="10"/>
                </a:lnTo>
                <a:lnTo>
                  <a:pt x="188" y="10"/>
                </a:lnTo>
                <a:lnTo>
                  <a:pt x="190" y="8"/>
                </a:lnTo>
                <a:lnTo>
                  <a:pt x="190" y="8"/>
                </a:lnTo>
                <a:close/>
                <a:moveTo>
                  <a:pt x="194" y="8"/>
                </a:moveTo>
                <a:lnTo>
                  <a:pt x="194" y="8"/>
                </a:lnTo>
                <a:lnTo>
                  <a:pt x="192" y="10"/>
                </a:lnTo>
                <a:lnTo>
                  <a:pt x="192" y="10"/>
                </a:lnTo>
                <a:lnTo>
                  <a:pt x="190" y="12"/>
                </a:lnTo>
                <a:lnTo>
                  <a:pt x="190" y="12"/>
                </a:lnTo>
                <a:lnTo>
                  <a:pt x="190" y="10"/>
                </a:lnTo>
                <a:lnTo>
                  <a:pt x="190" y="10"/>
                </a:lnTo>
                <a:lnTo>
                  <a:pt x="194" y="8"/>
                </a:lnTo>
                <a:lnTo>
                  <a:pt x="194" y="8"/>
                </a:lnTo>
                <a:lnTo>
                  <a:pt x="196" y="8"/>
                </a:lnTo>
                <a:lnTo>
                  <a:pt x="196" y="8"/>
                </a:lnTo>
                <a:lnTo>
                  <a:pt x="194" y="8"/>
                </a:lnTo>
                <a:lnTo>
                  <a:pt x="194" y="8"/>
                </a:lnTo>
                <a:close/>
                <a:moveTo>
                  <a:pt x="210" y="0"/>
                </a:moveTo>
                <a:lnTo>
                  <a:pt x="210" y="0"/>
                </a:lnTo>
                <a:lnTo>
                  <a:pt x="212" y="4"/>
                </a:lnTo>
                <a:lnTo>
                  <a:pt x="212" y="4"/>
                </a:lnTo>
                <a:lnTo>
                  <a:pt x="212" y="6"/>
                </a:lnTo>
                <a:lnTo>
                  <a:pt x="212" y="4"/>
                </a:lnTo>
                <a:lnTo>
                  <a:pt x="212" y="4"/>
                </a:lnTo>
                <a:lnTo>
                  <a:pt x="210" y="2"/>
                </a:lnTo>
                <a:lnTo>
                  <a:pt x="210" y="2"/>
                </a:lnTo>
                <a:lnTo>
                  <a:pt x="208" y="0"/>
                </a:lnTo>
                <a:lnTo>
                  <a:pt x="208" y="0"/>
                </a:lnTo>
                <a:lnTo>
                  <a:pt x="206" y="0"/>
                </a:lnTo>
                <a:lnTo>
                  <a:pt x="206" y="0"/>
                </a:lnTo>
                <a:lnTo>
                  <a:pt x="210" y="0"/>
                </a:lnTo>
                <a:lnTo>
                  <a:pt x="210" y="0"/>
                </a:lnTo>
                <a:close/>
                <a:moveTo>
                  <a:pt x="204" y="4"/>
                </a:moveTo>
                <a:lnTo>
                  <a:pt x="204" y="4"/>
                </a:lnTo>
                <a:lnTo>
                  <a:pt x="202" y="4"/>
                </a:lnTo>
                <a:lnTo>
                  <a:pt x="202" y="4"/>
                </a:lnTo>
                <a:lnTo>
                  <a:pt x="202" y="2"/>
                </a:lnTo>
                <a:lnTo>
                  <a:pt x="202" y="2"/>
                </a:lnTo>
                <a:lnTo>
                  <a:pt x="202" y="2"/>
                </a:lnTo>
                <a:lnTo>
                  <a:pt x="202" y="2"/>
                </a:lnTo>
                <a:lnTo>
                  <a:pt x="204" y="0"/>
                </a:lnTo>
                <a:lnTo>
                  <a:pt x="204" y="0"/>
                </a:lnTo>
                <a:lnTo>
                  <a:pt x="208" y="2"/>
                </a:lnTo>
                <a:lnTo>
                  <a:pt x="208" y="2"/>
                </a:lnTo>
                <a:lnTo>
                  <a:pt x="210" y="4"/>
                </a:lnTo>
                <a:lnTo>
                  <a:pt x="210" y="4"/>
                </a:lnTo>
                <a:lnTo>
                  <a:pt x="210" y="6"/>
                </a:lnTo>
                <a:lnTo>
                  <a:pt x="210" y="6"/>
                </a:lnTo>
                <a:lnTo>
                  <a:pt x="210" y="4"/>
                </a:lnTo>
                <a:lnTo>
                  <a:pt x="208" y="4"/>
                </a:lnTo>
                <a:lnTo>
                  <a:pt x="208" y="4"/>
                </a:lnTo>
                <a:lnTo>
                  <a:pt x="208" y="4"/>
                </a:lnTo>
                <a:lnTo>
                  <a:pt x="208" y="4"/>
                </a:lnTo>
                <a:lnTo>
                  <a:pt x="208" y="4"/>
                </a:lnTo>
                <a:lnTo>
                  <a:pt x="208" y="4"/>
                </a:lnTo>
                <a:lnTo>
                  <a:pt x="208" y="4"/>
                </a:lnTo>
                <a:lnTo>
                  <a:pt x="208" y="4"/>
                </a:lnTo>
                <a:lnTo>
                  <a:pt x="206" y="4"/>
                </a:lnTo>
                <a:lnTo>
                  <a:pt x="206" y="4"/>
                </a:lnTo>
                <a:lnTo>
                  <a:pt x="206" y="4"/>
                </a:lnTo>
                <a:lnTo>
                  <a:pt x="206" y="4"/>
                </a:lnTo>
                <a:lnTo>
                  <a:pt x="206" y="6"/>
                </a:lnTo>
                <a:lnTo>
                  <a:pt x="206" y="6"/>
                </a:lnTo>
                <a:lnTo>
                  <a:pt x="206" y="6"/>
                </a:lnTo>
                <a:lnTo>
                  <a:pt x="206" y="6"/>
                </a:lnTo>
                <a:lnTo>
                  <a:pt x="206" y="4"/>
                </a:lnTo>
                <a:lnTo>
                  <a:pt x="206" y="4"/>
                </a:lnTo>
                <a:lnTo>
                  <a:pt x="204" y="4"/>
                </a:lnTo>
                <a:lnTo>
                  <a:pt x="204" y="4"/>
                </a:lnTo>
                <a:close/>
                <a:moveTo>
                  <a:pt x="210" y="8"/>
                </a:moveTo>
                <a:lnTo>
                  <a:pt x="210" y="8"/>
                </a:lnTo>
                <a:lnTo>
                  <a:pt x="208" y="8"/>
                </a:lnTo>
                <a:lnTo>
                  <a:pt x="208" y="8"/>
                </a:lnTo>
                <a:lnTo>
                  <a:pt x="206" y="6"/>
                </a:lnTo>
                <a:lnTo>
                  <a:pt x="206" y="6"/>
                </a:lnTo>
                <a:lnTo>
                  <a:pt x="206" y="6"/>
                </a:lnTo>
                <a:lnTo>
                  <a:pt x="206" y="6"/>
                </a:lnTo>
                <a:lnTo>
                  <a:pt x="208" y="6"/>
                </a:lnTo>
                <a:lnTo>
                  <a:pt x="208" y="6"/>
                </a:lnTo>
                <a:lnTo>
                  <a:pt x="208" y="6"/>
                </a:lnTo>
                <a:lnTo>
                  <a:pt x="208" y="6"/>
                </a:lnTo>
                <a:lnTo>
                  <a:pt x="210" y="8"/>
                </a:lnTo>
                <a:lnTo>
                  <a:pt x="210" y="8"/>
                </a:lnTo>
                <a:lnTo>
                  <a:pt x="210" y="8"/>
                </a:lnTo>
                <a:lnTo>
                  <a:pt x="210" y="8"/>
                </a:lnTo>
                <a:close/>
                <a:moveTo>
                  <a:pt x="210" y="8"/>
                </a:moveTo>
                <a:lnTo>
                  <a:pt x="210" y="8"/>
                </a:lnTo>
                <a:lnTo>
                  <a:pt x="210" y="8"/>
                </a:lnTo>
                <a:lnTo>
                  <a:pt x="210" y="6"/>
                </a:lnTo>
                <a:lnTo>
                  <a:pt x="210" y="6"/>
                </a:lnTo>
                <a:lnTo>
                  <a:pt x="210" y="8"/>
                </a:lnTo>
                <a:lnTo>
                  <a:pt x="210" y="8"/>
                </a:lnTo>
                <a:lnTo>
                  <a:pt x="210" y="8"/>
                </a:lnTo>
                <a:lnTo>
                  <a:pt x="210" y="8"/>
                </a:lnTo>
                <a:close/>
                <a:moveTo>
                  <a:pt x="210" y="4"/>
                </a:moveTo>
                <a:lnTo>
                  <a:pt x="210" y="4"/>
                </a:lnTo>
                <a:lnTo>
                  <a:pt x="208" y="2"/>
                </a:lnTo>
                <a:lnTo>
                  <a:pt x="208" y="2"/>
                </a:lnTo>
                <a:lnTo>
                  <a:pt x="206" y="0"/>
                </a:lnTo>
                <a:lnTo>
                  <a:pt x="206" y="0"/>
                </a:lnTo>
                <a:lnTo>
                  <a:pt x="204" y="0"/>
                </a:lnTo>
                <a:lnTo>
                  <a:pt x="204" y="0"/>
                </a:lnTo>
                <a:lnTo>
                  <a:pt x="204" y="0"/>
                </a:lnTo>
                <a:lnTo>
                  <a:pt x="206" y="0"/>
                </a:lnTo>
                <a:lnTo>
                  <a:pt x="206" y="0"/>
                </a:lnTo>
                <a:lnTo>
                  <a:pt x="210" y="4"/>
                </a:lnTo>
                <a:lnTo>
                  <a:pt x="210" y="4"/>
                </a:lnTo>
                <a:lnTo>
                  <a:pt x="212" y="6"/>
                </a:lnTo>
                <a:lnTo>
                  <a:pt x="212" y="6"/>
                </a:lnTo>
                <a:lnTo>
                  <a:pt x="210" y="4"/>
                </a:lnTo>
                <a:lnTo>
                  <a:pt x="210" y="4"/>
                </a:lnTo>
                <a:close/>
                <a:moveTo>
                  <a:pt x="212" y="8"/>
                </a:moveTo>
                <a:lnTo>
                  <a:pt x="212" y="8"/>
                </a:lnTo>
                <a:lnTo>
                  <a:pt x="212" y="6"/>
                </a:lnTo>
                <a:lnTo>
                  <a:pt x="212" y="6"/>
                </a:lnTo>
                <a:lnTo>
                  <a:pt x="212" y="6"/>
                </a:lnTo>
                <a:lnTo>
                  <a:pt x="212" y="6"/>
                </a:lnTo>
                <a:lnTo>
                  <a:pt x="212" y="6"/>
                </a:lnTo>
                <a:lnTo>
                  <a:pt x="212" y="6"/>
                </a:lnTo>
                <a:lnTo>
                  <a:pt x="212" y="8"/>
                </a:lnTo>
                <a:lnTo>
                  <a:pt x="212" y="8"/>
                </a:lnTo>
                <a:lnTo>
                  <a:pt x="212" y="8"/>
                </a:lnTo>
                <a:lnTo>
                  <a:pt x="212" y="8"/>
                </a:lnTo>
                <a:close/>
                <a:moveTo>
                  <a:pt x="226" y="14"/>
                </a:moveTo>
                <a:lnTo>
                  <a:pt x="226" y="14"/>
                </a:lnTo>
                <a:lnTo>
                  <a:pt x="226" y="14"/>
                </a:lnTo>
                <a:lnTo>
                  <a:pt x="224" y="14"/>
                </a:lnTo>
                <a:lnTo>
                  <a:pt x="224" y="14"/>
                </a:lnTo>
                <a:lnTo>
                  <a:pt x="222" y="12"/>
                </a:lnTo>
                <a:lnTo>
                  <a:pt x="222" y="12"/>
                </a:lnTo>
                <a:lnTo>
                  <a:pt x="222" y="10"/>
                </a:lnTo>
                <a:lnTo>
                  <a:pt x="222" y="10"/>
                </a:lnTo>
                <a:lnTo>
                  <a:pt x="224" y="12"/>
                </a:lnTo>
                <a:lnTo>
                  <a:pt x="224" y="12"/>
                </a:lnTo>
                <a:lnTo>
                  <a:pt x="226" y="14"/>
                </a:lnTo>
                <a:lnTo>
                  <a:pt x="226" y="14"/>
                </a:lnTo>
                <a:lnTo>
                  <a:pt x="226" y="14"/>
                </a:lnTo>
                <a:lnTo>
                  <a:pt x="226" y="14"/>
                </a:lnTo>
                <a:close/>
                <a:moveTo>
                  <a:pt x="224" y="12"/>
                </a:moveTo>
                <a:lnTo>
                  <a:pt x="224" y="12"/>
                </a:lnTo>
                <a:lnTo>
                  <a:pt x="224" y="10"/>
                </a:lnTo>
                <a:lnTo>
                  <a:pt x="224" y="10"/>
                </a:lnTo>
                <a:lnTo>
                  <a:pt x="222" y="10"/>
                </a:lnTo>
                <a:lnTo>
                  <a:pt x="222" y="10"/>
                </a:lnTo>
                <a:lnTo>
                  <a:pt x="224" y="10"/>
                </a:lnTo>
                <a:lnTo>
                  <a:pt x="224" y="10"/>
                </a:lnTo>
                <a:lnTo>
                  <a:pt x="226" y="12"/>
                </a:lnTo>
                <a:lnTo>
                  <a:pt x="226" y="12"/>
                </a:lnTo>
                <a:lnTo>
                  <a:pt x="226" y="12"/>
                </a:lnTo>
                <a:lnTo>
                  <a:pt x="224" y="12"/>
                </a:lnTo>
                <a:lnTo>
                  <a:pt x="224" y="12"/>
                </a:lnTo>
                <a:close/>
                <a:moveTo>
                  <a:pt x="218" y="4"/>
                </a:moveTo>
                <a:lnTo>
                  <a:pt x="218" y="4"/>
                </a:lnTo>
                <a:lnTo>
                  <a:pt x="220" y="4"/>
                </a:lnTo>
                <a:lnTo>
                  <a:pt x="220" y="4"/>
                </a:lnTo>
                <a:lnTo>
                  <a:pt x="220" y="6"/>
                </a:lnTo>
                <a:lnTo>
                  <a:pt x="220" y="6"/>
                </a:lnTo>
                <a:lnTo>
                  <a:pt x="218" y="6"/>
                </a:lnTo>
                <a:lnTo>
                  <a:pt x="218" y="6"/>
                </a:lnTo>
                <a:lnTo>
                  <a:pt x="216" y="8"/>
                </a:lnTo>
                <a:lnTo>
                  <a:pt x="216" y="8"/>
                </a:lnTo>
                <a:lnTo>
                  <a:pt x="218" y="4"/>
                </a:lnTo>
                <a:lnTo>
                  <a:pt x="218" y="4"/>
                </a:lnTo>
                <a:close/>
                <a:moveTo>
                  <a:pt x="216" y="10"/>
                </a:moveTo>
                <a:lnTo>
                  <a:pt x="216" y="10"/>
                </a:lnTo>
                <a:lnTo>
                  <a:pt x="216" y="8"/>
                </a:lnTo>
                <a:lnTo>
                  <a:pt x="216" y="8"/>
                </a:lnTo>
                <a:lnTo>
                  <a:pt x="216" y="8"/>
                </a:lnTo>
                <a:lnTo>
                  <a:pt x="216" y="8"/>
                </a:lnTo>
                <a:lnTo>
                  <a:pt x="218" y="8"/>
                </a:lnTo>
                <a:lnTo>
                  <a:pt x="218" y="8"/>
                </a:lnTo>
                <a:lnTo>
                  <a:pt x="218" y="8"/>
                </a:lnTo>
                <a:lnTo>
                  <a:pt x="218" y="8"/>
                </a:lnTo>
                <a:lnTo>
                  <a:pt x="218" y="8"/>
                </a:lnTo>
                <a:lnTo>
                  <a:pt x="216" y="10"/>
                </a:lnTo>
                <a:lnTo>
                  <a:pt x="216" y="10"/>
                </a:lnTo>
                <a:close/>
                <a:moveTo>
                  <a:pt x="218" y="8"/>
                </a:moveTo>
                <a:lnTo>
                  <a:pt x="218" y="8"/>
                </a:lnTo>
                <a:lnTo>
                  <a:pt x="220" y="8"/>
                </a:lnTo>
                <a:lnTo>
                  <a:pt x="220" y="8"/>
                </a:lnTo>
                <a:lnTo>
                  <a:pt x="220" y="8"/>
                </a:lnTo>
                <a:lnTo>
                  <a:pt x="220" y="8"/>
                </a:lnTo>
                <a:lnTo>
                  <a:pt x="222" y="8"/>
                </a:lnTo>
                <a:lnTo>
                  <a:pt x="222" y="8"/>
                </a:lnTo>
                <a:lnTo>
                  <a:pt x="224" y="10"/>
                </a:lnTo>
                <a:lnTo>
                  <a:pt x="224" y="10"/>
                </a:lnTo>
                <a:lnTo>
                  <a:pt x="226" y="12"/>
                </a:lnTo>
                <a:lnTo>
                  <a:pt x="226" y="12"/>
                </a:lnTo>
                <a:lnTo>
                  <a:pt x="224" y="10"/>
                </a:lnTo>
                <a:lnTo>
                  <a:pt x="224" y="10"/>
                </a:lnTo>
                <a:lnTo>
                  <a:pt x="222" y="10"/>
                </a:lnTo>
                <a:lnTo>
                  <a:pt x="222" y="10"/>
                </a:lnTo>
                <a:lnTo>
                  <a:pt x="220" y="10"/>
                </a:lnTo>
                <a:lnTo>
                  <a:pt x="220" y="10"/>
                </a:lnTo>
                <a:lnTo>
                  <a:pt x="218" y="10"/>
                </a:lnTo>
                <a:lnTo>
                  <a:pt x="218" y="10"/>
                </a:lnTo>
                <a:lnTo>
                  <a:pt x="218" y="8"/>
                </a:lnTo>
                <a:lnTo>
                  <a:pt x="218" y="8"/>
                </a:lnTo>
                <a:close/>
                <a:moveTo>
                  <a:pt x="218" y="12"/>
                </a:moveTo>
                <a:lnTo>
                  <a:pt x="218" y="12"/>
                </a:lnTo>
                <a:lnTo>
                  <a:pt x="218" y="12"/>
                </a:lnTo>
                <a:lnTo>
                  <a:pt x="218" y="12"/>
                </a:lnTo>
                <a:lnTo>
                  <a:pt x="220" y="12"/>
                </a:lnTo>
                <a:lnTo>
                  <a:pt x="220" y="12"/>
                </a:lnTo>
                <a:lnTo>
                  <a:pt x="224" y="14"/>
                </a:lnTo>
                <a:lnTo>
                  <a:pt x="224" y="14"/>
                </a:lnTo>
                <a:lnTo>
                  <a:pt x="224" y="14"/>
                </a:lnTo>
                <a:lnTo>
                  <a:pt x="224" y="14"/>
                </a:lnTo>
                <a:lnTo>
                  <a:pt x="222" y="14"/>
                </a:lnTo>
                <a:lnTo>
                  <a:pt x="222" y="14"/>
                </a:lnTo>
                <a:lnTo>
                  <a:pt x="218" y="12"/>
                </a:lnTo>
                <a:lnTo>
                  <a:pt x="218" y="12"/>
                </a:lnTo>
                <a:close/>
                <a:moveTo>
                  <a:pt x="224" y="18"/>
                </a:moveTo>
                <a:lnTo>
                  <a:pt x="224" y="18"/>
                </a:lnTo>
                <a:lnTo>
                  <a:pt x="226" y="18"/>
                </a:lnTo>
                <a:lnTo>
                  <a:pt x="226" y="18"/>
                </a:lnTo>
                <a:lnTo>
                  <a:pt x="226" y="20"/>
                </a:lnTo>
                <a:lnTo>
                  <a:pt x="226" y="20"/>
                </a:lnTo>
                <a:lnTo>
                  <a:pt x="224" y="20"/>
                </a:lnTo>
                <a:lnTo>
                  <a:pt x="224" y="20"/>
                </a:lnTo>
                <a:lnTo>
                  <a:pt x="224" y="18"/>
                </a:lnTo>
                <a:lnTo>
                  <a:pt x="224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Freeform 5"/>
          <p:cNvSpPr>
            <a:spLocks noEditPoints="1"/>
          </p:cNvSpPr>
          <p:nvPr/>
        </p:nvSpPr>
        <p:spPr bwMode="auto">
          <a:xfrm>
            <a:off x="4686300" y="3671114"/>
            <a:ext cx="990600" cy="1422400"/>
          </a:xfrm>
          <a:custGeom>
            <a:avLst/>
            <a:gdLst/>
            <a:ahLst/>
            <a:cxnLst>
              <a:cxn ang="0">
                <a:pos x="440" y="14"/>
              </a:cxn>
              <a:cxn ang="0">
                <a:pos x="418" y="20"/>
              </a:cxn>
              <a:cxn ang="0">
                <a:pos x="402" y="36"/>
              </a:cxn>
              <a:cxn ang="0">
                <a:pos x="374" y="92"/>
              </a:cxn>
              <a:cxn ang="0">
                <a:pos x="344" y="94"/>
              </a:cxn>
              <a:cxn ang="0">
                <a:pos x="326" y="88"/>
              </a:cxn>
              <a:cxn ang="0">
                <a:pos x="276" y="86"/>
              </a:cxn>
              <a:cxn ang="0">
                <a:pos x="264" y="74"/>
              </a:cxn>
              <a:cxn ang="0">
                <a:pos x="256" y="52"/>
              </a:cxn>
              <a:cxn ang="0">
                <a:pos x="238" y="32"/>
              </a:cxn>
              <a:cxn ang="0">
                <a:pos x="232" y="24"/>
              </a:cxn>
              <a:cxn ang="0">
                <a:pos x="228" y="22"/>
              </a:cxn>
              <a:cxn ang="0">
                <a:pos x="226" y="16"/>
              </a:cxn>
              <a:cxn ang="0">
                <a:pos x="226" y="14"/>
              </a:cxn>
              <a:cxn ang="0">
                <a:pos x="196" y="26"/>
              </a:cxn>
              <a:cxn ang="0">
                <a:pos x="180" y="44"/>
              </a:cxn>
              <a:cxn ang="0">
                <a:pos x="182" y="72"/>
              </a:cxn>
              <a:cxn ang="0">
                <a:pos x="202" y="94"/>
              </a:cxn>
              <a:cxn ang="0">
                <a:pos x="202" y="114"/>
              </a:cxn>
              <a:cxn ang="0">
                <a:pos x="162" y="152"/>
              </a:cxn>
              <a:cxn ang="0">
                <a:pos x="150" y="176"/>
              </a:cxn>
              <a:cxn ang="0">
                <a:pos x="126" y="192"/>
              </a:cxn>
              <a:cxn ang="0">
                <a:pos x="68" y="172"/>
              </a:cxn>
              <a:cxn ang="0">
                <a:pos x="40" y="160"/>
              </a:cxn>
              <a:cxn ang="0">
                <a:pos x="24" y="172"/>
              </a:cxn>
              <a:cxn ang="0">
                <a:pos x="10" y="178"/>
              </a:cxn>
              <a:cxn ang="0">
                <a:pos x="64" y="186"/>
              </a:cxn>
              <a:cxn ang="0">
                <a:pos x="114" y="228"/>
              </a:cxn>
              <a:cxn ang="0">
                <a:pos x="168" y="218"/>
              </a:cxn>
              <a:cxn ang="0">
                <a:pos x="208" y="222"/>
              </a:cxn>
              <a:cxn ang="0">
                <a:pos x="218" y="262"/>
              </a:cxn>
              <a:cxn ang="0">
                <a:pos x="226" y="320"/>
              </a:cxn>
              <a:cxn ang="0">
                <a:pos x="218" y="394"/>
              </a:cxn>
              <a:cxn ang="0">
                <a:pos x="210" y="474"/>
              </a:cxn>
              <a:cxn ang="0">
                <a:pos x="196" y="548"/>
              </a:cxn>
              <a:cxn ang="0">
                <a:pos x="182" y="570"/>
              </a:cxn>
              <a:cxn ang="0">
                <a:pos x="172" y="586"/>
              </a:cxn>
              <a:cxn ang="0">
                <a:pos x="202" y="600"/>
              </a:cxn>
              <a:cxn ang="0">
                <a:pos x="222" y="582"/>
              </a:cxn>
              <a:cxn ang="0">
                <a:pos x="262" y="448"/>
              </a:cxn>
              <a:cxn ang="0">
                <a:pos x="300" y="352"/>
              </a:cxn>
              <a:cxn ang="0">
                <a:pos x="332" y="468"/>
              </a:cxn>
              <a:cxn ang="0">
                <a:pos x="328" y="544"/>
              </a:cxn>
              <a:cxn ang="0">
                <a:pos x="324" y="578"/>
              </a:cxn>
              <a:cxn ang="0">
                <a:pos x="346" y="604"/>
              </a:cxn>
              <a:cxn ang="0">
                <a:pos x="374" y="590"/>
              </a:cxn>
              <a:cxn ang="0">
                <a:pos x="362" y="574"/>
              </a:cxn>
              <a:cxn ang="0">
                <a:pos x="358" y="550"/>
              </a:cxn>
              <a:cxn ang="0">
                <a:pos x="380" y="428"/>
              </a:cxn>
              <a:cxn ang="0">
                <a:pos x="356" y="306"/>
              </a:cxn>
              <a:cxn ang="0">
                <a:pos x="350" y="230"/>
              </a:cxn>
              <a:cxn ang="0">
                <a:pos x="338" y="144"/>
              </a:cxn>
              <a:cxn ang="0">
                <a:pos x="408" y="114"/>
              </a:cxn>
              <a:cxn ang="0">
                <a:pos x="426" y="70"/>
              </a:cxn>
              <a:cxn ang="0">
                <a:pos x="444" y="22"/>
              </a:cxn>
              <a:cxn ang="0">
                <a:pos x="184" y="40"/>
              </a:cxn>
              <a:cxn ang="0">
                <a:pos x="190" y="30"/>
              </a:cxn>
              <a:cxn ang="0">
                <a:pos x="192" y="28"/>
              </a:cxn>
              <a:cxn ang="0">
                <a:pos x="188" y="568"/>
              </a:cxn>
              <a:cxn ang="0">
                <a:pos x="230" y="20"/>
              </a:cxn>
              <a:cxn ang="0">
                <a:pos x="364" y="576"/>
              </a:cxn>
            </a:cxnLst>
            <a:rect l="0" t="0" r="r" b="b"/>
            <a:pathLst>
              <a:path w="462" h="608">
                <a:moveTo>
                  <a:pt x="462" y="0"/>
                </a:moveTo>
                <a:lnTo>
                  <a:pt x="462" y="0"/>
                </a:lnTo>
                <a:lnTo>
                  <a:pt x="460" y="0"/>
                </a:lnTo>
                <a:lnTo>
                  <a:pt x="458" y="2"/>
                </a:lnTo>
                <a:lnTo>
                  <a:pt x="458" y="2"/>
                </a:lnTo>
                <a:lnTo>
                  <a:pt x="456" y="4"/>
                </a:lnTo>
                <a:lnTo>
                  <a:pt x="456" y="4"/>
                </a:lnTo>
                <a:lnTo>
                  <a:pt x="454" y="4"/>
                </a:lnTo>
                <a:lnTo>
                  <a:pt x="454" y="4"/>
                </a:lnTo>
                <a:lnTo>
                  <a:pt x="452" y="4"/>
                </a:lnTo>
                <a:lnTo>
                  <a:pt x="450" y="6"/>
                </a:lnTo>
                <a:lnTo>
                  <a:pt x="450" y="6"/>
                </a:lnTo>
                <a:lnTo>
                  <a:pt x="446" y="10"/>
                </a:lnTo>
                <a:lnTo>
                  <a:pt x="446" y="10"/>
                </a:lnTo>
                <a:lnTo>
                  <a:pt x="444" y="12"/>
                </a:lnTo>
                <a:lnTo>
                  <a:pt x="444" y="12"/>
                </a:lnTo>
                <a:lnTo>
                  <a:pt x="440" y="14"/>
                </a:lnTo>
                <a:lnTo>
                  <a:pt x="440" y="14"/>
                </a:lnTo>
                <a:lnTo>
                  <a:pt x="436" y="16"/>
                </a:lnTo>
                <a:lnTo>
                  <a:pt x="436" y="16"/>
                </a:lnTo>
                <a:lnTo>
                  <a:pt x="432" y="16"/>
                </a:lnTo>
                <a:lnTo>
                  <a:pt x="432" y="16"/>
                </a:lnTo>
                <a:lnTo>
                  <a:pt x="430" y="18"/>
                </a:lnTo>
                <a:lnTo>
                  <a:pt x="430" y="18"/>
                </a:lnTo>
                <a:lnTo>
                  <a:pt x="428" y="18"/>
                </a:lnTo>
                <a:lnTo>
                  <a:pt x="428" y="18"/>
                </a:lnTo>
                <a:lnTo>
                  <a:pt x="424" y="20"/>
                </a:lnTo>
                <a:lnTo>
                  <a:pt x="424" y="20"/>
                </a:lnTo>
                <a:lnTo>
                  <a:pt x="426" y="14"/>
                </a:lnTo>
                <a:lnTo>
                  <a:pt x="426" y="14"/>
                </a:lnTo>
                <a:lnTo>
                  <a:pt x="424" y="12"/>
                </a:lnTo>
                <a:lnTo>
                  <a:pt x="420" y="14"/>
                </a:lnTo>
                <a:lnTo>
                  <a:pt x="420" y="14"/>
                </a:lnTo>
                <a:lnTo>
                  <a:pt x="418" y="20"/>
                </a:lnTo>
                <a:lnTo>
                  <a:pt x="418" y="20"/>
                </a:lnTo>
                <a:lnTo>
                  <a:pt x="416" y="22"/>
                </a:lnTo>
                <a:lnTo>
                  <a:pt x="416" y="22"/>
                </a:lnTo>
                <a:lnTo>
                  <a:pt x="416" y="22"/>
                </a:lnTo>
                <a:lnTo>
                  <a:pt x="416" y="22"/>
                </a:lnTo>
                <a:lnTo>
                  <a:pt x="410" y="24"/>
                </a:lnTo>
                <a:lnTo>
                  <a:pt x="410" y="24"/>
                </a:lnTo>
                <a:lnTo>
                  <a:pt x="408" y="28"/>
                </a:lnTo>
                <a:lnTo>
                  <a:pt x="408" y="28"/>
                </a:lnTo>
                <a:lnTo>
                  <a:pt x="406" y="32"/>
                </a:lnTo>
                <a:lnTo>
                  <a:pt x="406" y="32"/>
                </a:lnTo>
                <a:lnTo>
                  <a:pt x="406" y="34"/>
                </a:lnTo>
                <a:lnTo>
                  <a:pt x="406" y="34"/>
                </a:lnTo>
                <a:lnTo>
                  <a:pt x="406" y="36"/>
                </a:lnTo>
                <a:lnTo>
                  <a:pt x="406" y="36"/>
                </a:lnTo>
                <a:lnTo>
                  <a:pt x="402" y="36"/>
                </a:lnTo>
                <a:lnTo>
                  <a:pt x="402" y="36"/>
                </a:lnTo>
                <a:lnTo>
                  <a:pt x="400" y="36"/>
                </a:lnTo>
                <a:lnTo>
                  <a:pt x="400" y="36"/>
                </a:lnTo>
                <a:lnTo>
                  <a:pt x="398" y="44"/>
                </a:lnTo>
                <a:lnTo>
                  <a:pt x="398" y="44"/>
                </a:lnTo>
                <a:lnTo>
                  <a:pt x="394" y="50"/>
                </a:lnTo>
                <a:lnTo>
                  <a:pt x="394" y="50"/>
                </a:lnTo>
                <a:lnTo>
                  <a:pt x="392" y="56"/>
                </a:lnTo>
                <a:lnTo>
                  <a:pt x="392" y="56"/>
                </a:lnTo>
                <a:lnTo>
                  <a:pt x="386" y="68"/>
                </a:lnTo>
                <a:lnTo>
                  <a:pt x="386" y="68"/>
                </a:lnTo>
                <a:lnTo>
                  <a:pt x="382" y="78"/>
                </a:lnTo>
                <a:lnTo>
                  <a:pt x="382" y="78"/>
                </a:lnTo>
                <a:lnTo>
                  <a:pt x="382" y="86"/>
                </a:lnTo>
                <a:lnTo>
                  <a:pt x="382" y="86"/>
                </a:lnTo>
                <a:lnTo>
                  <a:pt x="378" y="88"/>
                </a:lnTo>
                <a:lnTo>
                  <a:pt x="378" y="88"/>
                </a:lnTo>
                <a:lnTo>
                  <a:pt x="374" y="92"/>
                </a:lnTo>
                <a:lnTo>
                  <a:pt x="374" y="92"/>
                </a:lnTo>
                <a:lnTo>
                  <a:pt x="372" y="94"/>
                </a:lnTo>
                <a:lnTo>
                  <a:pt x="372" y="94"/>
                </a:lnTo>
                <a:lnTo>
                  <a:pt x="370" y="96"/>
                </a:lnTo>
                <a:lnTo>
                  <a:pt x="370" y="96"/>
                </a:lnTo>
                <a:lnTo>
                  <a:pt x="366" y="96"/>
                </a:lnTo>
                <a:lnTo>
                  <a:pt x="366" y="96"/>
                </a:lnTo>
                <a:lnTo>
                  <a:pt x="362" y="96"/>
                </a:lnTo>
                <a:lnTo>
                  <a:pt x="362" y="96"/>
                </a:lnTo>
                <a:lnTo>
                  <a:pt x="354" y="94"/>
                </a:lnTo>
                <a:lnTo>
                  <a:pt x="354" y="94"/>
                </a:lnTo>
                <a:lnTo>
                  <a:pt x="350" y="96"/>
                </a:lnTo>
                <a:lnTo>
                  <a:pt x="350" y="96"/>
                </a:lnTo>
                <a:lnTo>
                  <a:pt x="346" y="96"/>
                </a:lnTo>
                <a:lnTo>
                  <a:pt x="346" y="96"/>
                </a:lnTo>
                <a:lnTo>
                  <a:pt x="344" y="94"/>
                </a:lnTo>
                <a:lnTo>
                  <a:pt x="344" y="94"/>
                </a:lnTo>
                <a:lnTo>
                  <a:pt x="342" y="94"/>
                </a:lnTo>
                <a:lnTo>
                  <a:pt x="342" y="94"/>
                </a:lnTo>
                <a:lnTo>
                  <a:pt x="340" y="94"/>
                </a:lnTo>
                <a:lnTo>
                  <a:pt x="340" y="94"/>
                </a:lnTo>
                <a:lnTo>
                  <a:pt x="336" y="92"/>
                </a:lnTo>
                <a:lnTo>
                  <a:pt x="336" y="92"/>
                </a:lnTo>
                <a:lnTo>
                  <a:pt x="332" y="92"/>
                </a:lnTo>
                <a:lnTo>
                  <a:pt x="332" y="94"/>
                </a:lnTo>
                <a:lnTo>
                  <a:pt x="332" y="94"/>
                </a:lnTo>
                <a:lnTo>
                  <a:pt x="330" y="94"/>
                </a:lnTo>
                <a:lnTo>
                  <a:pt x="330" y="94"/>
                </a:lnTo>
                <a:lnTo>
                  <a:pt x="330" y="94"/>
                </a:lnTo>
                <a:lnTo>
                  <a:pt x="330" y="90"/>
                </a:lnTo>
                <a:lnTo>
                  <a:pt x="330" y="90"/>
                </a:lnTo>
                <a:lnTo>
                  <a:pt x="328" y="88"/>
                </a:lnTo>
                <a:lnTo>
                  <a:pt x="326" y="88"/>
                </a:lnTo>
                <a:lnTo>
                  <a:pt x="326" y="88"/>
                </a:lnTo>
                <a:lnTo>
                  <a:pt x="324" y="90"/>
                </a:lnTo>
                <a:lnTo>
                  <a:pt x="324" y="90"/>
                </a:lnTo>
                <a:lnTo>
                  <a:pt x="322" y="86"/>
                </a:lnTo>
                <a:lnTo>
                  <a:pt x="322" y="86"/>
                </a:lnTo>
                <a:lnTo>
                  <a:pt x="318" y="82"/>
                </a:lnTo>
                <a:lnTo>
                  <a:pt x="318" y="82"/>
                </a:lnTo>
                <a:lnTo>
                  <a:pt x="316" y="80"/>
                </a:lnTo>
                <a:lnTo>
                  <a:pt x="312" y="80"/>
                </a:lnTo>
                <a:lnTo>
                  <a:pt x="312" y="80"/>
                </a:lnTo>
                <a:lnTo>
                  <a:pt x="306" y="82"/>
                </a:lnTo>
                <a:lnTo>
                  <a:pt x="306" y="82"/>
                </a:lnTo>
                <a:lnTo>
                  <a:pt x="292" y="84"/>
                </a:lnTo>
                <a:lnTo>
                  <a:pt x="292" y="84"/>
                </a:lnTo>
                <a:lnTo>
                  <a:pt x="284" y="84"/>
                </a:lnTo>
                <a:lnTo>
                  <a:pt x="284" y="84"/>
                </a:lnTo>
                <a:lnTo>
                  <a:pt x="276" y="86"/>
                </a:lnTo>
                <a:lnTo>
                  <a:pt x="276" y="86"/>
                </a:lnTo>
                <a:lnTo>
                  <a:pt x="274" y="88"/>
                </a:lnTo>
                <a:lnTo>
                  <a:pt x="270" y="88"/>
                </a:lnTo>
                <a:lnTo>
                  <a:pt x="270" y="88"/>
                </a:lnTo>
                <a:lnTo>
                  <a:pt x="264" y="88"/>
                </a:lnTo>
                <a:lnTo>
                  <a:pt x="264" y="88"/>
                </a:lnTo>
                <a:lnTo>
                  <a:pt x="260" y="88"/>
                </a:lnTo>
                <a:lnTo>
                  <a:pt x="260" y="88"/>
                </a:lnTo>
                <a:lnTo>
                  <a:pt x="256" y="88"/>
                </a:lnTo>
                <a:lnTo>
                  <a:pt x="256" y="88"/>
                </a:lnTo>
                <a:lnTo>
                  <a:pt x="252" y="88"/>
                </a:lnTo>
                <a:lnTo>
                  <a:pt x="252" y="88"/>
                </a:lnTo>
                <a:lnTo>
                  <a:pt x="252" y="86"/>
                </a:lnTo>
                <a:lnTo>
                  <a:pt x="252" y="86"/>
                </a:lnTo>
                <a:lnTo>
                  <a:pt x="252" y="86"/>
                </a:lnTo>
                <a:lnTo>
                  <a:pt x="254" y="82"/>
                </a:lnTo>
                <a:lnTo>
                  <a:pt x="254" y="82"/>
                </a:lnTo>
                <a:lnTo>
                  <a:pt x="264" y="74"/>
                </a:lnTo>
                <a:lnTo>
                  <a:pt x="264" y="74"/>
                </a:lnTo>
                <a:lnTo>
                  <a:pt x="266" y="72"/>
                </a:lnTo>
                <a:lnTo>
                  <a:pt x="264" y="68"/>
                </a:lnTo>
                <a:lnTo>
                  <a:pt x="264" y="68"/>
                </a:lnTo>
                <a:lnTo>
                  <a:pt x="262" y="66"/>
                </a:lnTo>
                <a:lnTo>
                  <a:pt x="260" y="64"/>
                </a:lnTo>
                <a:lnTo>
                  <a:pt x="260" y="64"/>
                </a:lnTo>
                <a:lnTo>
                  <a:pt x="260" y="60"/>
                </a:lnTo>
                <a:lnTo>
                  <a:pt x="260" y="60"/>
                </a:lnTo>
                <a:lnTo>
                  <a:pt x="256" y="60"/>
                </a:lnTo>
                <a:lnTo>
                  <a:pt x="256" y="60"/>
                </a:lnTo>
                <a:lnTo>
                  <a:pt x="256" y="58"/>
                </a:lnTo>
                <a:lnTo>
                  <a:pt x="256" y="58"/>
                </a:lnTo>
                <a:lnTo>
                  <a:pt x="256" y="58"/>
                </a:lnTo>
                <a:lnTo>
                  <a:pt x="256" y="56"/>
                </a:lnTo>
                <a:lnTo>
                  <a:pt x="256" y="52"/>
                </a:lnTo>
                <a:lnTo>
                  <a:pt x="256" y="52"/>
                </a:lnTo>
                <a:lnTo>
                  <a:pt x="254" y="50"/>
                </a:lnTo>
                <a:lnTo>
                  <a:pt x="254" y="50"/>
                </a:lnTo>
                <a:lnTo>
                  <a:pt x="254" y="46"/>
                </a:lnTo>
                <a:lnTo>
                  <a:pt x="254" y="46"/>
                </a:lnTo>
                <a:lnTo>
                  <a:pt x="256" y="44"/>
                </a:lnTo>
                <a:lnTo>
                  <a:pt x="254" y="40"/>
                </a:lnTo>
                <a:lnTo>
                  <a:pt x="254" y="40"/>
                </a:lnTo>
                <a:lnTo>
                  <a:pt x="252" y="40"/>
                </a:lnTo>
                <a:lnTo>
                  <a:pt x="248" y="38"/>
                </a:lnTo>
                <a:lnTo>
                  <a:pt x="248" y="38"/>
                </a:lnTo>
                <a:lnTo>
                  <a:pt x="244" y="38"/>
                </a:lnTo>
                <a:lnTo>
                  <a:pt x="240" y="38"/>
                </a:lnTo>
                <a:lnTo>
                  <a:pt x="240" y="38"/>
                </a:lnTo>
                <a:lnTo>
                  <a:pt x="240" y="34"/>
                </a:lnTo>
                <a:lnTo>
                  <a:pt x="240" y="34"/>
                </a:lnTo>
                <a:lnTo>
                  <a:pt x="240" y="32"/>
                </a:lnTo>
                <a:lnTo>
                  <a:pt x="238" y="32"/>
                </a:lnTo>
                <a:lnTo>
                  <a:pt x="238" y="32"/>
                </a:lnTo>
                <a:lnTo>
                  <a:pt x="236" y="32"/>
                </a:lnTo>
                <a:lnTo>
                  <a:pt x="236" y="32"/>
                </a:lnTo>
                <a:lnTo>
                  <a:pt x="234" y="28"/>
                </a:lnTo>
                <a:lnTo>
                  <a:pt x="234" y="28"/>
                </a:lnTo>
                <a:lnTo>
                  <a:pt x="230" y="26"/>
                </a:lnTo>
                <a:lnTo>
                  <a:pt x="230" y="26"/>
                </a:lnTo>
                <a:lnTo>
                  <a:pt x="232" y="26"/>
                </a:lnTo>
                <a:lnTo>
                  <a:pt x="232" y="26"/>
                </a:lnTo>
                <a:lnTo>
                  <a:pt x="234" y="28"/>
                </a:lnTo>
                <a:lnTo>
                  <a:pt x="234" y="28"/>
                </a:lnTo>
                <a:lnTo>
                  <a:pt x="234" y="26"/>
                </a:lnTo>
                <a:lnTo>
                  <a:pt x="234" y="26"/>
                </a:lnTo>
                <a:lnTo>
                  <a:pt x="232" y="24"/>
                </a:lnTo>
                <a:lnTo>
                  <a:pt x="232" y="24"/>
                </a:lnTo>
                <a:lnTo>
                  <a:pt x="232" y="24"/>
                </a:lnTo>
                <a:lnTo>
                  <a:pt x="232" y="24"/>
                </a:lnTo>
                <a:lnTo>
                  <a:pt x="232" y="24"/>
                </a:lnTo>
                <a:lnTo>
                  <a:pt x="232" y="24"/>
                </a:lnTo>
                <a:lnTo>
                  <a:pt x="234" y="24"/>
                </a:lnTo>
                <a:lnTo>
                  <a:pt x="234" y="24"/>
                </a:lnTo>
                <a:lnTo>
                  <a:pt x="232" y="24"/>
                </a:lnTo>
                <a:lnTo>
                  <a:pt x="232" y="24"/>
                </a:lnTo>
                <a:lnTo>
                  <a:pt x="230" y="22"/>
                </a:lnTo>
                <a:lnTo>
                  <a:pt x="230" y="22"/>
                </a:lnTo>
                <a:lnTo>
                  <a:pt x="228" y="22"/>
                </a:lnTo>
                <a:lnTo>
                  <a:pt x="228" y="22"/>
                </a:lnTo>
                <a:lnTo>
                  <a:pt x="230" y="22"/>
                </a:lnTo>
                <a:lnTo>
                  <a:pt x="230" y="22"/>
                </a:lnTo>
                <a:lnTo>
                  <a:pt x="232" y="22"/>
                </a:lnTo>
                <a:lnTo>
                  <a:pt x="232" y="22"/>
                </a:lnTo>
                <a:lnTo>
                  <a:pt x="230" y="22"/>
                </a:lnTo>
                <a:lnTo>
                  <a:pt x="228" y="22"/>
                </a:lnTo>
                <a:lnTo>
                  <a:pt x="228" y="22"/>
                </a:lnTo>
                <a:lnTo>
                  <a:pt x="228" y="22"/>
                </a:lnTo>
                <a:lnTo>
                  <a:pt x="228" y="22"/>
                </a:lnTo>
                <a:lnTo>
                  <a:pt x="230" y="22"/>
                </a:lnTo>
                <a:lnTo>
                  <a:pt x="230" y="22"/>
                </a:lnTo>
                <a:lnTo>
                  <a:pt x="232" y="20"/>
                </a:lnTo>
                <a:lnTo>
                  <a:pt x="232" y="20"/>
                </a:lnTo>
                <a:lnTo>
                  <a:pt x="232" y="20"/>
                </a:lnTo>
                <a:lnTo>
                  <a:pt x="230" y="20"/>
                </a:lnTo>
                <a:lnTo>
                  <a:pt x="230" y="20"/>
                </a:lnTo>
                <a:lnTo>
                  <a:pt x="230" y="20"/>
                </a:lnTo>
                <a:lnTo>
                  <a:pt x="230" y="20"/>
                </a:lnTo>
                <a:lnTo>
                  <a:pt x="230" y="20"/>
                </a:lnTo>
                <a:lnTo>
                  <a:pt x="230" y="18"/>
                </a:lnTo>
                <a:lnTo>
                  <a:pt x="230" y="18"/>
                </a:lnTo>
                <a:lnTo>
                  <a:pt x="228" y="18"/>
                </a:lnTo>
                <a:lnTo>
                  <a:pt x="228" y="18"/>
                </a:lnTo>
                <a:lnTo>
                  <a:pt x="226" y="16"/>
                </a:lnTo>
                <a:lnTo>
                  <a:pt x="226" y="16"/>
                </a:lnTo>
                <a:lnTo>
                  <a:pt x="230" y="18"/>
                </a:lnTo>
                <a:lnTo>
                  <a:pt x="230" y="18"/>
                </a:lnTo>
                <a:lnTo>
                  <a:pt x="232" y="18"/>
                </a:lnTo>
                <a:lnTo>
                  <a:pt x="232" y="18"/>
                </a:lnTo>
                <a:lnTo>
                  <a:pt x="228" y="16"/>
                </a:lnTo>
                <a:lnTo>
                  <a:pt x="228" y="16"/>
                </a:lnTo>
                <a:lnTo>
                  <a:pt x="226" y="16"/>
                </a:lnTo>
                <a:lnTo>
                  <a:pt x="226" y="16"/>
                </a:lnTo>
                <a:lnTo>
                  <a:pt x="228" y="16"/>
                </a:lnTo>
                <a:lnTo>
                  <a:pt x="228" y="16"/>
                </a:lnTo>
                <a:lnTo>
                  <a:pt x="230" y="16"/>
                </a:lnTo>
                <a:lnTo>
                  <a:pt x="228" y="16"/>
                </a:lnTo>
                <a:lnTo>
                  <a:pt x="228" y="16"/>
                </a:lnTo>
                <a:lnTo>
                  <a:pt x="228" y="14"/>
                </a:lnTo>
                <a:lnTo>
                  <a:pt x="228" y="14"/>
                </a:lnTo>
                <a:lnTo>
                  <a:pt x="226" y="14"/>
                </a:lnTo>
                <a:lnTo>
                  <a:pt x="226" y="14"/>
                </a:lnTo>
                <a:lnTo>
                  <a:pt x="224" y="16"/>
                </a:lnTo>
                <a:lnTo>
                  <a:pt x="224" y="16"/>
                </a:lnTo>
                <a:lnTo>
                  <a:pt x="222" y="16"/>
                </a:lnTo>
                <a:lnTo>
                  <a:pt x="222" y="16"/>
                </a:lnTo>
                <a:lnTo>
                  <a:pt x="220" y="16"/>
                </a:lnTo>
                <a:lnTo>
                  <a:pt x="220" y="16"/>
                </a:lnTo>
                <a:lnTo>
                  <a:pt x="212" y="18"/>
                </a:lnTo>
                <a:lnTo>
                  <a:pt x="212" y="18"/>
                </a:lnTo>
                <a:lnTo>
                  <a:pt x="206" y="20"/>
                </a:lnTo>
                <a:lnTo>
                  <a:pt x="206" y="20"/>
                </a:lnTo>
                <a:lnTo>
                  <a:pt x="200" y="24"/>
                </a:lnTo>
                <a:lnTo>
                  <a:pt x="200" y="24"/>
                </a:lnTo>
                <a:lnTo>
                  <a:pt x="196" y="26"/>
                </a:lnTo>
                <a:lnTo>
                  <a:pt x="196" y="26"/>
                </a:lnTo>
                <a:lnTo>
                  <a:pt x="196" y="26"/>
                </a:lnTo>
                <a:lnTo>
                  <a:pt x="196" y="26"/>
                </a:lnTo>
                <a:lnTo>
                  <a:pt x="194" y="26"/>
                </a:lnTo>
                <a:lnTo>
                  <a:pt x="194" y="26"/>
                </a:lnTo>
                <a:lnTo>
                  <a:pt x="194" y="28"/>
                </a:lnTo>
                <a:lnTo>
                  <a:pt x="194" y="28"/>
                </a:lnTo>
                <a:lnTo>
                  <a:pt x="194" y="26"/>
                </a:lnTo>
                <a:lnTo>
                  <a:pt x="194" y="26"/>
                </a:lnTo>
                <a:lnTo>
                  <a:pt x="192" y="26"/>
                </a:lnTo>
                <a:lnTo>
                  <a:pt x="192" y="26"/>
                </a:lnTo>
                <a:lnTo>
                  <a:pt x="188" y="32"/>
                </a:lnTo>
                <a:lnTo>
                  <a:pt x="188" y="32"/>
                </a:lnTo>
                <a:lnTo>
                  <a:pt x="186" y="34"/>
                </a:lnTo>
                <a:lnTo>
                  <a:pt x="186" y="34"/>
                </a:lnTo>
                <a:lnTo>
                  <a:pt x="186" y="36"/>
                </a:lnTo>
                <a:lnTo>
                  <a:pt x="186" y="36"/>
                </a:lnTo>
                <a:lnTo>
                  <a:pt x="182" y="40"/>
                </a:lnTo>
                <a:lnTo>
                  <a:pt x="182" y="40"/>
                </a:lnTo>
                <a:lnTo>
                  <a:pt x="180" y="44"/>
                </a:lnTo>
                <a:lnTo>
                  <a:pt x="180" y="44"/>
                </a:lnTo>
                <a:lnTo>
                  <a:pt x="182" y="40"/>
                </a:lnTo>
                <a:lnTo>
                  <a:pt x="182" y="40"/>
                </a:lnTo>
                <a:lnTo>
                  <a:pt x="184" y="38"/>
                </a:lnTo>
                <a:lnTo>
                  <a:pt x="184" y="38"/>
                </a:lnTo>
                <a:lnTo>
                  <a:pt x="182" y="40"/>
                </a:lnTo>
                <a:lnTo>
                  <a:pt x="182" y="40"/>
                </a:lnTo>
                <a:lnTo>
                  <a:pt x="180" y="46"/>
                </a:lnTo>
                <a:lnTo>
                  <a:pt x="180" y="46"/>
                </a:lnTo>
                <a:lnTo>
                  <a:pt x="180" y="52"/>
                </a:lnTo>
                <a:lnTo>
                  <a:pt x="180" y="52"/>
                </a:lnTo>
                <a:lnTo>
                  <a:pt x="180" y="58"/>
                </a:lnTo>
                <a:lnTo>
                  <a:pt x="180" y="58"/>
                </a:lnTo>
                <a:lnTo>
                  <a:pt x="182" y="66"/>
                </a:lnTo>
                <a:lnTo>
                  <a:pt x="182" y="66"/>
                </a:lnTo>
                <a:lnTo>
                  <a:pt x="182" y="72"/>
                </a:lnTo>
                <a:lnTo>
                  <a:pt x="182" y="72"/>
                </a:lnTo>
                <a:lnTo>
                  <a:pt x="184" y="78"/>
                </a:lnTo>
                <a:lnTo>
                  <a:pt x="184" y="78"/>
                </a:lnTo>
                <a:lnTo>
                  <a:pt x="186" y="80"/>
                </a:lnTo>
                <a:lnTo>
                  <a:pt x="186" y="80"/>
                </a:lnTo>
                <a:lnTo>
                  <a:pt x="190" y="86"/>
                </a:lnTo>
                <a:lnTo>
                  <a:pt x="190" y="86"/>
                </a:lnTo>
                <a:lnTo>
                  <a:pt x="194" y="88"/>
                </a:lnTo>
                <a:lnTo>
                  <a:pt x="194" y="88"/>
                </a:lnTo>
                <a:lnTo>
                  <a:pt x="196" y="90"/>
                </a:lnTo>
                <a:lnTo>
                  <a:pt x="196" y="90"/>
                </a:lnTo>
                <a:lnTo>
                  <a:pt x="196" y="90"/>
                </a:lnTo>
                <a:lnTo>
                  <a:pt x="196" y="92"/>
                </a:lnTo>
                <a:lnTo>
                  <a:pt x="196" y="92"/>
                </a:lnTo>
                <a:lnTo>
                  <a:pt x="198" y="92"/>
                </a:lnTo>
                <a:lnTo>
                  <a:pt x="198" y="92"/>
                </a:lnTo>
                <a:lnTo>
                  <a:pt x="202" y="94"/>
                </a:lnTo>
                <a:lnTo>
                  <a:pt x="202" y="94"/>
                </a:lnTo>
                <a:lnTo>
                  <a:pt x="206" y="94"/>
                </a:lnTo>
                <a:lnTo>
                  <a:pt x="206" y="94"/>
                </a:lnTo>
                <a:lnTo>
                  <a:pt x="208" y="98"/>
                </a:lnTo>
                <a:lnTo>
                  <a:pt x="208" y="98"/>
                </a:lnTo>
                <a:lnTo>
                  <a:pt x="212" y="98"/>
                </a:lnTo>
                <a:lnTo>
                  <a:pt x="212" y="98"/>
                </a:lnTo>
                <a:lnTo>
                  <a:pt x="212" y="98"/>
                </a:lnTo>
                <a:lnTo>
                  <a:pt x="212" y="98"/>
                </a:lnTo>
                <a:lnTo>
                  <a:pt x="212" y="100"/>
                </a:lnTo>
                <a:lnTo>
                  <a:pt x="212" y="100"/>
                </a:lnTo>
                <a:lnTo>
                  <a:pt x="212" y="102"/>
                </a:lnTo>
                <a:lnTo>
                  <a:pt x="212" y="102"/>
                </a:lnTo>
                <a:lnTo>
                  <a:pt x="210" y="104"/>
                </a:lnTo>
                <a:lnTo>
                  <a:pt x="210" y="104"/>
                </a:lnTo>
                <a:lnTo>
                  <a:pt x="206" y="112"/>
                </a:lnTo>
                <a:lnTo>
                  <a:pt x="206" y="112"/>
                </a:lnTo>
                <a:lnTo>
                  <a:pt x="202" y="114"/>
                </a:lnTo>
                <a:lnTo>
                  <a:pt x="202" y="114"/>
                </a:lnTo>
                <a:lnTo>
                  <a:pt x="198" y="118"/>
                </a:lnTo>
                <a:lnTo>
                  <a:pt x="198" y="118"/>
                </a:lnTo>
                <a:lnTo>
                  <a:pt x="188" y="122"/>
                </a:lnTo>
                <a:lnTo>
                  <a:pt x="188" y="122"/>
                </a:lnTo>
                <a:lnTo>
                  <a:pt x="178" y="128"/>
                </a:lnTo>
                <a:lnTo>
                  <a:pt x="170" y="134"/>
                </a:lnTo>
                <a:lnTo>
                  <a:pt x="170" y="134"/>
                </a:lnTo>
                <a:lnTo>
                  <a:pt x="166" y="138"/>
                </a:lnTo>
                <a:lnTo>
                  <a:pt x="166" y="138"/>
                </a:lnTo>
                <a:lnTo>
                  <a:pt x="164" y="138"/>
                </a:lnTo>
                <a:lnTo>
                  <a:pt x="162" y="138"/>
                </a:lnTo>
                <a:lnTo>
                  <a:pt x="162" y="138"/>
                </a:lnTo>
                <a:lnTo>
                  <a:pt x="162" y="146"/>
                </a:lnTo>
                <a:lnTo>
                  <a:pt x="162" y="146"/>
                </a:lnTo>
                <a:lnTo>
                  <a:pt x="162" y="152"/>
                </a:lnTo>
                <a:lnTo>
                  <a:pt x="162" y="152"/>
                </a:lnTo>
                <a:lnTo>
                  <a:pt x="160" y="154"/>
                </a:lnTo>
                <a:lnTo>
                  <a:pt x="160" y="154"/>
                </a:lnTo>
                <a:lnTo>
                  <a:pt x="162" y="158"/>
                </a:lnTo>
                <a:lnTo>
                  <a:pt x="162" y="158"/>
                </a:lnTo>
                <a:lnTo>
                  <a:pt x="162" y="160"/>
                </a:lnTo>
                <a:lnTo>
                  <a:pt x="162" y="160"/>
                </a:lnTo>
                <a:lnTo>
                  <a:pt x="160" y="162"/>
                </a:lnTo>
                <a:lnTo>
                  <a:pt x="160" y="162"/>
                </a:lnTo>
                <a:lnTo>
                  <a:pt x="158" y="164"/>
                </a:lnTo>
                <a:lnTo>
                  <a:pt x="158" y="164"/>
                </a:lnTo>
                <a:lnTo>
                  <a:pt x="158" y="166"/>
                </a:lnTo>
                <a:lnTo>
                  <a:pt x="158" y="166"/>
                </a:lnTo>
                <a:lnTo>
                  <a:pt x="154" y="168"/>
                </a:lnTo>
                <a:lnTo>
                  <a:pt x="154" y="168"/>
                </a:lnTo>
                <a:lnTo>
                  <a:pt x="152" y="172"/>
                </a:lnTo>
                <a:lnTo>
                  <a:pt x="152" y="172"/>
                </a:lnTo>
                <a:lnTo>
                  <a:pt x="150" y="176"/>
                </a:lnTo>
                <a:lnTo>
                  <a:pt x="150" y="176"/>
                </a:lnTo>
                <a:lnTo>
                  <a:pt x="146" y="178"/>
                </a:lnTo>
                <a:lnTo>
                  <a:pt x="146" y="178"/>
                </a:lnTo>
                <a:lnTo>
                  <a:pt x="142" y="182"/>
                </a:lnTo>
                <a:lnTo>
                  <a:pt x="142" y="182"/>
                </a:lnTo>
                <a:lnTo>
                  <a:pt x="142" y="184"/>
                </a:lnTo>
                <a:lnTo>
                  <a:pt x="142" y="184"/>
                </a:lnTo>
                <a:lnTo>
                  <a:pt x="138" y="186"/>
                </a:lnTo>
                <a:lnTo>
                  <a:pt x="138" y="186"/>
                </a:lnTo>
                <a:lnTo>
                  <a:pt x="134" y="190"/>
                </a:lnTo>
                <a:lnTo>
                  <a:pt x="134" y="190"/>
                </a:lnTo>
                <a:lnTo>
                  <a:pt x="132" y="190"/>
                </a:lnTo>
                <a:lnTo>
                  <a:pt x="132" y="190"/>
                </a:lnTo>
                <a:lnTo>
                  <a:pt x="128" y="192"/>
                </a:lnTo>
                <a:lnTo>
                  <a:pt x="128" y="192"/>
                </a:lnTo>
                <a:lnTo>
                  <a:pt x="126" y="192"/>
                </a:lnTo>
                <a:lnTo>
                  <a:pt x="126" y="192"/>
                </a:lnTo>
                <a:lnTo>
                  <a:pt x="120" y="190"/>
                </a:lnTo>
                <a:lnTo>
                  <a:pt x="120" y="190"/>
                </a:lnTo>
                <a:lnTo>
                  <a:pt x="112" y="188"/>
                </a:lnTo>
                <a:lnTo>
                  <a:pt x="112" y="188"/>
                </a:lnTo>
                <a:lnTo>
                  <a:pt x="110" y="186"/>
                </a:lnTo>
                <a:lnTo>
                  <a:pt x="110" y="186"/>
                </a:lnTo>
                <a:lnTo>
                  <a:pt x="102" y="184"/>
                </a:lnTo>
                <a:lnTo>
                  <a:pt x="102" y="184"/>
                </a:lnTo>
                <a:lnTo>
                  <a:pt x="96" y="182"/>
                </a:lnTo>
                <a:lnTo>
                  <a:pt x="96" y="182"/>
                </a:lnTo>
                <a:lnTo>
                  <a:pt x="84" y="176"/>
                </a:lnTo>
                <a:lnTo>
                  <a:pt x="84" y="176"/>
                </a:lnTo>
                <a:lnTo>
                  <a:pt x="74" y="174"/>
                </a:lnTo>
                <a:lnTo>
                  <a:pt x="74" y="174"/>
                </a:lnTo>
                <a:lnTo>
                  <a:pt x="70" y="172"/>
                </a:lnTo>
                <a:lnTo>
                  <a:pt x="70" y="172"/>
                </a:lnTo>
                <a:lnTo>
                  <a:pt x="68" y="172"/>
                </a:lnTo>
                <a:lnTo>
                  <a:pt x="68" y="172"/>
                </a:lnTo>
                <a:lnTo>
                  <a:pt x="64" y="170"/>
                </a:lnTo>
                <a:lnTo>
                  <a:pt x="64" y="170"/>
                </a:lnTo>
                <a:lnTo>
                  <a:pt x="62" y="168"/>
                </a:lnTo>
                <a:lnTo>
                  <a:pt x="62" y="168"/>
                </a:lnTo>
                <a:lnTo>
                  <a:pt x="60" y="164"/>
                </a:lnTo>
                <a:lnTo>
                  <a:pt x="56" y="164"/>
                </a:lnTo>
                <a:lnTo>
                  <a:pt x="56" y="164"/>
                </a:lnTo>
                <a:lnTo>
                  <a:pt x="52" y="164"/>
                </a:lnTo>
                <a:lnTo>
                  <a:pt x="52" y="164"/>
                </a:lnTo>
                <a:lnTo>
                  <a:pt x="50" y="164"/>
                </a:lnTo>
                <a:lnTo>
                  <a:pt x="50" y="164"/>
                </a:lnTo>
                <a:lnTo>
                  <a:pt x="46" y="162"/>
                </a:lnTo>
                <a:lnTo>
                  <a:pt x="46" y="162"/>
                </a:lnTo>
                <a:lnTo>
                  <a:pt x="42" y="160"/>
                </a:lnTo>
                <a:lnTo>
                  <a:pt x="40" y="160"/>
                </a:lnTo>
                <a:lnTo>
                  <a:pt x="40" y="160"/>
                </a:lnTo>
                <a:lnTo>
                  <a:pt x="40" y="160"/>
                </a:lnTo>
                <a:lnTo>
                  <a:pt x="38" y="164"/>
                </a:lnTo>
                <a:lnTo>
                  <a:pt x="40" y="166"/>
                </a:lnTo>
                <a:lnTo>
                  <a:pt x="40" y="166"/>
                </a:lnTo>
                <a:lnTo>
                  <a:pt x="42" y="166"/>
                </a:lnTo>
                <a:lnTo>
                  <a:pt x="42" y="168"/>
                </a:lnTo>
                <a:lnTo>
                  <a:pt x="42" y="168"/>
                </a:lnTo>
                <a:lnTo>
                  <a:pt x="40" y="170"/>
                </a:lnTo>
                <a:lnTo>
                  <a:pt x="40" y="170"/>
                </a:lnTo>
                <a:lnTo>
                  <a:pt x="36" y="170"/>
                </a:lnTo>
                <a:lnTo>
                  <a:pt x="36" y="170"/>
                </a:lnTo>
                <a:lnTo>
                  <a:pt x="32" y="172"/>
                </a:lnTo>
                <a:lnTo>
                  <a:pt x="32" y="172"/>
                </a:lnTo>
                <a:lnTo>
                  <a:pt x="28" y="172"/>
                </a:lnTo>
                <a:lnTo>
                  <a:pt x="28" y="172"/>
                </a:lnTo>
                <a:lnTo>
                  <a:pt x="24" y="172"/>
                </a:lnTo>
                <a:lnTo>
                  <a:pt x="24" y="172"/>
                </a:lnTo>
                <a:lnTo>
                  <a:pt x="20" y="172"/>
                </a:lnTo>
                <a:lnTo>
                  <a:pt x="20" y="172"/>
                </a:lnTo>
                <a:lnTo>
                  <a:pt x="14" y="172"/>
                </a:lnTo>
                <a:lnTo>
                  <a:pt x="14" y="172"/>
                </a:lnTo>
                <a:lnTo>
                  <a:pt x="10" y="172"/>
                </a:lnTo>
                <a:lnTo>
                  <a:pt x="10" y="172"/>
                </a:lnTo>
                <a:lnTo>
                  <a:pt x="8" y="172"/>
                </a:lnTo>
                <a:lnTo>
                  <a:pt x="8" y="172"/>
                </a:lnTo>
                <a:lnTo>
                  <a:pt x="4" y="170"/>
                </a:lnTo>
                <a:lnTo>
                  <a:pt x="4" y="170"/>
                </a:lnTo>
                <a:lnTo>
                  <a:pt x="2" y="172"/>
                </a:lnTo>
                <a:lnTo>
                  <a:pt x="2" y="172"/>
                </a:lnTo>
                <a:lnTo>
                  <a:pt x="0" y="174"/>
                </a:lnTo>
                <a:lnTo>
                  <a:pt x="0" y="174"/>
                </a:lnTo>
                <a:lnTo>
                  <a:pt x="2" y="174"/>
                </a:lnTo>
                <a:lnTo>
                  <a:pt x="2" y="174"/>
                </a:lnTo>
                <a:lnTo>
                  <a:pt x="10" y="178"/>
                </a:lnTo>
                <a:lnTo>
                  <a:pt x="10" y="178"/>
                </a:lnTo>
                <a:lnTo>
                  <a:pt x="16" y="182"/>
                </a:lnTo>
                <a:lnTo>
                  <a:pt x="16" y="182"/>
                </a:lnTo>
                <a:lnTo>
                  <a:pt x="22" y="182"/>
                </a:lnTo>
                <a:lnTo>
                  <a:pt x="22" y="182"/>
                </a:lnTo>
                <a:lnTo>
                  <a:pt x="30" y="182"/>
                </a:lnTo>
                <a:lnTo>
                  <a:pt x="30" y="182"/>
                </a:lnTo>
                <a:lnTo>
                  <a:pt x="36" y="182"/>
                </a:lnTo>
                <a:lnTo>
                  <a:pt x="36" y="182"/>
                </a:lnTo>
                <a:lnTo>
                  <a:pt x="44" y="182"/>
                </a:lnTo>
                <a:lnTo>
                  <a:pt x="44" y="182"/>
                </a:lnTo>
                <a:lnTo>
                  <a:pt x="56" y="182"/>
                </a:lnTo>
                <a:lnTo>
                  <a:pt x="56" y="182"/>
                </a:lnTo>
                <a:lnTo>
                  <a:pt x="60" y="184"/>
                </a:lnTo>
                <a:lnTo>
                  <a:pt x="60" y="184"/>
                </a:lnTo>
                <a:lnTo>
                  <a:pt x="62" y="184"/>
                </a:lnTo>
                <a:lnTo>
                  <a:pt x="64" y="186"/>
                </a:lnTo>
                <a:lnTo>
                  <a:pt x="64" y="186"/>
                </a:lnTo>
                <a:lnTo>
                  <a:pt x="58" y="200"/>
                </a:lnTo>
                <a:lnTo>
                  <a:pt x="58" y="200"/>
                </a:lnTo>
                <a:lnTo>
                  <a:pt x="56" y="206"/>
                </a:lnTo>
                <a:lnTo>
                  <a:pt x="56" y="206"/>
                </a:lnTo>
                <a:lnTo>
                  <a:pt x="74" y="214"/>
                </a:lnTo>
                <a:lnTo>
                  <a:pt x="74" y="214"/>
                </a:lnTo>
                <a:lnTo>
                  <a:pt x="82" y="218"/>
                </a:lnTo>
                <a:lnTo>
                  <a:pt x="82" y="218"/>
                </a:lnTo>
                <a:lnTo>
                  <a:pt x="88" y="220"/>
                </a:lnTo>
                <a:lnTo>
                  <a:pt x="88" y="220"/>
                </a:lnTo>
                <a:lnTo>
                  <a:pt x="98" y="222"/>
                </a:lnTo>
                <a:lnTo>
                  <a:pt x="98" y="222"/>
                </a:lnTo>
                <a:lnTo>
                  <a:pt x="108" y="226"/>
                </a:lnTo>
                <a:lnTo>
                  <a:pt x="108" y="226"/>
                </a:lnTo>
                <a:lnTo>
                  <a:pt x="114" y="228"/>
                </a:lnTo>
                <a:lnTo>
                  <a:pt x="114" y="228"/>
                </a:lnTo>
                <a:lnTo>
                  <a:pt x="124" y="232"/>
                </a:lnTo>
                <a:lnTo>
                  <a:pt x="124" y="232"/>
                </a:lnTo>
                <a:lnTo>
                  <a:pt x="130" y="232"/>
                </a:lnTo>
                <a:lnTo>
                  <a:pt x="130" y="232"/>
                </a:lnTo>
                <a:lnTo>
                  <a:pt x="132" y="232"/>
                </a:lnTo>
                <a:lnTo>
                  <a:pt x="136" y="232"/>
                </a:lnTo>
                <a:lnTo>
                  <a:pt x="136" y="232"/>
                </a:lnTo>
                <a:lnTo>
                  <a:pt x="138" y="230"/>
                </a:lnTo>
                <a:lnTo>
                  <a:pt x="138" y="230"/>
                </a:lnTo>
                <a:lnTo>
                  <a:pt x="142" y="230"/>
                </a:lnTo>
                <a:lnTo>
                  <a:pt x="146" y="230"/>
                </a:lnTo>
                <a:lnTo>
                  <a:pt x="146" y="230"/>
                </a:lnTo>
                <a:lnTo>
                  <a:pt x="150" y="224"/>
                </a:lnTo>
                <a:lnTo>
                  <a:pt x="150" y="224"/>
                </a:lnTo>
                <a:lnTo>
                  <a:pt x="160" y="222"/>
                </a:lnTo>
                <a:lnTo>
                  <a:pt x="160" y="222"/>
                </a:lnTo>
                <a:lnTo>
                  <a:pt x="168" y="218"/>
                </a:lnTo>
                <a:lnTo>
                  <a:pt x="168" y="218"/>
                </a:lnTo>
                <a:lnTo>
                  <a:pt x="172" y="216"/>
                </a:lnTo>
                <a:lnTo>
                  <a:pt x="172" y="216"/>
                </a:lnTo>
                <a:lnTo>
                  <a:pt x="180" y="210"/>
                </a:lnTo>
                <a:lnTo>
                  <a:pt x="180" y="210"/>
                </a:lnTo>
                <a:lnTo>
                  <a:pt x="190" y="202"/>
                </a:lnTo>
                <a:lnTo>
                  <a:pt x="190" y="202"/>
                </a:lnTo>
                <a:lnTo>
                  <a:pt x="190" y="200"/>
                </a:lnTo>
                <a:lnTo>
                  <a:pt x="192" y="200"/>
                </a:lnTo>
                <a:lnTo>
                  <a:pt x="192" y="200"/>
                </a:lnTo>
                <a:lnTo>
                  <a:pt x="196" y="204"/>
                </a:lnTo>
                <a:lnTo>
                  <a:pt x="196" y="204"/>
                </a:lnTo>
                <a:lnTo>
                  <a:pt x="204" y="212"/>
                </a:lnTo>
                <a:lnTo>
                  <a:pt x="204" y="212"/>
                </a:lnTo>
                <a:lnTo>
                  <a:pt x="206" y="216"/>
                </a:lnTo>
                <a:lnTo>
                  <a:pt x="206" y="216"/>
                </a:lnTo>
                <a:lnTo>
                  <a:pt x="208" y="222"/>
                </a:lnTo>
                <a:lnTo>
                  <a:pt x="208" y="222"/>
                </a:lnTo>
                <a:lnTo>
                  <a:pt x="212" y="230"/>
                </a:lnTo>
                <a:lnTo>
                  <a:pt x="212" y="230"/>
                </a:lnTo>
                <a:lnTo>
                  <a:pt x="212" y="236"/>
                </a:lnTo>
                <a:lnTo>
                  <a:pt x="212" y="236"/>
                </a:lnTo>
                <a:lnTo>
                  <a:pt x="214" y="238"/>
                </a:lnTo>
                <a:lnTo>
                  <a:pt x="214" y="240"/>
                </a:lnTo>
                <a:lnTo>
                  <a:pt x="214" y="240"/>
                </a:lnTo>
                <a:lnTo>
                  <a:pt x="218" y="244"/>
                </a:lnTo>
                <a:lnTo>
                  <a:pt x="218" y="244"/>
                </a:lnTo>
                <a:lnTo>
                  <a:pt x="216" y="248"/>
                </a:lnTo>
                <a:lnTo>
                  <a:pt x="216" y="248"/>
                </a:lnTo>
                <a:lnTo>
                  <a:pt x="216" y="258"/>
                </a:lnTo>
                <a:lnTo>
                  <a:pt x="216" y="258"/>
                </a:lnTo>
                <a:lnTo>
                  <a:pt x="218" y="260"/>
                </a:lnTo>
                <a:lnTo>
                  <a:pt x="218" y="260"/>
                </a:lnTo>
                <a:lnTo>
                  <a:pt x="218" y="262"/>
                </a:lnTo>
                <a:lnTo>
                  <a:pt x="218" y="262"/>
                </a:lnTo>
                <a:lnTo>
                  <a:pt x="220" y="268"/>
                </a:lnTo>
                <a:lnTo>
                  <a:pt x="220" y="268"/>
                </a:lnTo>
                <a:lnTo>
                  <a:pt x="222" y="274"/>
                </a:lnTo>
                <a:lnTo>
                  <a:pt x="224" y="280"/>
                </a:lnTo>
                <a:lnTo>
                  <a:pt x="224" y="280"/>
                </a:lnTo>
                <a:lnTo>
                  <a:pt x="224" y="290"/>
                </a:lnTo>
                <a:lnTo>
                  <a:pt x="224" y="290"/>
                </a:lnTo>
                <a:lnTo>
                  <a:pt x="224" y="296"/>
                </a:lnTo>
                <a:lnTo>
                  <a:pt x="224" y="296"/>
                </a:lnTo>
                <a:lnTo>
                  <a:pt x="226" y="302"/>
                </a:lnTo>
                <a:lnTo>
                  <a:pt x="226" y="302"/>
                </a:lnTo>
                <a:lnTo>
                  <a:pt x="224" y="306"/>
                </a:lnTo>
                <a:lnTo>
                  <a:pt x="224" y="306"/>
                </a:lnTo>
                <a:lnTo>
                  <a:pt x="226" y="312"/>
                </a:lnTo>
                <a:lnTo>
                  <a:pt x="226" y="312"/>
                </a:lnTo>
                <a:lnTo>
                  <a:pt x="226" y="320"/>
                </a:lnTo>
                <a:lnTo>
                  <a:pt x="226" y="320"/>
                </a:lnTo>
                <a:lnTo>
                  <a:pt x="226" y="324"/>
                </a:lnTo>
                <a:lnTo>
                  <a:pt x="226" y="324"/>
                </a:lnTo>
                <a:lnTo>
                  <a:pt x="226" y="332"/>
                </a:lnTo>
                <a:lnTo>
                  <a:pt x="226" y="332"/>
                </a:lnTo>
                <a:lnTo>
                  <a:pt x="224" y="338"/>
                </a:lnTo>
                <a:lnTo>
                  <a:pt x="224" y="338"/>
                </a:lnTo>
                <a:lnTo>
                  <a:pt x="224" y="350"/>
                </a:lnTo>
                <a:lnTo>
                  <a:pt x="224" y="350"/>
                </a:lnTo>
                <a:lnTo>
                  <a:pt x="224" y="360"/>
                </a:lnTo>
                <a:lnTo>
                  <a:pt x="224" y="360"/>
                </a:lnTo>
                <a:lnTo>
                  <a:pt x="224" y="370"/>
                </a:lnTo>
                <a:lnTo>
                  <a:pt x="224" y="370"/>
                </a:lnTo>
                <a:lnTo>
                  <a:pt x="222" y="378"/>
                </a:lnTo>
                <a:lnTo>
                  <a:pt x="222" y="378"/>
                </a:lnTo>
                <a:lnTo>
                  <a:pt x="218" y="386"/>
                </a:lnTo>
                <a:lnTo>
                  <a:pt x="218" y="394"/>
                </a:lnTo>
                <a:lnTo>
                  <a:pt x="218" y="394"/>
                </a:lnTo>
                <a:lnTo>
                  <a:pt x="216" y="408"/>
                </a:lnTo>
                <a:lnTo>
                  <a:pt x="216" y="408"/>
                </a:lnTo>
                <a:lnTo>
                  <a:pt x="216" y="420"/>
                </a:lnTo>
                <a:lnTo>
                  <a:pt x="216" y="420"/>
                </a:lnTo>
                <a:lnTo>
                  <a:pt x="218" y="424"/>
                </a:lnTo>
                <a:lnTo>
                  <a:pt x="218" y="424"/>
                </a:lnTo>
                <a:lnTo>
                  <a:pt x="220" y="426"/>
                </a:lnTo>
                <a:lnTo>
                  <a:pt x="218" y="428"/>
                </a:lnTo>
                <a:lnTo>
                  <a:pt x="218" y="428"/>
                </a:lnTo>
                <a:lnTo>
                  <a:pt x="214" y="448"/>
                </a:lnTo>
                <a:lnTo>
                  <a:pt x="214" y="448"/>
                </a:lnTo>
                <a:lnTo>
                  <a:pt x="212" y="452"/>
                </a:lnTo>
                <a:lnTo>
                  <a:pt x="210" y="460"/>
                </a:lnTo>
                <a:lnTo>
                  <a:pt x="210" y="460"/>
                </a:lnTo>
                <a:lnTo>
                  <a:pt x="210" y="474"/>
                </a:lnTo>
                <a:lnTo>
                  <a:pt x="210" y="474"/>
                </a:lnTo>
                <a:lnTo>
                  <a:pt x="208" y="486"/>
                </a:lnTo>
                <a:lnTo>
                  <a:pt x="208" y="486"/>
                </a:lnTo>
                <a:lnTo>
                  <a:pt x="208" y="502"/>
                </a:lnTo>
                <a:lnTo>
                  <a:pt x="208" y="502"/>
                </a:lnTo>
                <a:lnTo>
                  <a:pt x="206" y="514"/>
                </a:lnTo>
                <a:lnTo>
                  <a:pt x="206" y="514"/>
                </a:lnTo>
                <a:lnTo>
                  <a:pt x="204" y="522"/>
                </a:lnTo>
                <a:lnTo>
                  <a:pt x="204" y="522"/>
                </a:lnTo>
                <a:lnTo>
                  <a:pt x="204" y="530"/>
                </a:lnTo>
                <a:lnTo>
                  <a:pt x="204" y="530"/>
                </a:lnTo>
                <a:lnTo>
                  <a:pt x="200" y="534"/>
                </a:lnTo>
                <a:lnTo>
                  <a:pt x="200" y="534"/>
                </a:lnTo>
                <a:lnTo>
                  <a:pt x="196" y="542"/>
                </a:lnTo>
                <a:lnTo>
                  <a:pt x="196" y="542"/>
                </a:lnTo>
                <a:lnTo>
                  <a:pt x="194" y="546"/>
                </a:lnTo>
                <a:lnTo>
                  <a:pt x="194" y="546"/>
                </a:lnTo>
                <a:lnTo>
                  <a:pt x="196" y="548"/>
                </a:lnTo>
                <a:lnTo>
                  <a:pt x="196" y="548"/>
                </a:lnTo>
                <a:lnTo>
                  <a:pt x="198" y="550"/>
                </a:lnTo>
                <a:lnTo>
                  <a:pt x="198" y="550"/>
                </a:lnTo>
                <a:lnTo>
                  <a:pt x="196" y="554"/>
                </a:lnTo>
                <a:lnTo>
                  <a:pt x="196" y="554"/>
                </a:lnTo>
                <a:lnTo>
                  <a:pt x="194" y="554"/>
                </a:lnTo>
                <a:lnTo>
                  <a:pt x="194" y="554"/>
                </a:lnTo>
                <a:lnTo>
                  <a:pt x="194" y="556"/>
                </a:lnTo>
                <a:lnTo>
                  <a:pt x="194" y="556"/>
                </a:lnTo>
                <a:lnTo>
                  <a:pt x="192" y="562"/>
                </a:lnTo>
                <a:lnTo>
                  <a:pt x="192" y="562"/>
                </a:lnTo>
                <a:lnTo>
                  <a:pt x="190" y="566"/>
                </a:lnTo>
                <a:lnTo>
                  <a:pt x="190" y="566"/>
                </a:lnTo>
                <a:lnTo>
                  <a:pt x="186" y="566"/>
                </a:lnTo>
                <a:lnTo>
                  <a:pt x="186" y="566"/>
                </a:lnTo>
                <a:lnTo>
                  <a:pt x="184" y="568"/>
                </a:lnTo>
                <a:lnTo>
                  <a:pt x="182" y="570"/>
                </a:lnTo>
                <a:lnTo>
                  <a:pt x="182" y="570"/>
                </a:lnTo>
                <a:lnTo>
                  <a:pt x="182" y="570"/>
                </a:lnTo>
                <a:lnTo>
                  <a:pt x="184" y="572"/>
                </a:lnTo>
                <a:lnTo>
                  <a:pt x="184" y="572"/>
                </a:lnTo>
                <a:lnTo>
                  <a:pt x="184" y="572"/>
                </a:lnTo>
                <a:lnTo>
                  <a:pt x="184" y="572"/>
                </a:lnTo>
                <a:lnTo>
                  <a:pt x="182" y="574"/>
                </a:lnTo>
                <a:lnTo>
                  <a:pt x="182" y="574"/>
                </a:lnTo>
                <a:lnTo>
                  <a:pt x="180" y="578"/>
                </a:lnTo>
                <a:lnTo>
                  <a:pt x="180" y="578"/>
                </a:lnTo>
                <a:lnTo>
                  <a:pt x="180" y="578"/>
                </a:lnTo>
                <a:lnTo>
                  <a:pt x="178" y="580"/>
                </a:lnTo>
                <a:lnTo>
                  <a:pt x="178" y="580"/>
                </a:lnTo>
                <a:lnTo>
                  <a:pt x="176" y="584"/>
                </a:lnTo>
                <a:lnTo>
                  <a:pt x="176" y="584"/>
                </a:lnTo>
                <a:lnTo>
                  <a:pt x="172" y="586"/>
                </a:lnTo>
                <a:lnTo>
                  <a:pt x="172" y="586"/>
                </a:lnTo>
                <a:lnTo>
                  <a:pt x="168" y="588"/>
                </a:lnTo>
                <a:lnTo>
                  <a:pt x="168" y="588"/>
                </a:lnTo>
                <a:lnTo>
                  <a:pt x="164" y="590"/>
                </a:lnTo>
                <a:lnTo>
                  <a:pt x="164" y="592"/>
                </a:lnTo>
                <a:lnTo>
                  <a:pt x="164" y="592"/>
                </a:lnTo>
                <a:lnTo>
                  <a:pt x="164" y="596"/>
                </a:lnTo>
                <a:lnTo>
                  <a:pt x="164" y="596"/>
                </a:lnTo>
                <a:lnTo>
                  <a:pt x="164" y="596"/>
                </a:lnTo>
                <a:lnTo>
                  <a:pt x="162" y="596"/>
                </a:lnTo>
                <a:lnTo>
                  <a:pt x="162" y="596"/>
                </a:lnTo>
                <a:lnTo>
                  <a:pt x="162" y="600"/>
                </a:lnTo>
                <a:lnTo>
                  <a:pt x="164" y="602"/>
                </a:lnTo>
                <a:lnTo>
                  <a:pt x="164" y="602"/>
                </a:lnTo>
                <a:lnTo>
                  <a:pt x="186" y="604"/>
                </a:lnTo>
                <a:lnTo>
                  <a:pt x="186" y="604"/>
                </a:lnTo>
                <a:lnTo>
                  <a:pt x="194" y="602"/>
                </a:lnTo>
                <a:lnTo>
                  <a:pt x="202" y="600"/>
                </a:lnTo>
                <a:lnTo>
                  <a:pt x="202" y="600"/>
                </a:lnTo>
                <a:lnTo>
                  <a:pt x="208" y="596"/>
                </a:lnTo>
                <a:lnTo>
                  <a:pt x="208" y="596"/>
                </a:lnTo>
                <a:lnTo>
                  <a:pt x="210" y="598"/>
                </a:lnTo>
                <a:lnTo>
                  <a:pt x="214" y="598"/>
                </a:lnTo>
                <a:lnTo>
                  <a:pt x="214" y="598"/>
                </a:lnTo>
                <a:lnTo>
                  <a:pt x="220" y="596"/>
                </a:lnTo>
                <a:lnTo>
                  <a:pt x="220" y="594"/>
                </a:lnTo>
                <a:lnTo>
                  <a:pt x="220" y="594"/>
                </a:lnTo>
                <a:lnTo>
                  <a:pt x="222" y="590"/>
                </a:lnTo>
                <a:lnTo>
                  <a:pt x="222" y="590"/>
                </a:lnTo>
                <a:lnTo>
                  <a:pt x="220" y="588"/>
                </a:lnTo>
                <a:lnTo>
                  <a:pt x="220" y="588"/>
                </a:lnTo>
                <a:lnTo>
                  <a:pt x="222" y="586"/>
                </a:lnTo>
                <a:lnTo>
                  <a:pt x="222" y="586"/>
                </a:lnTo>
                <a:lnTo>
                  <a:pt x="222" y="582"/>
                </a:lnTo>
                <a:lnTo>
                  <a:pt x="222" y="582"/>
                </a:lnTo>
                <a:lnTo>
                  <a:pt x="224" y="582"/>
                </a:lnTo>
                <a:lnTo>
                  <a:pt x="224" y="580"/>
                </a:lnTo>
                <a:lnTo>
                  <a:pt x="226" y="578"/>
                </a:lnTo>
                <a:lnTo>
                  <a:pt x="226" y="578"/>
                </a:lnTo>
                <a:lnTo>
                  <a:pt x="228" y="572"/>
                </a:lnTo>
                <a:lnTo>
                  <a:pt x="228" y="572"/>
                </a:lnTo>
                <a:lnTo>
                  <a:pt x="228" y="570"/>
                </a:lnTo>
                <a:lnTo>
                  <a:pt x="228" y="570"/>
                </a:lnTo>
                <a:lnTo>
                  <a:pt x="234" y="554"/>
                </a:lnTo>
                <a:lnTo>
                  <a:pt x="234" y="554"/>
                </a:lnTo>
                <a:lnTo>
                  <a:pt x="242" y="532"/>
                </a:lnTo>
                <a:lnTo>
                  <a:pt x="242" y="532"/>
                </a:lnTo>
                <a:lnTo>
                  <a:pt x="248" y="506"/>
                </a:lnTo>
                <a:lnTo>
                  <a:pt x="248" y="506"/>
                </a:lnTo>
                <a:lnTo>
                  <a:pt x="256" y="478"/>
                </a:lnTo>
                <a:lnTo>
                  <a:pt x="256" y="478"/>
                </a:lnTo>
                <a:lnTo>
                  <a:pt x="262" y="448"/>
                </a:lnTo>
                <a:lnTo>
                  <a:pt x="262" y="448"/>
                </a:lnTo>
                <a:lnTo>
                  <a:pt x="272" y="412"/>
                </a:lnTo>
                <a:lnTo>
                  <a:pt x="272" y="412"/>
                </a:lnTo>
                <a:lnTo>
                  <a:pt x="276" y="392"/>
                </a:lnTo>
                <a:lnTo>
                  <a:pt x="276" y="392"/>
                </a:lnTo>
                <a:lnTo>
                  <a:pt x="278" y="388"/>
                </a:lnTo>
                <a:lnTo>
                  <a:pt x="284" y="376"/>
                </a:lnTo>
                <a:lnTo>
                  <a:pt x="284" y="376"/>
                </a:lnTo>
                <a:lnTo>
                  <a:pt x="288" y="362"/>
                </a:lnTo>
                <a:lnTo>
                  <a:pt x="290" y="352"/>
                </a:lnTo>
                <a:lnTo>
                  <a:pt x="290" y="352"/>
                </a:lnTo>
                <a:lnTo>
                  <a:pt x="294" y="340"/>
                </a:lnTo>
                <a:lnTo>
                  <a:pt x="294" y="340"/>
                </a:lnTo>
                <a:lnTo>
                  <a:pt x="294" y="334"/>
                </a:lnTo>
                <a:lnTo>
                  <a:pt x="294" y="334"/>
                </a:lnTo>
                <a:lnTo>
                  <a:pt x="296" y="338"/>
                </a:lnTo>
                <a:lnTo>
                  <a:pt x="300" y="352"/>
                </a:lnTo>
                <a:lnTo>
                  <a:pt x="300" y="352"/>
                </a:lnTo>
                <a:lnTo>
                  <a:pt x="308" y="382"/>
                </a:lnTo>
                <a:lnTo>
                  <a:pt x="308" y="382"/>
                </a:lnTo>
                <a:lnTo>
                  <a:pt x="312" y="414"/>
                </a:lnTo>
                <a:lnTo>
                  <a:pt x="312" y="414"/>
                </a:lnTo>
                <a:lnTo>
                  <a:pt x="318" y="436"/>
                </a:lnTo>
                <a:lnTo>
                  <a:pt x="318" y="436"/>
                </a:lnTo>
                <a:lnTo>
                  <a:pt x="322" y="452"/>
                </a:lnTo>
                <a:lnTo>
                  <a:pt x="322" y="452"/>
                </a:lnTo>
                <a:lnTo>
                  <a:pt x="326" y="458"/>
                </a:lnTo>
                <a:lnTo>
                  <a:pt x="326" y="458"/>
                </a:lnTo>
                <a:lnTo>
                  <a:pt x="330" y="460"/>
                </a:lnTo>
                <a:lnTo>
                  <a:pt x="330" y="460"/>
                </a:lnTo>
                <a:lnTo>
                  <a:pt x="332" y="466"/>
                </a:lnTo>
                <a:lnTo>
                  <a:pt x="332" y="466"/>
                </a:lnTo>
                <a:lnTo>
                  <a:pt x="332" y="468"/>
                </a:lnTo>
                <a:lnTo>
                  <a:pt x="332" y="468"/>
                </a:lnTo>
                <a:lnTo>
                  <a:pt x="330" y="474"/>
                </a:lnTo>
                <a:lnTo>
                  <a:pt x="330" y="474"/>
                </a:lnTo>
                <a:lnTo>
                  <a:pt x="330" y="480"/>
                </a:lnTo>
                <a:lnTo>
                  <a:pt x="330" y="480"/>
                </a:lnTo>
                <a:lnTo>
                  <a:pt x="332" y="490"/>
                </a:lnTo>
                <a:lnTo>
                  <a:pt x="332" y="490"/>
                </a:lnTo>
                <a:lnTo>
                  <a:pt x="332" y="502"/>
                </a:lnTo>
                <a:lnTo>
                  <a:pt x="332" y="502"/>
                </a:lnTo>
                <a:lnTo>
                  <a:pt x="332" y="512"/>
                </a:lnTo>
                <a:lnTo>
                  <a:pt x="332" y="512"/>
                </a:lnTo>
                <a:lnTo>
                  <a:pt x="332" y="518"/>
                </a:lnTo>
                <a:lnTo>
                  <a:pt x="332" y="518"/>
                </a:lnTo>
                <a:lnTo>
                  <a:pt x="330" y="532"/>
                </a:lnTo>
                <a:lnTo>
                  <a:pt x="330" y="532"/>
                </a:lnTo>
                <a:lnTo>
                  <a:pt x="328" y="540"/>
                </a:lnTo>
                <a:lnTo>
                  <a:pt x="328" y="544"/>
                </a:lnTo>
                <a:lnTo>
                  <a:pt x="328" y="544"/>
                </a:lnTo>
                <a:lnTo>
                  <a:pt x="328" y="550"/>
                </a:lnTo>
                <a:lnTo>
                  <a:pt x="328" y="550"/>
                </a:lnTo>
                <a:lnTo>
                  <a:pt x="326" y="554"/>
                </a:lnTo>
                <a:lnTo>
                  <a:pt x="326" y="554"/>
                </a:lnTo>
                <a:lnTo>
                  <a:pt x="326" y="558"/>
                </a:lnTo>
                <a:lnTo>
                  <a:pt x="326" y="558"/>
                </a:lnTo>
                <a:lnTo>
                  <a:pt x="328" y="566"/>
                </a:lnTo>
                <a:lnTo>
                  <a:pt x="328" y="566"/>
                </a:lnTo>
                <a:lnTo>
                  <a:pt x="326" y="568"/>
                </a:lnTo>
                <a:lnTo>
                  <a:pt x="326" y="568"/>
                </a:lnTo>
                <a:lnTo>
                  <a:pt x="326" y="570"/>
                </a:lnTo>
                <a:lnTo>
                  <a:pt x="326" y="570"/>
                </a:lnTo>
                <a:lnTo>
                  <a:pt x="326" y="570"/>
                </a:lnTo>
                <a:lnTo>
                  <a:pt x="326" y="570"/>
                </a:lnTo>
                <a:lnTo>
                  <a:pt x="324" y="576"/>
                </a:lnTo>
                <a:lnTo>
                  <a:pt x="324" y="576"/>
                </a:lnTo>
                <a:lnTo>
                  <a:pt x="324" y="578"/>
                </a:lnTo>
                <a:lnTo>
                  <a:pt x="324" y="578"/>
                </a:lnTo>
                <a:lnTo>
                  <a:pt x="324" y="580"/>
                </a:lnTo>
                <a:lnTo>
                  <a:pt x="324" y="580"/>
                </a:lnTo>
                <a:lnTo>
                  <a:pt x="324" y="584"/>
                </a:lnTo>
                <a:lnTo>
                  <a:pt x="324" y="588"/>
                </a:lnTo>
                <a:lnTo>
                  <a:pt x="324" y="588"/>
                </a:lnTo>
                <a:lnTo>
                  <a:pt x="330" y="592"/>
                </a:lnTo>
                <a:lnTo>
                  <a:pt x="330" y="592"/>
                </a:lnTo>
                <a:lnTo>
                  <a:pt x="334" y="592"/>
                </a:lnTo>
                <a:lnTo>
                  <a:pt x="334" y="592"/>
                </a:lnTo>
                <a:lnTo>
                  <a:pt x="338" y="592"/>
                </a:lnTo>
                <a:lnTo>
                  <a:pt x="338" y="592"/>
                </a:lnTo>
                <a:lnTo>
                  <a:pt x="342" y="598"/>
                </a:lnTo>
                <a:lnTo>
                  <a:pt x="342" y="598"/>
                </a:lnTo>
                <a:lnTo>
                  <a:pt x="344" y="602"/>
                </a:lnTo>
                <a:lnTo>
                  <a:pt x="344" y="602"/>
                </a:lnTo>
                <a:lnTo>
                  <a:pt x="346" y="604"/>
                </a:lnTo>
                <a:lnTo>
                  <a:pt x="356" y="608"/>
                </a:lnTo>
                <a:lnTo>
                  <a:pt x="356" y="608"/>
                </a:lnTo>
                <a:lnTo>
                  <a:pt x="370" y="606"/>
                </a:lnTo>
                <a:lnTo>
                  <a:pt x="376" y="606"/>
                </a:lnTo>
                <a:lnTo>
                  <a:pt x="376" y="606"/>
                </a:lnTo>
                <a:lnTo>
                  <a:pt x="378" y="606"/>
                </a:lnTo>
                <a:lnTo>
                  <a:pt x="378" y="604"/>
                </a:lnTo>
                <a:lnTo>
                  <a:pt x="378" y="604"/>
                </a:lnTo>
                <a:lnTo>
                  <a:pt x="378" y="602"/>
                </a:lnTo>
                <a:lnTo>
                  <a:pt x="378" y="602"/>
                </a:lnTo>
                <a:lnTo>
                  <a:pt x="376" y="600"/>
                </a:lnTo>
                <a:lnTo>
                  <a:pt x="376" y="600"/>
                </a:lnTo>
                <a:lnTo>
                  <a:pt x="378" y="598"/>
                </a:lnTo>
                <a:lnTo>
                  <a:pt x="378" y="594"/>
                </a:lnTo>
                <a:lnTo>
                  <a:pt x="378" y="594"/>
                </a:lnTo>
                <a:lnTo>
                  <a:pt x="376" y="592"/>
                </a:lnTo>
                <a:lnTo>
                  <a:pt x="374" y="590"/>
                </a:lnTo>
                <a:lnTo>
                  <a:pt x="374" y="590"/>
                </a:lnTo>
                <a:lnTo>
                  <a:pt x="370" y="588"/>
                </a:lnTo>
                <a:lnTo>
                  <a:pt x="370" y="588"/>
                </a:lnTo>
                <a:lnTo>
                  <a:pt x="364" y="582"/>
                </a:lnTo>
                <a:lnTo>
                  <a:pt x="364" y="582"/>
                </a:lnTo>
                <a:lnTo>
                  <a:pt x="362" y="578"/>
                </a:lnTo>
                <a:lnTo>
                  <a:pt x="362" y="578"/>
                </a:lnTo>
                <a:lnTo>
                  <a:pt x="364" y="580"/>
                </a:lnTo>
                <a:lnTo>
                  <a:pt x="364" y="580"/>
                </a:lnTo>
                <a:lnTo>
                  <a:pt x="366" y="582"/>
                </a:lnTo>
                <a:lnTo>
                  <a:pt x="366" y="582"/>
                </a:lnTo>
                <a:lnTo>
                  <a:pt x="366" y="582"/>
                </a:lnTo>
                <a:lnTo>
                  <a:pt x="366" y="582"/>
                </a:lnTo>
                <a:lnTo>
                  <a:pt x="364" y="578"/>
                </a:lnTo>
                <a:lnTo>
                  <a:pt x="364" y="578"/>
                </a:lnTo>
                <a:lnTo>
                  <a:pt x="362" y="574"/>
                </a:lnTo>
                <a:lnTo>
                  <a:pt x="362" y="574"/>
                </a:lnTo>
                <a:lnTo>
                  <a:pt x="362" y="574"/>
                </a:lnTo>
                <a:lnTo>
                  <a:pt x="362" y="574"/>
                </a:lnTo>
                <a:lnTo>
                  <a:pt x="364" y="574"/>
                </a:lnTo>
                <a:lnTo>
                  <a:pt x="364" y="572"/>
                </a:lnTo>
                <a:lnTo>
                  <a:pt x="364" y="572"/>
                </a:lnTo>
                <a:lnTo>
                  <a:pt x="364" y="572"/>
                </a:lnTo>
                <a:lnTo>
                  <a:pt x="362" y="566"/>
                </a:lnTo>
                <a:lnTo>
                  <a:pt x="362" y="566"/>
                </a:lnTo>
                <a:lnTo>
                  <a:pt x="362" y="558"/>
                </a:lnTo>
                <a:lnTo>
                  <a:pt x="362" y="558"/>
                </a:lnTo>
                <a:lnTo>
                  <a:pt x="362" y="556"/>
                </a:lnTo>
                <a:lnTo>
                  <a:pt x="362" y="556"/>
                </a:lnTo>
                <a:lnTo>
                  <a:pt x="362" y="556"/>
                </a:lnTo>
                <a:lnTo>
                  <a:pt x="360" y="554"/>
                </a:lnTo>
                <a:lnTo>
                  <a:pt x="360" y="554"/>
                </a:lnTo>
                <a:lnTo>
                  <a:pt x="358" y="550"/>
                </a:lnTo>
                <a:lnTo>
                  <a:pt x="358" y="550"/>
                </a:lnTo>
                <a:lnTo>
                  <a:pt x="360" y="542"/>
                </a:lnTo>
                <a:lnTo>
                  <a:pt x="360" y="542"/>
                </a:lnTo>
                <a:lnTo>
                  <a:pt x="366" y="528"/>
                </a:lnTo>
                <a:lnTo>
                  <a:pt x="366" y="528"/>
                </a:lnTo>
                <a:lnTo>
                  <a:pt x="370" y="504"/>
                </a:lnTo>
                <a:lnTo>
                  <a:pt x="370" y="504"/>
                </a:lnTo>
                <a:lnTo>
                  <a:pt x="372" y="480"/>
                </a:lnTo>
                <a:lnTo>
                  <a:pt x="372" y="480"/>
                </a:lnTo>
                <a:lnTo>
                  <a:pt x="372" y="468"/>
                </a:lnTo>
                <a:lnTo>
                  <a:pt x="372" y="468"/>
                </a:lnTo>
                <a:lnTo>
                  <a:pt x="376" y="456"/>
                </a:lnTo>
                <a:lnTo>
                  <a:pt x="376" y="456"/>
                </a:lnTo>
                <a:lnTo>
                  <a:pt x="376" y="442"/>
                </a:lnTo>
                <a:lnTo>
                  <a:pt x="376" y="442"/>
                </a:lnTo>
                <a:lnTo>
                  <a:pt x="378" y="438"/>
                </a:lnTo>
                <a:lnTo>
                  <a:pt x="380" y="428"/>
                </a:lnTo>
                <a:lnTo>
                  <a:pt x="380" y="428"/>
                </a:lnTo>
                <a:lnTo>
                  <a:pt x="380" y="418"/>
                </a:lnTo>
                <a:lnTo>
                  <a:pt x="378" y="412"/>
                </a:lnTo>
                <a:lnTo>
                  <a:pt x="378" y="412"/>
                </a:lnTo>
                <a:lnTo>
                  <a:pt x="376" y="404"/>
                </a:lnTo>
                <a:lnTo>
                  <a:pt x="376" y="404"/>
                </a:lnTo>
                <a:lnTo>
                  <a:pt x="372" y="384"/>
                </a:lnTo>
                <a:lnTo>
                  <a:pt x="372" y="384"/>
                </a:lnTo>
                <a:lnTo>
                  <a:pt x="366" y="352"/>
                </a:lnTo>
                <a:lnTo>
                  <a:pt x="366" y="352"/>
                </a:lnTo>
                <a:lnTo>
                  <a:pt x="362" y="338"/>
                </a:lnTo>
                <a:lnTo>
                  <a:pt x="362" y="338"/>
                </a:lnTo>
                <a:lnTo>
                  <a:pt x="362" y="326"/>
                </a:lnTo>
                <a:lnTo>
                  <a:pt x="362" y="326"/>
                </a:lnTo>
                <a:lnTo>
                  <a:pt x="358" y="312"/>
                </a:lnTo>
                <a:lnTo>
                  <a:pt x="358" y="312"/>
                </a:lnTo>
                <a:lnTo>
                  <a:pt x="356" y="306"/>
                </a:lnTo>
                <a:lnTo>
                  <a:pt x="356" y="306"/>
                </a:lnTo>
                <a:lnTo>
                  <a:pt x="356" y="296"/>
                </a:lnTo>
                <a:lnTo>
                  <a:pt x="356" y="296"/>
                </a:lnTo>
                <a:lnTo>
                  <a:pt x="354" y="290"/>
                </a:lnTo>
                <a:lnTo>
                  <a:pt x="360" y="290"/>
                </a:lnTo>
                <a:lnTo>
                  <a:pt x="360" y="290"/>
                </a:lnTo>
                <a:lnTo>
                  <a:pt x="354" y="272"/>
                </a:lnTo>
                <a:lnTo>
                  <a:pt x="354" y="272"/>
                </a:lnTo>
                <a:lnTo>
                  <a:pt x="352" y="260"/>
                </a:lnTo>
                <a:lnTo>
                  <a:pt x="352" y="260"/>
                </a:lnTo>
                <a:lnTo>
                  <a:pt x="350" y="242"/>
                </a:lnTo>
                <a:lnTo>
                  <a:pt x="350" y="242"/>
                </a:lnTo>
                <a:lnTo>
                  <a:pt x="346" y="228"/>
                </a:lnTo>
                <a:lnTo>
                  <a:pt x="346" y="228"/>
                </a:lnTo>
                <a:lnTo>
                  <a:pt x="348" y="228"/>
                </a:lnTo>
                <a:lnTo>
                  <a:pt x="348" y="228"/>
                </a:lnTo>
                <a:lnTo>
                  <a:pt x="350" y="230"/>
                </a:lnTo>
                <a:lnTo>
                  <a:pt x="350" y="230"/>
                </a:lnTo>
                <a:lnTo>
                  <a:pt x="346" y="220"/>
                </a:lnTo>
                <a:lnTo>
                  <a:pt x="346" y="220"/>
                </a:lnTo>
                <a:lnTo>
                  <a:pt x="342" y="212"/>
                </a:lnTo>
                <a:lnTo>
                  <a:pt x="338" y="200"/>
                </a:lnTo>
                <a:lnTo>
                  <a:pt x="338" y="200"/>
                </a:lnTo>
                <a:lnTo>
                  <a:pt x="332" y="180"/>
                </a:lnTo>
                <a:lnTo>
                  <a:pt x="332" y="180"/>
                </a:lnTo>
                <a:lnTo>
                  <a:pt x="332" y="170"/>
                </a:lnTo>
                <a:lnTo>
                  <a:pt x="332" y="166"/>
                </a:lnTo>
                <a:lnTo>
                  <a:pt x="332" y="166"/>
                </a:lnTo>
                <a:lnTo>
                  <a:pt x="332" y="158"/>
                </a:lnTo>
                <a:lnTo>
                  <a:pt x="332" y="158"/>
                </a:lnTo>
                <a:lnTo>
                  <a:pt x="334" y="150"/>
                </a:lnTo>
                <a:lnTo>
                  <a:pt x="334" y="150"/>
                </a:lnTo>
                <a:lnTo>
                  <a:pt x="336" y="144"/>
                </a:lnTo>
                <a:lnTo>
                  <a:pt x="336" y="144"/>
                </a:lnTo>
                <a:lnTo>
                  <a:pt x="338" y="144"/>
                </a:lnTo>
                <a:lnTo>
                  <a:pt x="344" y="142"/>
                </a:lnTo>
                <a:lnTo>
                  <a:pt x="344" y="142"/>
                </a:lnTo>
                <a:lnTo>
                  <a:pt x="360" y="138"/>
                </a:lnTo>
                <a:lnTo>
                  <a:pt x="360" y="138"/>
                </a:lnTo>
                <a:lnTo>
                  <a:pt x="382" y="132"/>
                </a:lnTo>
                <a:lnTo>
                  <a:pt x="382" y="132"/>
                </a:lnTo>
                <a:lnTo>
                  <a:pt x="388" y="128"/>
                </a:lnTo>
                <a:lnTo>
                  <a:pt x="388" y="128"/>
                </a:lnTo>
                <a:lnTo>
                  <a:pt x="392" y="128"/>
                </a:lnTo>
                <a:lnTo>
                  <a:pt x="392" y="128"/>
                </a:lnTo>
                <a:lnTo>
                  <a:pt x="398" y="126"/>
                </a:lnTo>
                <a:lnTo>
                  <a:pt x="398" y="126"/>
                </a:lnTo>
                <a:lnTo>
                  <a:pt x="402" y="122"/>
                </a:lnTo>
                <a:lnTo>
                  <a:pt x="406" y="118"/>
                </a:lnTo>
                <a:lnTo>
                  <a:pt x="406" y="118"/>
                </a:lnTo>
                <a:lnTo>
                  <a:pt x="408" y="116"/>
                </a:lnTo>
                <a:lnTo>
                  <a:pt x="408" y="114"/>
                </a:lnTo>
                <a:lnTo>
                  <a:pt x="408" y="114"/>
                </a:lnTo>
                <a:lnTo>
                  <a:pt x="408" y="110"/>
                </a:lnTo>
                <a:lnTo>
                  <a:pt x="408" y="110"/>
                </a:lnTo>
                <a:lnTo>
                  <a:pt x="412" y="100"/>
                </a:lnTo>
                <a:lnTo>
                  <a:pt x="412" y="100"/>
                </a:lnTo>
                <a:lnTo>
                  <a:pt x="416" y="90"/>
                </a:lnTo>
                <a:lnTo>
                  <a:pt x="416" y="90"/>
                </a:lnTo>
                <a:lnTo>
                  <a:pt x="418" y="88"/>
                </a:lnTo>
                <a:lnTo>
                  <a:pt x="418" y="88"/>
                </a:lnTo>
                <a:lnTo>
                  <a:pt x="420" y="84"/>
                </a:lnTo>
                <a:lnTo>
                  <a:pt x="420" y="84"/>
                </a:lnTo>
                <a:lnTo>
                  <a:pt x="422" y="82"/>
                </a:lnTo>
                <a:lnTo>
                  <a:pt x="424" y="78"/>
                </a:lnTo>
                <a:lnTo>
                  <a:pt x="424" y="78"/>
                </a:lnTo>
                <a:lnTo>
                  <a:pt x="424" y="72"/>
                </a:lnTo>
                <a:lnTo>
                  <a:pt x="424" y="72"/>
                </a:lnTo>
                <a:lnTo>
                  <a:pt x="426" y="70"/>
                </a:lnTo>
                <a:lnTo>
                  <a:pt x="436" y="54"/>
                </a:lnTo>
                <a:lnTo>
                  <a:pt x="436" y="54"/>
                </a:lnTo>
                <a:lnTo>
                  <a:pt x="426" y="48"/>
                </a:lnTo>
                <a:lnTo>
                  <a:pt x="426" y="48"/>
                </a:lnTo>
                <a:lnTo>
                  <a:pt x="420" y="44"/>
                </a:lnTo>
                <a:lnTo>
                  <a:pt x="420" y="44"/>
                </a:lnTo>
                <a:lnTo>
                  <a:pt x="420" y="44"/>
                </a:lnTo>
                <a:lnTo>
                  <a:pt x="420" y="44"/>
                </a:lnTo>
                <a:lnTo>
                  <a:pt x="420" y="42"/>
                </a:lnTo>
                <a:lnTo>
                  <a:pt x="420" y="42"/>
                </a:lnTo>
                <a:lnTo>
                  <a:pt x="420" y="40"/>
                </a:lnTo>
                <a:lnTo>
                  <a:pt x="422" y="38"/>
                </a:lnTo>
                <a:lnTo>
                  <a:pt x="426" y="34"/>
                </a:lnTo>
                <a:lnTo>
                  <a:pt x="426" y="34"/>
                </a:lnTo>
                <a:lnTo>
                  <a:pt x="440" y="26"/>
                </a:lnTo>
                <a:lnTo>
                  <a:pt x="440" y="26"/>
                </a:lnTo>
                <a:lnTo>
                  <a:pt x="444" y="22"/>
                </a:lnTo>
                <a:lnTo>
                  <a:pt x="444" y="22"/>
                </a:lnTo>
                <a:lnTo>
                  <a:pt x="448" y="20"/>
                </a:lnTo>
                <a:lnTo>
                  <a:pt x="452" y="18"/>
                </a:lnTo>
                <a:lnTo>
                  <a:pt x="452" y="18"/>
                </a:lnTo>
                <a:lnTo>
                  <a:pt x="460" y="8"/>
                </a:lnTo>
                <a:lnTo>
                  <a:pt x="460" y="8"/>
                </a:lnTo>
                <a:lnTo>
                  <a:pt x="462" y="4"/>
                </a:lnTo>
                <a:lnTo>
                  <a:pt x="462" y="4"/>
                </a:lnTo>
                <a:lnTo>
                  <a:pt x="462" y="2"/>
                </a:lnTo>
                <a:lnTo>
                  <a:pt x="462" y="0"/>
                </a:lnTo>
                <a:lnTo>
                  <a:pt x="462" y="0"/>
                </a:lnTo>
                <a:close/>
                <a:moveTo>
                  <a:pt x="184" y="42"/>
                </a:moveTo>
                <a:lnTo>
                  <a:pt x="184" y="42"/>
                </a:lnTo>
                <a:lnTo>
                  <a:pt x="184" y="42"/>
                </a:lnTo>
                <a:lnTo>
                  <a:pt x="184" y="42"/>
                </a:lnTo>
                <a:lnTo>
                  <a:pt x="184" y="40"/>
                </a:lnTo>
                <a:lnTo>
                  <a:pt x="184" y="40"/>
                </a:lnTo>
                <a:lnTo>
                  <a:pt x="184" y="42"/>
                </a:lnTo>
                <a:lnTo>
                  <a:pt x="184" y="42"/>
                </a:lnTo>
                <a:close/>
                <a:moveTo>
                  <a:pt x="186" y="40"/>
                </a:moveTo>
                <a:lnTo>
                  <a:pt x="186" y="40"/>
                </a:lnTo>
                <a:lnTo>
                  <a:pt x="186" y="40"/>
                </a:lnTo>
                <a:lnTo>
                  <a:pt x="186" y="40"/>
                </a:lnTo>
                <a:lnTo>
                  <a:pt x="186" y="40"/>
                </a:lnTo>
                <a:lnTo>
                  <a:pt x="186" y="38"/>
                </a:lnTo>
                <a:lnTo>
                  <a:pt x="186" y="38"/>
                </a:lnTo>
                <a:lnTo>
                  <a:pt x="186" y="40"/>
                </a:lnTo>
                <a:lnTo>
                  <a:pt x="186" y="40"/>
                </a:lnTo>
                <a:close/>
                <a:moveTo>
                  <a:pt x="192" y="30"/>
                </a:moveTo>
                <a:lnTo>
                  <a:pt x="192" y="30"/>
                </a:lnTo>
                <a:lnTo>
                  <a:pt x="190" y="30"/>
                </a:lnTo>
                <a:lnTo>
                  <a:pt x="190" y="30"/>
                </a:lnTo>
                <a:lnTo>
                  <a:pt x="190" y="30"/>
                </a:lnTo>
                <a:lnTo>
                  <a:pt x="190" y="30"/>
                </a:lnTo>
                <a:lnTo>
                  <a:pt x="190" y="30"/>
                </a:lnTo>
                <a:lnTo>
                  <a:pt x="192" y="30"/>
                </a:lnTo>
                <a:lnTo>
                  <a:pt x="192" y="30"/>
                </a:lnTo>
                <a:lnTo>
                  <a:pt x="192" y="30"/>
                </a:lnTo>
                <a:lnTo>
                  <a:pt x="192" y="30"/>
                </a:lnTo>
                <a:close/>
                <a:moveTo>
                  <a:pt x="192" y="28"/>
                </a:moveTo>
                <a:lnTo>
                  <a:pt x="192" y="28"/>
                </a:lnTo>
                <a:lnTo>
                  <a:pt x="192" y="28"/>
                </a:lnTo>
                <a:lnTo>
                  <a:pt x="192" y="28"/>
                </a:lnTo>
                <a:lnTo>
                  <a:pt x="194" y="28"/>
                </a:lnTo>
                <a:lnTo>
                  <a:pt x="192" y="28"/>
                </a:lnTo>
                <a:close/>
                <a:moveTo>
                  <a:pt x="194" y="28"/>
                </a:moveTo>
                <a:lnTo>
                  <a:pt x="194" y="28"/>
                </a:lnTo>
                <a:lnTo>
                  <a:pt x="192" y="28"/>
                </a:lnTo>
                <a:lnTo>
                  <a:pt x="192" y="28"/>
                </a:lnTo>
                <a:lnTo>
                  <a:pt x="192" y="28"/>
                </a:lnTo>
                <a:lnTo>
                  <a:pt x="192" y="28"/>
                </a:lnTo>
                <a:lnTo>
                  <a:pt x="194" y="28"/>
                </a:lnTo>
                <a:lnTo>
                  <a:pt x="194" y="28"/>
                </a:lnTo>
                <a:lnTo>
                  <a:pt x="194" y="28"/>
                </a:lnTo>
                <a:lnTo>
                  <a:pt x="194" y="28"/>
                </a:lnTo>
                <a:close/>
                <a:moveTo>
                  <a:pt x="188" y="568"/>
                </a:moveTo>
                <a:lnTo>
                  <a:pt x="188" y="568"/>
                </a:lnTo>
                <a:lnTo>
                  <a:pt x="186" y="570"/>
                </a:lnTo>
                <a:lnTo>
                  <a:pt x="186" y="570"/>
                </a:lnTo>
                <a:lnTo>
                  <a:pt x="184" y="572"/>
                </a:lnTo>
                <a:lnTo>
                  <a:pt x="184" y="570"/>
                </a:lnTo>
                <a:lnTo>
                  <a:pt x="184" y="570"/>
                </a:lnTo>
                <a:lnTo>
                  <a:pt x="184" y="570"/>
                </a:lnTo>
                <a:lnTo>
                  <a:pt x="184" y="568"/>
                </a:lnTo>
                <a:lnTo>
                  <a:pt x="184" y="568"/>
                </a:lnTo>
                <a:lnTo>
                  <a:pt x="190" y="566"/>
                </a:lnTo>
                <a:lnTo>
                  <a:pt x="190" y="566"/>
                </a:lnTo>
                <a:lnTo>
                  <a:pt x="188" y="568"/>
                </a:lnTo>
                <a:lnTo>
                  <a:pt x="188" y="568"/>
                </a:lnTo>
                <a:close/>
                <a:moveTo>
                  <a:pt x="230" y="20"/>
                </a:moveTo>
                <a:lnTo>
                  <a:pt x="230" y="20"/>
                </a:lnTo>
                <a:lnTo>
                  <a:pt x="230" y="20"/>
                </a:lnTo>
                <a:lnTo>
                  <a:pt x="230" y="20"/>
                </a:lnTo>
                <a:lnTo>
                  <a:pt x="230" y="22"/>
                </a:lnTo>
                <a:lnTo>
                  <a:pt x="230" y="22"/>
                </a:lnTo>
                <a:lnTo>
                  <a:pt x="228" y="22"/>
                </a:lnTo>
                <a:lnTo>
                  <a:pt x="228" y="22"/>
                </a:lnTo>
                <a:lnTo>
                  <a:pt x="230" y="20"/>
                </a:lnTo>
                <a:lnTo>
                  <a:pt x="230" y="20"/>
                </a:lnTo>
                <a:close/>
                <a:moveTo>
                  <a:pt x="226" y="18"/>
                </a:moveTo>
                <a:lnTo>
                  <a:pt x="226" y="18"/>
                </a:lnTo>
                <a:lnTo>
                  <a:pt x="230" y="18"/>
                </a:lnTo>
                <a:lnTo>
                  <a:pt x="230" y="18"/>
                </a:lnTo>
                <a:lnTo>
                  <a:pt x="230" y="18"/>
                </a:lnTo>
                <a:lnTo>
                  <a:pt x="230" y="20"/>
                </a:lnTo>
                <a:lnTo>
                  <a:pt x="230" y="20"/>
                </a:lnTo>
                <a:lnTo>
                  <a:pt x="230" y="18"/>
                </a:lnTo>
                <a:lnTo>
                  <a:pt x="230" y="18"/>
                </a:lnTo>
                <a:lnTo>
                  <a:pt x="228" y="18"/>
                </a:lnTo>
                <a:lnTo>
                  <a:pt x="228" y="18"/>
                </a:lnTo>
                <a:lnTo>
                  <a:pt x="226" y="18"/>
                </a:lnTo>
                <a:lnTo>
                  <a:pt x="226" y="18"/>
                </a:lnTo>
                <a:close/>
                <a:moveTo>
                  <a:pt x="228" y="18"/>
                </a:moveTo>
                <a:lnTo>
                  <a:pt x="228" y="18"/>
                </a:lnTo>
                <a:lnTo>
                  <a:pt x="228" y="18"/>
                </a:lnTo>
                <a:lnTo>
                  <a:pt x="230" y="18"/>
                </a:lnTo>
                <a:lnTo>
                  <a:pt x="230" y="18"/>
                </a:lnTo>
                <a:lnTo>
                  <a:pt x="228" y="20"/>
                </a:lnTo>
                <a:lnTo>
                  <a:pt x="228" y="20"/>
                </a:lnTo>
                <a:lnTo>
                  <a:pt x="226" y="20"/>
                </a:lnTo>
                <a:lnTo>
                  <a:pt x="228" y="18"/>
                </a:lnTo>
                <a:close/>
                <a:moveTo>
                  <a:pt x="364" y="576"/>
                </a:moveTo>
                <a:lnTo>
                  <a:pt x="364" y="576"/>
                </a:lnTo>
                <a:lnTo>
                  <a:pt x="364" y="580"/>
                </a:lnTo>
                <a:lnTo>
                  <a:pt x="364" y="580"/>
                </a:lnTo>
                <a:lnTo>
                  <a:pt x="364" y="578"/>
                </a:lnTo>
                <a:lnTo>
                  <a:pt x="364" y="578"/>
                </a:lnTo>
                <a:lnTo>
                  <a:pt x="362" y="576"/>
                </a:lnTo>
                <a:lnTo>
                  <a:pt x="362" y="576"/>
                </a:lnTo>
                <a:lnTo>
                  <a:pt x="364" y="576"/>
                </a:lnTo>
                <a:lnTo>
                  <a:pt x="364" y="57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42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3637355"/>
            <a:ext cx="11471565" cy="1739347"/>
          </a:xfrm>
        </p:spPr>
        <p:txBody>
          <a:bodyPr>
            <a:normAutofit/>
          </a:bodyPr>
          <a:lstStyle/>
          <a:p>
            <a:r>
              <a:rPr lang="en-AU" sz="8000" b="1" dirty="0">
                <a:solidFill>
                  <a:srgbClr val="002060"/>
                </a:solidFill>
              </a:rPr>
              <a:t>THANK YOU 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96" y="-96400"/>
            <a:ext cx="4930490" cy="249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0339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TaB_Custom_2">
      <a:dk1>
        <a:srgbClr val="002060"/>
      </a:dk1>
      <a:lt1>
        <a:srgbClr val="005DBA"/>
      </a:lt1>
      <a:dk2>
        <a:srgbClr val="FFFFFF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2D6DA4B9CD2C45B330D4F305DE8ABE" ma:contentTypeVersion="4" ma:contentTypeDescription="Create a new document." ma:contentTypeScope="" ma:versionID="245a1376b0236320f485c1fdb792d7d4">
  <xsd:schema xmlns:xsd="http://www.w3.org/2001/XMLSchema" xmlns:xs="http://www.w3.org/2001/XMLSchema" xmlns:p="http://schemas.microsoft.com/office/2006/metadata/properties" xmlns:ns2="53b9d890-0e9d-4b81-92e8-995139d4fe64" xmlns:ns3="85acc96f-cef4-45a3-bdec-708712cf86a2" targetNamespace="http://schemas.microsoft.com/office/2006/metadata/properties" ma:root="true" ma:fieldsID="f4ca5e4d1e6089917e561de6dcecd44f" ns2:_="" ns3:_="">
    <xsd:import namespace="53b9d890-0e9d-4b81-92e8-995139d4fe64"/>
    <xsd:import namespace="85acc96f-cef4-45a3-bdec-708712cf86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b9d890-0e9d-4b81-92e8-995139d4fe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acc96f-cef4-45a3-bdec-708712cf86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76C713-81FE-4799-AA0F-414E67672C6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AFF6D12-44BE-4F1C-9B32-A51187A41B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DD2F1F-CD66-4562-A549-5E9C450B6B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b9d890-0e9d-4b81-92e8-995139d4fe64"/>
    <ds:schemaRef ds:uri="85acc96f-cef4-45a3-bdec-708712cf86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13021</TotalTime>
  <Words>509</Words>
  <Application>Microsoft Office PowerPoint</Application>
  <PresentationFormat>Widescreen</PresentationFormat>
  <Paragraphs>127</Paragraphs>
  <Slides>24</Slides>
  <Notes>0</Notes>
  <HiddenSlides>7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Banded</vt:lpstr>
      <vt:lpstr>PowerPoint Presentation</vt:lpstr>
      <vt:lpstr>A brief history of bitcoin</vt:lpstr>
      <vt:lpstr>A brief History of Bitcoin (&amp; Blockchain)</vt:lpstr>
      <vt:lpstr>Cryptography 101: SHA256</vt:lpstr>
      <vt:lpstr>Bitcoin &amp; cash analogy</vt:lpstr>
      <vt:lpstr>How bitcoin works?</vt:lpstr>
      <vt:lpstr>Blockchain 101</vt:lpstr>
      <vt:lpstr>What is a blockchain? three key Concepts of a Distributed ledger</vt:lpstr>
      <vt:lpstr>Blockchain Distributed Ledger &amp; ledger book analogy</vt:lpstr>
      <vt:lpstr>How blockchain works</vt:lpstr>
      <vt:lpstr>Blockchain Distributed Ledger &amp; ledger book analogy</vt:lpstr>
      <vt:lpstr>How BlockChain works?</vt:lpstr>
      <vt:lpstr>Nonce &amp; Proof of work</vt:lpstr>
      <vt:lpstr>blockchain &amp; banking</vt:lpstr>
      <vt:lpstr>Blockchain &amp; banking – advantages &amp; Benefits</vt:lpstr>
      <vt:lpstr>blockchain Use cases in banking</vt:lpstr>
      <vt:lpstr>Payments (remittance) via blockchain</vt:lpstr>
      <vt:lpstr>Hashkloud’s paySHA payments integration architecture</vt:lpstr>
      <vt:lpstr>Hashklou’d payments qr code</vt:lpstr>
      <vt:lpstr>Fintech Blockchain  capability maturity model framework</vt:lpstr>
      <vt:lpstr>FINTECH blockchain capability model</vt:lpstr>
      <vt:lpstr>Blockchain cmm framework s-curve</vt:lpstr>
      <vt:lpstr>Questions…</vt:lpstr>
      <vt:lpstr>THANK YOU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Tarique Bhuiyan</dc:creator>
  <cp:lastModifiedBy>Tarique Bhuiyan</cp:lastModifiedBy>
  <cp:revision>235</cp:revision>
  <dcterms:created xsi:type="dcterms:W3CDTF">2016-01-14T02:10:18Z</dcterms:created>
  <dcterms:modified xsi:type="dcterms:W3CDTF">2024-11-30T13:35:32Z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0x010100A72D6DA4B9CD2C45B330D4F305DE8ABE</vt:lpwstr>
  </property>
</Properties>
</file>