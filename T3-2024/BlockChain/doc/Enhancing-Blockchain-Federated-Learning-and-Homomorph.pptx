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DM Sans" pitchFamily="2" charset="0"/>
      <p:regular r:id="rId12"/>
      <p:bold r:id="rId13"/>
    </p:embeddedFont>
    <p:embeddedFont>
      <p:font typeface="Libre Baskerville" panose="02000000000000000000"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FA"/>
    <a:srgbClr val="172C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91236B-1947-4E82-8057-A61EDED141A1}" v="6" dt="2024-12-12T04:39:46.0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23" Type="http://schemas.openxmlformats.org/officeDocument/2006/relationships/customXml" Target="../customXml/item3.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RAM MILAD ZAKI GHALI" userId="e233e5a0-e0ae-491d-aa00-8a26c50d9c88" providerId="ADAL" clId="{8C91236B-1947-4E82-8057-A61EDED141A1}"/>
    <pc:docChg chg="custSel modSld">
      <pc:chgData name="IBRAM MILAD ZAKI GHALI" userId="e233e5a0-e0ae-491d-aa00-8a26c50d9c88" providerId="ADAL" clId="{8C91236B-1947-4E82-8057-A61EDED141A1}" dt="2024-12-12T04:39:46.032" v="20"/>
      <pc:docMkLst>
        <pc:docMk/>
      </pc:docMkLst>
      <pc:sldChg chg="addSp delSp modSp mod">
        <pc:chgData name="IBRAM MILAD ZAKI GHALI" userId="e233e5a0-e0ae-491d-aa00-8a26c50d9c88" providerId="ADAL" clId="{8C91236B-1947-4E82-8057-A61EDED141A1}" dt="2024-12-12T04:39:15.010" v="13" actId="207"/>
        <pc:sldMkLst>
          <pc:docMk/>
          <pc:sldMk cId="0" sldId="256"/>
        </pc:sldMkLst>
        <pc:spChg chg="del">
          <ac:chgData name="IBRAM MILAD ZAKI GHALI" userId="e233e5a0-e0ae-491d-aa00-8a26c50d9c88" providerId="ADAL" clId="{8C91236B-1947-4E82-8057-A61EDED141A1}" dt="2024-12-12T04:38:16.195" v="0" actId="478"/>
          <ac:spMkLst>
            <pc:docMk/>
            <pc:sldMk cId="0" sldId="256"/>
            <ac:spMk id="7" creationId="{00000000-0000-0000-0000-000000000000}"/>
          </ac:spMkLst>
        </pc:spChg>
        <pc:spChg chg="add mod">
          <ac:chgData name="IBRAM MILAD ZAKI GHALI" userId="e233e5a0-e0ae-491d-aa00-8a26c50d9c88" providerId="ADAL" clId="{8C91236B-1947-4E82-8057-A61EDED141A1}" dt="2024-12-12T04:39:15.010" v="13" actId="207"/>
          <ac:spMkLst>
            <pc:docMk/>
            <pc:sldMk cId="0" sldId="256"/>
            <ac:spMk id="8" creationId="{F24D8430-E91E-3DA0-BA71-98CA65AD7645}"/>
          </ac:spMkLst>
        </pc:spChg>
        <pc:picChg chg="del">
          <ac:chgData name="IBRAM MILAD ZAKI GHALI" userId="e233e5a0-e0ae-491d-aa00-8a26c50d9c88" providerId="ADAL" clId="{8C91236B-1947-4E82-8057-A61EDED141A1}" dt="2024-12-12T04:38:17.198" v="1" actId="478"/>
          <ac:picMkLst>
            <pc:docMk/>
            <pc:sldMk cId="0" sldId="256"/>
            <ac:picMk id="6" creationId="{00000000-0000-0000-0000-000000000000}"/>
          </ac:picMkLst>
        </pc:picChg>
      </pc:sldChg>
      <pc:sldChg chg="addSp modSp">
        <pc:chgData name="IBRAM MILAD ZAKI GHALI" userId="e233e5a0-e0ae-491d-aa00-8a26c50d9c88" providerId="ADAL" clId="{8C91236B-1947-4E82-8057-A61EDED141A1}" dt="2024-12-12T04:39:21.064" v="14"/>
        <pc:sldMkLst>
          <pc:docMk/>
          <pc:sldMk cId="0" sldId="257"/>
        </pc:sldMkLst>
        <pc:spChg chg="add mod">
          <ac:chgData name="IBRAM MILAD ZAKI GHALI" userId="e233e5a0-e0ae-491d-aa00-8a26c50d9c88" providerId="ADAL" clId="{8C91236B-1947-4E82-8057-A61EDED141A1}" dt="2024-12-12T04:39:21.064" v="14"/>
          <ac:spMkLst>
            <pc:docMk/>
            <pc:sldMk cId="0" sldId="257"/>
            <ac:spMk id="9" creationId="{1323AF9B-5DAB-5A39-662A-34757D168D70}"/>
          </ac:spMkLst>
        </pc:spChg>
      </pc:sldChg>
      <pc:sldChg chg="addSp modSp">
        <pc:chgData name="IBRAM MILAD ZAKI GHALI" userId="e233e5a0-e0ae-491d-aa00-8a26c50d9c88" providerId="ADAL" clId="{8C91236B-1947-4E82-8057-A61EDED141A1}" dt="2024-12-12T04:39:22.969" v="15"/>
        <pc:sldMkLst>
          <pc:docMk/>
          <pc:sldMk cId="0" sldId="258"/>
        </pc:sldMkLst>
        <pc:spChg chg="add mod">
          <ac:chgData name="IBRAM MILAD ZAKI GHALI" userId="e233e5a0-e0ae-491d-aa00-8a26c50d9c88" providerId="ADAL" clId="{8C91236B-1947-4E82-8057-A61EDED141A1}" dt="2024-12-12T04:39:22.969" v="15"/>
          <ac:spMkLst>
            <pc:docMk/>
            <pc:sldMk cId="0" sldId="258"/>
            <ac:spMk id="16" creationId="{504E052E-D932-0477-46CD-CD07FF1707E5}"/>
          </ac:spMkLst>
        </pc:spChg>
      </pc:sldChg>
      <pc:sldChg chg="addSp modSp">
        <pc:chgData name="IBRAM MILAD ZAKI GHALI" userId="e233e5a0-e0ae-491d-aa00-8a26c50d9c88" providerId="ADAL" clId="{8C91236B-1947-4E82-8057-A61EDED141A1}" dt="2024-12-12T04:39:24.885" v="16"/>
        <pc:sldMkLst>
          <pc:docMk/>
          <pc:sldMk cId="0" sldId="259"/>
        </pc:sldMkLst>
        <pc:spChg chg="add mod">
          <ac:chgData name="IBRAM MILAD ZAKI GHALI" userId="e233e5a0-e0ae-491d-aa00-8a26c50d9c88" providerId="ADAL" clId="{8C91236B-1947-4E82-8057-A61EDED141A1}" dt="2024-12-12T04:39:24.885" v="16"/>
          <ac:spMkLst>
            <pc:docMk/>
            <pc:sldMk cId="0" sldId="259"/>
            <ac:spMk id="13" creationId="{012FEF14-7A7A-56EC-0B6E-D27444197FB1}"/>
          </ac:spMkLst>
        </pc:spChg>
      </pc:sldChg>
      <pc:sldChg chg="addSp modSp mod">
        <pc:chgData name="IBRAM MILAD ZAKI GHALI" userId="e233e5a0-e0ae-491d-aa00-8a26c50d9c88" providerId="ADAL" clId="{8C91236B-1947-4E82-8057-A61EDED141A1}" dt="2024-12-12T04:39:34.642" v="18" actId="14100"/>
        <pc:sldMkLst>
          <pc:docMk/>
          <pc:sldMk cId="0" sldId="260"/>
        </pc:sldMkLst>
        <pc:spChg chg="add mod">
          <ac:chgData name="IBRAM MILAD ZAKI GHALI" userId="e233e5a0-e0ae-491d-aa00-8a26c50d9c88" providerId="ADAL" clId="{8C91236B-1947-4E82-8057-A61EDED141A1}" dt="2024-12-12T04:39:34.642" v="18" actId="14100"/>
          <ac:spMkLst>
            <pc:docMk/>
            <pc:sldMk cId="0" sldId="260"/>
            <ac:spMk id="13" creationId="{82A03A93-9E0A-FA53-C442-7FCDA6CA87EB}"/>
          </ac:spMkLst>
        </pc:spChg>
      </pc:sldChg>
      <pc:sldChg chg="addSp modSp">
        <pc:chgData name="IBRAM MILAD ZAKI GHALI" userId="e233e5a0-e0ae-491d-aa00-8a26c50d9c88" providerId="ADAL" clId="{8C91236B-1947-4E82-8057-A61EDED141A1}" dt="2024-12-12T04:39:42.371" v="19"/>
        <pc:sldMkLst>
          <pc:docMk/>
          <pc:sldMk cId="0" sldId="262"/>
        </pc:sldMkLst>
        <pc:spChg chg="add mod">
          <ac:chgData name="IBRAM MILAD ZAKI GHALI" userId="e233e5a0-e0ae-491d-aa00-8a26c50d9c88" providerId="ADAL" clId="{8C91236B-1947-4E82-8057-A61EDED141A1}" dt="2024-12-12T04:39:42.371" v="19"/>
          <ac:spMkLst>
            <pc:docMk/>
            <pc:sldMk cId="0" sldId="262"/>
            <ac:spMk id="17" creationId="{4B00A045-6B32-ED37-C225-6870D43FB3A9}"/>
          </ac:spMkLst>
        </pc:spChg>
      </pc:sldChg>
      <pc:sldChg chg="addSp modSp">
        <pc:chgData name="IBRAM MILAD ZAKI GHALI" userId="e233e5a0-e0ae-491d-aa00-8a26c50d9c88" providerId="ADAL" clId="{8C91236B-1947-4E82-8057-A61EDED141A1}" dt="2024-12-12T04:39:46.032" v="20"/>
        <pc:sldMkLst>
          <pc:docMk/>
          <pc:sldMk cId="0" sldId="264"/>
        </pc:sldMkLst>
        <pc:spChg chg="add mod">
          <ac:chgData name="IBRAM MILAD ZAKI GHALI" userId="e233e5a0-e0ae-491d-aa00-8a26c50d9c88" providerId="ADAL" clId="{8C91236B-1947-4E82-8057-A61EDED141A1}" dt="2024-12-12T04:39:46.032" v="20"/>
          <ac:spMkLst>
            <pc:docMk/>
            <pc:sldMk cId="0" sldId="264"/>
            <ac:spMk id="18" creationId="{428B230C-B543-8322-232D-F4C0A42648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7920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12401"/>
            <a:ext cx="7556421" cy="2835116"/>
          </a:xfrm>
          <a:prstGeom prst="rect">
            <a:avLst/>
          </a:prstGeom>
          <a:noFill/>
          <a:ln/>
        </p:spPr>
        <p:txBody>
          <a:bodyPr wrap="square" lIns="0" tIns="0" rIns="0" bIns="0" rtlCol="0" anchor="t"/>
          <a:lstStyle/>
          <a:p>
            <a:pPr marL="0" indent="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Enhancing Blockchain, Federated Learning, and Homomorphic Encryption Integration</a:t>
            </a:r>
            <a:endParaRPr lang="en-US" sz="4450" dirty="0"/>
          </a:p>
        </p:txBody>
      </p:sp>
      <p:sp>
        <p:nvSpPr>
          <p:cNvPr id="4" name="Text 1"/>
          <p:cNvSpPr/>
          <p:nvPr/>
        </p:nvSpPr>
        <p:spPr>
          <a:xfrm>
            <a:off x="6280190" y="4287679"/>
            <a:ext cx="7556421" cy="2177415"/>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This presentation explores advanced solutions to improve privacy, scalability, efficiency, and applicability of integrated Blockchain, Federated Learning (FL), and Homomorphic Encryption (HE) systems. We'll examine current strengths, address limitations, and propose enhancements for deploying scalable and efficient decentralized learning systems in real-world environments.</a:t>
            </a:r>
            <a:endParaRPr lang="en-US" sz="1750" dirty="0"/>
          </a:p>
        </p:txBody>
      </p:sp>
      <p:sp>
        <p:nvSpPr>
          <p:cNvPr id="5" name="Shape 2"/>
          <p:cNvSpPr/>
          <p:nvPr/>
        </p:nvSpPr>
        <p:spPr>
          <a:xfrm>
            <a:off x="6280190" y="6737152"/>
            <a:ext cx="362903" cy="362903"/>
          </a:xfrm>
          <a:prstGeom prst="roundRect">
            <a:avLst>
              <a:gd name="adj" fmla="val 25194296"/>
            </a:avLst>
          </a:prstGeom>
          <a:noFill/>
          <a:ln w="7620">
            <a:solidFill>
              <a:srgbClr val="FFFFFF"/>
            </a:solidFill>
            <a:prstDash val="solid"/>
          </a:ln>
        </p:spPr>
        <p:txBody>
          <a:bodyPr/>
          <a:lstStyle/>
          <a:p>
            <a:endParaRPr lang="en-GB"/>
          </a:p>
        </p:txBody>
      </p:sp>
      <p:sp>
        <p:nvSpPr>
          <p:cNvPr id="8" name="Rectangle 7">
            <a:extLst>
              <a:ext uri="{FF2B5EF4-FFF2-40B4-BE49-F238E27FC236}">
                <a16:creationId xmlns:a16="http://schemas.microsoft.com/office/drawing/2014/main" id="{F24D8430-E91E-3DA0-BA71-98CA65AD7645}"/>
              </a:ext>
            </a:extLst>
          </p:cNvPr>
          <p:cNvSpPr/>
          <p:nvPr/>
        </p:nvSpPr>
        <p:spPr>
          <a:xfrm>
            <a:off x="12612029" y="7672038"/>
            <a:ext cx="1918010" cy="446049"/>
          </a:xfrm>
          <a:prstGeom prst="rect">
            <a:avLst/>
          </a:prstGeom>
          <a:solidFill>
            <a:srgbClr val="FFFDFA"/>
          </a:solidFill>
          <a:ln>
            <a:solidFill>
              <a:srgbClr val="FFFD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58509"/>
            <a:ext cx="11526083" cy="708779"/>
          </a:xfrm>
          <a:prstGeom prst="rect">
            <a:avLst/>
          </a:prstGeom>
          <a:noFill/>
          <a:ln/>
        </p:spPr>
        <p:txBody>
          <a:bodyPr wrap="none" lIns="0" tIns="0" rIns="0" bIns="0" rtlCol="0" anchor="t"/>
          <a:lstStyle/>
          <a:p>
            <a:pPr marL="0" indent="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Current Strengths: Privacy and Security</a:t>
            </a:r>
            <a:endParaRPr lang="en-US" sz="4450" dirty="0"/>
          </a:p>
        </p:txBody>
      </p:sp>
      <p:sp>
        <p:nvSpPr>
          <p:cNvPr id="3" name="Text 1"/>
          <p:cNvSpPr/>
          <p:nvPr/>
        </p:nvSpPr>
        <p:spPr>
          <a:xfrm>
            <a:off x="793790" y="3634264"/>
            <a:ext cx="2845951" cy="354330"/>
          </a:xfrm>
          <a:prstGeom prst="rect">
            <a:avLst/>
          </a:prstGeom>
          <a:noFill/>
          <a:ln/>
        </p:spPr>
        <p:txBody>
          <a:bodyPr wrap="none" lIns="0" tIns="0" rIns="0" bIns="0" rtlCol="0" anchor="t"/>
          <a:lstStyle/>
          <a:p>
            <a:pPr marL="0" indent="0">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Federated Learning</a:t>
            </a:r>
            <a:endParaRPr lang="en-US" sz="2200" dirty="0"/>
          </a:p>
        </p:txBody>
      </p:sp>
      <p:sp>
        <p:nvSpPr>
          <p:cNvPr id="4" name="Text 2"/>
          <p:cNvSpPr/>
          <p:nvPr/>
        </p:nvSpPr>
        <p:spPr>
          <a:xfrm>
            <a:off x="793790" y="4215408"/>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Ensures raw data remains localized at individual nodes, addressing privacy concerns and aligning with regulations like GDPR and HIPAA.</a:t>
            </a:r>
            <a:endParaRPr lang="en-US" sz="1750" dirty="0"/>
          </a:p>
        </p:txBody>
      </p:sp>
      <p:sp>
        <p:nvSpPr>
          <p:cNvPr id="5" name="Text 3"/>
          <p:cNvSpPr/>
          <p:nvPr/>
        </p:nvSpPr>
        <p:spPr>
          <a:xfrm>
            <a:off x="5332928" y="3634264"/>
            <a:ext cx="3916799" cy="354330"/>
          </a:xfrm>
          <a:prstGeom prst="rect">
            <a:avLst/>
          </a:prstGeom>
          <a:noFill/>
          <a:ln/>
        </p:spPr>
        <p:txBody>
          <a:bodyPr wrap="none" lIns="0" tIns="0" rIns="0" bIns="0" rtlCol="0" anchor="t"/>
          <a:lstStyle/>
          <a:p>
            <a:pPr marL="0" indent="0">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Homomorphic Encryption</a:t>
            </a:r>
            <a:endParaRPr lang="en-US" sz="2200" dirty="0"/>
          </a:p>
        </p:txBody>
      </p:sp>
      <p:sp>
        <p:nvSpPr>
          <p:cNvPr id="6" name="Text 4"/>
          <p:cNvSpPr/>
          <p:nvPr/>
        </p:nvSpPr>
        <p:spPr>
          <a:xfrm>
            <a:off x="5332928" y="4215408"/>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Enables computations on encrypted data, ensuring privacy even during processing and transmission of model updates.</a:t>
            </a:r>
            <a:endParaRPr lang="en-US" sz="1750" dirty="0"/>
          </a:p>
        </p:txBody>
      </p:sp>
      <p:sp>
        <p:nvSpPr>
          <p:cNvPr id="7" name="Text 5"/>
          <p:cNvSpPr/>
          <p:nvPr/>
        </p:nvSpPr>
        <p:spPr>
          <a:xfrm>
            <a:off x="9872067" y="3634264"/>
            <a:ext cx="2894648" cy="354330"/>
          </a:xfrm>
          <a:prstGeom prst="rect">
            <a:avLst/>
          </a:prstGeom>
          <a:noFill/>
          <a:ln/>
        </p:spPr>
        <p:txBody>
          <a:bodyPr wrap="none" lIns="0" tIns="0" rIns="0" bIns="0" rtlCol="0" anchor="t"/>
          <a:lstStyle/>
          <a:p>
            <a:pPr marL="0" indent="0">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Blockchain Security</a:t>
            </a:r>
            <a:endParaRPr lang="en-US" sz="2200" dirty="0"/>
          </a:p>
        </p:txBody>
      </p:sp>
      <p:sp>
        <p:nvSpPr>
          <p:cNvPr id="8" name="Text 6"/>
          <p:cNvSpPr/>
          <p:nvPr/>
        </p:nvSpPr>
        <p:spPr>
          <a:xfrm>
            <a:off x="9872067" y="4215408"/>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Provides an immutable ledger, decentralization, and smart contracts for automated validation and aggregation processes.</a:t>
            </a:r>
            <a:endParaRPr lang="en-US" sz="1750" dirty="0"/>
          </a:p>
        </p:txBody>
      </p:sp>
      <p:sp>
        <p:nvSpPr>
          <p:cNvPr id="9" name="Rectangle 8">
            <a:extLst>
              <a:ext uri="{FF2B5EF4-FFF2-40B4-BE49-F238E27FC236}">
                <a16:creationId xmlns:a16="http://schemas.microsoft.com/office/drawing/2014/main" id="{1323AF9B-5DAB-5A39-662A-34757D168D70}"/>
              </a:ext>
            </a:extLst>
          </p:cNvPr>
          <p:cNvSpPr/>
          <p:nvPr/>
        </p:nvSpPr>
        <p:spPr>
          <a:xfrm>
            <a:off x="12612029" y="7672038"/>
            <a:ext cx="1918010" cy="446049"/>
          </a:xfrm>
          <a:prstGeom prst="rect">
            <a:avLst/>
          </a:prstGeom>
          <a:solidFill>
            <a:srgbClr val="FFFDFA"/>
          </a:solidFill>
          <a:ln>
            <a:solidFill>
              <a:srgbClr val="FFFD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21068"/>
            <a:ext cx="5824061" cy="708779"/>
          </a:xfrm>
          <a:prstGeom prst="rect">
            <a:avLst/>
          </a:prstGeom>
          <a:noFill/>
          <a:ln/>
        </p:spPr>
        <p:txBody>
          <a:bodyPr wrap="none" lIns="0" tIns="0" rIns="0" bIns="0" rtlCol="0" anchor="t"/>
          <a:lstStyle/>
          <a:p>
            <a:pPr marL="0" indent="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Current Limitations</a:t>
            </a:r>
            <a:endParaRPr lang="en-US" sz="4450" dirty="0"/>
          </a:p>
        </p:txBody>
      </p:sp>
      <p:sp>
        <p:nvSpPr>
          <p:cNvPr id="4" name="Shape 1"/>
          <p:cNvSpPr/>
          <p:nvPr/>
        </p:nvSpPr>
        <p:spPr>
          <a:xfrm>
            <a:off x="6280190" y="2225159"/>
            <a:ext cx="396835" cy="396835"/>
          </a:xfrm>
          <a:prstGeom prst="roundRect">
            <a:avLst>
              <a:gd name="adj" fmla="val 24007"/>
            </a:avLst>
          </a:prstGeom>
          <a:solidFill>
            <a:srgbClr val="F7EDD4"/>
          </a:solidFill>
          <a:ln w="7620">
            <a:solidFill>
              <a:srgbClr val="DDD3BA"/>
            </a:solidFill>
            <a:prstDash val="solid"/>
          </a:ln>
        </p:spPr>
        <p:txBody>
          <a:bodyPr/>
          <a:lstStyle/>
          <a:p>
            <a:endParaRPr lang="en-GB"/>
          </a:p>
        </p:txBody>
      </p:sp>
      <p:sp>
        <p:nvSpPr>
          <p:cNvPr id="5" name="Text 2"/>
          <p:cNvSpPr/>
          <p:nvPr/>
        </p:nvSpPr>
        <p:spPr>
          <a:xfrm>
            <a:off x="6903839" y="2225159"/>
            <a:ext cx="3041213" cy="708660"/>
          </a:xfrm>
          <a:prstGeom prst="rect">
            <a:avLst/>
          </a:prstGeom>
          <a:noFill/>
          <a:ln/>
        </p:spPr>
        <p:txBody>
          <a:bodyPr wrap="square" lIns="0" tIns="0" rIns="0" bIns="0" rtlCol="0" anchor="t"/>
          <a:lstStyle/>
          <a:p>
            <a:pPr marL="0" indent="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Scalability Bottlenecks</a:t>
            </a:r>
            <a:endParaRPr lang="en-US" sz="2200" dirty="0"/>
          </a:p>
        </p:txBody>
      </p:sp>
      <p:sp>
        <p:nvSpPr>
          <p:cNvPr id="6" name="Text 3"/>
          <p:cNvSpPr/>
          <p:nvPr/>
        </p:nvSpPr>
        <p:spPr>
          <a:xfrm>
            <a:off x="6903839" y="3069908"/>
            <a:ext cx="3041213" cy="1451610"/>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Blockchain latency and high node count lead to processing and storage limitations.</a:t>
            </a:r>
            <a:endParaRPr lang="en-US" sz="1750" dirty="0"/>
          </a:p>
        </p:txBody>
      </p:sp>
      <p:sp>
        <p:nvSpPr>
          <p:cNvPr id="7" name="Shape 4"/>
          <p:cNvSpPr/>
          <p:nvPr/>
        </p:nvSpPr>
        <p:spPr>
          <a:xfrm>
            <a:off x="10171867" y="2225159"/>
            <a:ext cx="396835" cy="396835"/>
          </a:xfrm>
          <a:prstGeom prst="roundRect">
            <a:avLst>
              <a:gd name="adj" fmla="val 24007"/>
            </a:avLst>
          </a:prstGeom>
          <a:solidFill>
            <a:srgbClr val="F7EDD4"/>
          </a:solidFill>
          <a:ln w="7620">
            <a:solidFill>
              <a:srgbClr val="DDD3BA"/>
            </a:solidFill>
            <a:prstDash val="solid"/>
          </a:ln>
        </p:spPr>
        <p:txBody>
          <a:bodyPr/>
          <a:lstStyle/>
          <a:p>
            <a:endParaRPr lang="en-GB"/>
          </a:p>
        </p:txBody>
      </p:sp>
      <p:sp>
        <p:nvSpPr>
          <p:cNvPr id="8" name="Text 5"/>
          <p:cNvSpPr/>
          <p:nvPr/>
        </p:nvSpPr>
        <p:spPr>
          <a:xfrm>
            <a:off x="10795516" y="2225159"/>
            <a:ext cx="3041213" cy="708660"/>
          </a:xfrm>
          <a:prstGeom prst="rect">
            <a:avLst/>
          </a:prstGeom>
          <a:noFill/>
          <a:ln/>
        </p:spPr>
        <p:txBody>
          <a:bodyPr wrap="square" lIns="0" tIns="0" rIns="0" bIns="0" rtlCol="0" anchor="t"/>
          <a:lstStyle/>
          <a:p>
            <a:pPr marL="0" indent="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Computational Overhead</a:t>
            </a:r>
            <a:endParaRPr lang="en-US" sz="2200" dirty="0"/>
          </a:p>
        </p:txBody>
      </p:sp>
      <p:sp>
        <p:nvSpPr>
          <p:cNvPr id="9" name="Text 6"/>
          <p:cNvSpPr/>
          <p:nvPr/>
        </p:nvSpPr>
        <p:spPr>
          <a:xfrm>
            <a:off x="10795516" y="3069908"/>
            <a:ext cx="3041213" cy="1451610"/>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Homomorphic Encryption and complex smart contracts increase processing demands.</a:t>
            </a:r>
            <a:endParaRPr lang="en-US" sz="1750" dirty="0"/>
          </a:p>
        </p:txBody>
      </p:sp>
      <p:sp>
        <p:nvSpPr>
          <p:cNvPr id="10" name="Shape 7"/>
          <p:cNvSpPr/>
          <p:nvPr/>
        </p:nvSpPr>
        <p:spPr>
          <a:xfrm>
            <a:off x="6280190" y="5003483"/>
            <a:ext cx="396835" cy="396835"/>
          </a:xfrm>
          <a:prstGeom prst="roundRect">
            <a:avLst>
              <a:gd name="adj" fmla="val 24007"/>
            </a:avLst>
          </a:prstGeom>
          <a:solidFill>
            <a:srgbClr val="F7EDD4"/>
          </a:solidFill>
          <a:ln w="7620">
            <a:solidFill>
              <a:srgbClr val="DDD3BA"/>
            </a:solidFill>
            <a:prstDash val="solid"/>
          </a:ln>
        </p:spPr>
        <p:txBody>
          <a:bodyPr/>
          <a:lstStyle/>
          <a:p>
            <a:endParaRPr lang="en-GB"/>
          </a:p>
        </p:txBody>
      </p:sp>
      <p:sp>
        <p:nvSpPr>
          <p:cNvPr id="11" name="Text 8"/>
          <p:cNvSpPr/>
          <p:nvPr/>
        </p:nvSpPr>
        <p:spPr>
          <a:xfrm>
            <a:off x="6903839" y="5003483"/>
            <a:ext cx="2975491" cy="354330"/>
          </a:xfrm>
          <a:prstGeom prst="rect">
            <a:avLst/>
          </a:prstGeom>
          <a:noFill/>
          <a:ln/>
        </p:spPr>
        <p:txBody>
          <a:bodyPr wrap="none" lIns="0" tIns="0" rIns="0" bIns="0" rtlCol="0" anchor="t"/>
          <a:lstStyle/>
          <a:p>
            <a:pPr marL="0" indent="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Domain Narrowness</a:t>
            </a:r>
            <a:endParaRPr lang="en-US" sz="2200" dirty="0"/>
          </a:p>
        </p:txBody>
      </p:sp>
      <p:sp>
        <p:nvSpPr>
          <p:cNvPr id="12" name="Text 9"/>
          <p:cNvSpPr/>
          <p:nvPr/>
        </p:nvSpPr>
        <p:spPr>
          <a:xfrm>
            <a:off x="6903839" y="5493901"/>
            <a:ext cx="3041213" cy="1814513"/>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Current frameworks focus heavily on financial applications, leaving other critical domains underexplored.</a:t>
            </a:r>
            <a:endParaRPr lang="en-US" sz="1750" dirty="0"/>
          </a:p>
        </p:txBody>
      </p:sp>
      <p:sp>
        <p:nvSpPr>
          <p:cNvPr id="13" name="Shape 10"/>
          <p:cNvSpPr/>
          <p:nvPr/>
        </p:nvSpPr>
        <p:spPr>
          <a:xfrm>
            <a:off x="10171867" y="5003483"/>
            <a:ext cx="396835" cy="396835"/>
          </a:xfrm>
          <a:prstGeom prst="roundRect">
            <a:avLst>
              <a:gd name="adj" fmla="val 24007"/>
            </a:avLst>
          </a:prstGeom>
          <a:solidFill>
            <a:srgbClr val="F7EDD4"/>
          </a:solidFill>
          <a:ln w="7620">
            <a:solidFill>
              <a:srgbClr val="DDD3BA"/>
            </a:solidFill>
            <a:prstDash val="solid"/>
          </a:ln>
        </p:spPr>
        <p:txBody>
          <a:bodyPr/>
          <a:lstStyle/>
          <a:p>
            <a:endParaRPr lang="en-GB"/>
          </a:p>
        </p:txBody>
      </p:sp>
      <p:sp>
        <p:nvSpPr>
          <p:cNvPr id="14" name="Text 11"/>
          <p:cNvSpPr/>
          <p:nvPr/>
        </p:nvSpPr>
        <p:spPr>
          <a:xfrm>
            <a:off x="10795516" y="5003483"/>
            <a:ext cx="3041213" cy="708660"/>
          </a:xfrm>
          <a:prstGeom prst="rect">
            <a:avLst/>
          </a:prstGeom>
          <a:noFill/>
          <a:ln/>
        </p:spPr>
        <p:txBody>
          <a:bodyPr wrap="square" lIns="0" tIns="0" rIns="0" bIns="0" rtlCol="0" anchor="t"/>
          <a:lstStyle/>
          <a:p>
            <a:pPr marL="0" indent="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Non-IID Data Handling</a:t>
            </a:r>
            <a:endParaRPr lang="en-US" sz="2200" dirty="0"/>
          </a:p>
        </p:txBody>
      </p:sp>
      <p:sp>
        <p:nvSpPr>
          <p:cNvPr id="15" name="Text 12"/>
          <p:cNvSpPr/>
          <p:nvPr/>
        </p:nvSpPr>
        <p:spPr>
          <a:xfrm>
            <a:off x="10795516" y="5848231"/>
            <a:ext cx="3041213" cy="1451610"/>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Difficulty in generalizing models across non-independent and identically distributed data patterns.</a:t>
            </a:r>
            <a:endParaRPr lang="en-US" sz="1750" dirty="0"/>
          </a:p>
        </p:txBody>
      </p:sp>
      <p:sp>
        <p:nvSpPr>
          <p:cNvPr id="16" name="Rectangle 15">
            <a:extLst>
              <a:ext uri="{FF2B5EF4-FFF2-40B4-BE49-F238E27FC236}">
                <a16:creationId xmlns:a16="http://schemas.microsoft.com/office/drawing/2014/main" id="{504E052E-D932-0477-46CD-CD07FF1707E5}"/>
              </a:ext>
            </a:extLst>
          </p:cNvPr>
          <p:cNvSpPr/>
          <p:nvPr/>
        </p:nvSpPr>
        <p:spPr>
          <a:xfrm>
            <a:off x="12612029" y="7672038"/>
            <a:ext cx="1918010" cy="446049"/>
          </a:xfrm>
          <a:prstGeom prst="rect">
            <a:avLst/>
          </a:prstGeom>
          <a:solidFill>
            <a:srgbClr val="FFFDFA"/>
          </a:solidFill>
          <a:ln>
            <a:solidFill>
              <a:srgbClr val="FFFD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68561"/>
            <a:ext cx="6281618" cy="708779"/>
          </a:xfrm>
          <a:prstGeom prst="rect">
            <a:avLst/>
          </a:prstGeom>
          <a:noFill/>
          <a:ln/>
        </p:spPr>
        <p:txBody>
          <a:bodyPr wrap="none" lIns="0" tIns="0" rIns="0" bIns="0" rtlCol="0" anchor="t"/>
          <a:lstStyle/>
          <a:p>
            <a:pPr marL="0" indent="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Enhancing Scalability</a:t>
            </a:r>
            <a:endParaRPr lang="en-US" sz="4450" dirty="0"/>
          </a:p>
        </p:txBody>
      </p:sp>
      <p:pic>
        <p:nvPicPr>
          <p:cNvPr id="4" name="Image 1" descr="preencoded.png"/>
          <p:cNvPicPr>
            <a:picLocks noChangeAspect="1"/>
          </p:cNvPicPr>
          <p:nvPr/>
        </p:nvPicPr>
        <p:blipFill>
          <a:blip r:embed="rId4"/>
          <a:stretch>
            <a:fillRect/>
          </a:stretch>
        </p:blipFill>
        <p:spPr>
          <a:xfrm>
            <a:off x="6280190" y="1917502"/>
            <a:ext cx="1134070" cy="1814513"/>
          </a:xfrm>
          <a:prstGeom prst="rect">
            <a:avLst/>
          </a:prstGeom>
        </p:spPr>
      </p:pic>
      <p:sp>
        <p:nvSpPr>
          <p:cNvPr id="5" name="Text 1"/>
          <p:cNvSpPr/>
          <p:nvPr/>
        </p:nvSpPr>
        <p:spPr>
          <a:xfrm>
            <a:off x="7754422" y="2144316"/>
            <a:ext cx="2899767"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Sharded Blockchain</a:t>
            </a:r>
            <a:endParaRPr lang="en-US" sz="2200" dirty="0"/>
          </a:p>
        </p:txBody>
      </p:sp>
      <p:sp>
        <p:nvSpPr>
          <p:cNvPr id="6" name="Text 2"/>
          <p:cNvSpPr/>
          <p:nvPr/>
        </p:nvSpPr>
        <p:spPr>
          <a:xfrm>
            <a:off x="7754422" y="2634734"/>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Partition the blockchain into shards for parallel processing, boosting transaction throughput.</a:t>
            </a:r>
            <a:endParaRPr lang="en-US" sz="1750" dirty="0"/>
          </a:p>
        </p:txBody>
      </p:sp>
      <p:pic>
        <p:nvPicPr>
          <p:cNvPr id="7" name="Image 2" descr="preencoded.png"/>
          <p:cNvPicPr>
            <a:picLocks noChangeAspect="1"/>
          </p:cNvPicPr>
          <p:nvPr/>
        </p:nvPicPr>
        <p:blipFill>
          <a:blip r:embed="rId5"/>
          <a:stretch>
            <a:fillRect/>
          </a:stretch>
        </p:blipFill>
        <p:spPr>
          <a:xfrm>
            <a:off x="6280190" y="3732014"/>
            <a:ext cx="1134070" cy="1814513"/>
          </a:xfrm>
          <a:prstGeom prst="rect">
            <a:avLst/>
          </a:prstGeom>
        </p:spPr>
      </p:pic>
      <p:sp>
        <p:nvSpPr>
          <p:cNvPr id="8" name="Text 3"/>
          <p:cNvSpPr/>
          <p:nvPr/>
        </p:nvSpPr>
        <p:spPr>
          <a:xfrm>
            <a:off x="7754422" y="39588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Layer 2 Solutions</a:t>
            </a:r>
            <a:endParaRPr lang="en-US" sz="2200" dirty="0"/>
          </a:p>
        </p:txBody>
      </p:sp>
      <p:sp>
        <p:nvSpPr>
          <p:cNvPr id="9" name="Text 4"/>
          <p:cNvSpPr/>
          <p:nvPr/>
        </p:nvSpPr>
        <p:spPr>
          <a:xfrm>
            <a:off x="7754422" y="4449247"/>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Use off-chain computations for faster processing, reducing main chain congestion.</a:t>
            </a:r>
            <a:endParaRPr lang="en-US" sz="1750" dirty="0"/>
          </a:p>
        </p:txBody>
      </p:sp>
      <p:pic>
        <p:nvPicPr>
          <p:cNvPr id="10" name="Image 3" descr="preencoded.png"/>
          <p:cNvPicPr>
            <a:picLocks noChangeAspect="1"/>
          </p:cNvPicPr>
          <p:nvPr/>
        </p:nvPicPr>
        <p:blipFill>
          <a:blip r:embed="rId6"/>
          <a:stretch>
            <a:fillRect/>
          </a:stretch>
        </p:blipFill>
        <p:spPr>
          <a:xfrm>
            <a:off x="6280190" y="5546527"/>
            <a:ext cx="1134070" cy="1814513"/>
          </a:xfrm>
          <a:prstGeom prst="rect">
            <a:avLst/>
          </a:prstGeom>
        </p:spPr>
      </p:pic>
      <p:sp>
        <p:nvSpPr>
          <p:cNvPr id="11" name="Text 5"/>
          <p:cNvSpPr/>
          <p:nvPr/>
        </p:nvSpPr>
        <p:spPr>
          <a:xfrm>
            <a:off x="7754422" y="57733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Asynchronous FL</a:t>
            </a:r>
            <a:endParaRPr lang="en-US" sz="2200" dirty="0"/>
          </a:p>
        </p:txBody>
      </p:sp>
      <p:sp>
        <p:nvSpPr>
          <p:cNvPr id="12" name="Text 6"/>
          <p:cNvSpPr/>
          <p:nvPr/>
        </p:nvSpPr>
        <p:spPr>
          <a:xfrm>
            <a:off x="7754422" y="6263759"/>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Allow nodes to submit updates asynchronously, reducing synchronization delays.</a:t>
            </a:r>
            <a:endParaRPr lang="en-US" sz="1750" dirty="0"/>
          </a:p>
        </p:txBody>
      </p:sp>
      <p:sp>
        <p:nvSpPr>
          <p:cNvPr id="13" name="Rectangle 12">
            <a:extLst>
              <a:ext uri="{FF2B5EF4-FFF2-40B4-BE49-F238E27FC236}">
                <a16:creationId xmlns:a16="http://schemas.microsoft.com/office/drawing/2014/main" id="{012FEF14-7A7A-56EC-0B6E-D27444197FB1}"/>
              </a:ext>
            </a:extLst>
          </p:cNvPr>
          <p:cNvSpPr/>
          <p:nvPr/>
        </p:nvSpPr>
        <p:spPr>
          <a:xfrm>
            <a:off x="12612029" y="7672038"/>
            <a:ext cx="1918010" cy="446049"/>
          </a:xfrm>
          <a:prstGeom prst="rect">
            <a:avLst/>
          </a:prstGeom>
          <a:solidFill>
            <a:srgbClr val="FFFDFA"/>
          </a:solidFill>
          <a:ln>
            <a:solidFill>
              <a:srgbClr val="FFFD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7434" y="511969"/>
            <a:ext cx="7841933" cy="1162526"/>
          </a:xfrm>
          <a:prstGeom prst="rect">
            <a:avLst/>
          </a:prstGeom>
          <a:noFill/>
          <a:ln/>
        </p:spPr>
        <p:txBody>
          <a:bodyPr wrap="square" lIns="0" tIns="0" rIns="0" bIns="0" rtlCol="0" anchor="t"/>
          <a:lstStyle/>
          <a:p>
            <a:pPr marL="0" indent="0">
              <a:lnSpc>
                <a:spcPts val="4550"/>
              </a:lnSpc>
              <a:buNone/>
            </a:pPr>
            <a:r>
              <a:rPr lang="en-US" sz="3650" dirty="0">
                <a:solidFill>
                  <a:srgbClr val="5C4E3D"/>
                </a:solidFill>
                <a:latin typeface="Libre Baskerville" pitchFamily="34" charset="0"/>
                <a:ea typeface="Libre Baskerville" pitchFamily="34" charset="-122"/>
                <a:cs typeface="Libre Baskerville" pitchFamily="34" charset="-120"/>
              </a:rPr>
              <a:t>Optimizing Computational Efficiency</a:t>
            </a:r>
            <a:endParaRPr lang="en-US" sz="3650" dirty="0"/>
          </a:p>
        </p:txBody>
      </p:sp>
      <p:pic>
        <p:nvPicPr>
          <p:cNvPr id="4" name="Image 1" descr="preencoded.png"/>
          <p:cNvPicPr>
            <a:picLocks noChangeAspect="1"/>
          </p:cNvPicPr>
          <p:nvPr/>
        </p:nvPicPr>
        <p:blipFill>
          <a:blip r:embed="rId4"/>
          <a:stretch>
            <a:fillRect/>
          </a:stretch>
        </p:blipFill>
        <p:spPr>
          <a:xfrm>
            <a:off x="6137434" y="1953458"/>
            <a:ext cx="465058" cy="465058"/>
          </a:xfrm>
          <a:prstGeom prst="rect">
            <a:avLst/>
          </a:prstGeom>
        </p:spPr>
      </p:pic>
      <p:sp>
        <p:nvSpPr>
          <p:cNvPr id="5" name="Text 1"/>
          <p:cNvSpPr/>
          <p:nvPr/>
        </p:nvSpPr>
        <p:spPr>
          <a:xfrm>
            <a:off x="6137434" y="2604492"/>
            <a:ext cx="2325410" cy="290632"/>
          </a:xfrm>
          <a:prstGeom prst="rect">
            <a:avLst/>
          </a:prstGeom>
          <a:noFill/>
          <a:ln/>
        </p:spPr>
        <p:txBody>
          <a:bodyPr wrap="none" lIns="0" tIns="0" rIns="0" bIns="0" rtlCol="0" anchor="t"/>
          <a:lstStyle/>
          <a:p>
            <a:pPr marL="0" indent="0" algn="l">
              <a:lnSpc>
                <a:spcPts val="2250"/>
              </a:lnSpc>
              <a:buNone/>
            </a:pPr>
            <a:r>
              <a:rPr lang="en-US" sz="1800" dirty="0">
                <a:solidFill>
                  <a:srgbClr val="454240"/>
                </a:solidFill>
                <a:latin typeface="Libre Baskerville" pitchFamily="34" charset="0"/>
                <a:ea typeface="Libre Baskerville" pitchFamily="34" charset="-122"/>
                <a:cs typeface="Libre Baskerville" pitchFamily="34" charset="-120"/>
              </a:rPr>
              <a:t>Hybrid Encryption</a:t>
            </a:r>
            <a:endParaRPr lang="en-US" sz="1800" dirty="0"/>
          </a:p>
        </p:txBody>
      </p:sp>
      <p:sp>
        <p:nvSpPr>
          <p:cNvPr id="6" name="Text 2"/>
          <p:cNvSpPr/>
          <p:nvPr/>
        </p:nvSpPr>
        <p:spPr>
          <a:xfrm>
            <a:off x="6137434" y="3006685"/>
            <a:ext cx="7841933" cy="595313"/>
          </a:xfrm>
          <a:prstGeom prst="rect">
            <a:avLst/>
          </a:prstGeom>
          <a:noFill/>
          <a:ln/>
        </p:spPr>
        <p:txBody>
          <a:bodyPr wrap="square" lIns="0" tIns="0" rIns="0" bIns="0" rtlCol="0" anchor="t"/>
          <a:lstStyle/>
          <a:p>
            <a:pPr marL="0" indent="0" algn="l">
              <a:lnSpc>
                <a:spcPts val="2300"/>
              </a:lnSpc>
              <a:buNone/>
            </a:pPr>
            <a:r>
              <a:rPr lang="en-US" sz="1450" dirty="0">
                <a:solidFill>
                  <a:srgbClr val="454240"/>
                </a:solidFill>
                <a:latin typeface="DM Sans" pitchFamily="34" charset="0"/>
                <a:ea typeface="DM Sans" pitchFamily="34" charset="-122"/>
                <a:cs typeface="DM Sans" pitchFamily="34" charset="-120"/>
              </a:rPr>
              <a:t>Combine Homomorphic Encryption with Differential Privacy to balance privacy and computational overhead.</a:t>
            </a:r>
            <a:endParaRPr lang="en-US" sz="1450" dirty="0"/>
          </a:p>
        </p:txBody>
      </p:sp>
      <p:pic>
        <p:nvPicPr>
          <p:cNvPr id="7" name="Image 2" descr="preencoded.png"/>
          <p:cNvPicPr>
            <a:picLocks noChangeAspect="1"/>
          </p:cNvPicPr>
          <p:nvPr/>
        </p:nvPicPr>
        <p:blipFill>
          <a:blip r:embed="rId5"/>
          <a:stretch>
            <a:fillRect/>
          </a:stretch>
        </p:blipFill>
        <p:spPr>
          <a:xfrm>
            <a:off x="6137434" y="4160044"/>
            <a:ext cx="465058" cy="465058"/>
          </a:xfrm>
          <a:prstGeom prst="rect">
            <a:avLst/>
          </a:prstGeom>
        </p:spPr>
      </p:pic>
      <p:sp>
        <p:nvSpPr>
          <p:cNvPr id="8" name="Text 3"/>
          <p:cNvSpPr/>
          <p:nvPr/>
        </p:nvSpPr>
        <p:spPr>
          <a:xfrm>
            <a:off x="6137434" y="4811077"/>
            <a:ext cx="2325410" cy="290632"/>
          </a:xfrm>
          <a:prstGeom prst="rect">
            <a:avLst/>
          </a:prstGeom>
          <a:noFill/>
          <a:ln/>
        </p:spPr>
        <p:txBody>
          <a:bodyPr wrap="none" lIns="0" tIns="0" rIns="0" bIns="0" rtlCol="0" anchor="t"/>
          <a:lstStyle/>
          <a:p>
            <a:pPr marL="0" indent="0" algn="l">
              <a:lnSpc>
                <a:spcPts val="2250"/>
              </a:lnSpc>
              <a:buNone/>
            </a:pPr>
            <a:r>
              <a:rPr lang="en-US" sz="1800" dirty="0">
                <a:solidFill>
                  <a:srgbClr val="454240"/>
                </a:solidFill>
                <a:latin typeface="Libre Baskerville" pitchFamily="34" charset="0"/>
                <a:ea typeface="Libre Baskerville" pitchFamily="34" charset="-122"/>
                <a:cs typeface="Libre Baskerville" pitchFamily="34" charset="-120"/>
              </a:rPr>
              <a:t>Edge Computing</a:t>
            </a:r>
            <a:endParaRPr lang="en-US" sz="1800" dirty="0"/>
          </a:p>
        </p:txBody>
      </p:sp>
      <p:sp>
        <p:nvSpPr>
          <p:cNvPr id="9" name="Text 4"/>
          <p:cNvSpPr/>
          <p:nvPr/>
        </p:nvSpPr>
        <p:spPr>
          <a:xfrm>
            <a:off x="6137434" y="5213271"/>
            <a:ext cx="7841933" cy="595313"/>
          </a:xfrm>
          <a:prstGeom prst="rect">
            <a:avLst/>
          </a:prstGeom>
          <a:noFill/>
          <a:ln/>
        </p:spPr>
        <p:txBody>
          <a:bodyPr wrap="square" lIns="0" tIns="0" rIns="0" bIns="0" rtlCol="0" anchor="t"/>
          <a:lstStyle/>
          <a:p>
            <a:pPr marL="0" indent="0" algn="l">
              <a:lnSpc>
                <a:spcPts val="2300"/>
              </a:lnSpc>
              <a:buNone/>
            </a:pPr>
            <a:r>
              <a:rPr lang="en-US" sz="1450" dirty="0">
                <a:solidFill>
                  <a:srgbClr val="454240"/>
                </a:solidFill>
                <a:latin typeface="DM Sans" pitchFamily="34" charset="0"/>
                <a:ea typeface="DM Sans" pitchFamily="34" charset="-122"/>
                <a:cs typeface="DM Sans" pitchFamily="34" charset="-120"/>
              </a:rPr>
              <a:t>Perform data preprocessing and encryption on edge devices before submitting updates to the network.</a:t>
            </a:r>
            <a:endParaRPr lang="en-US" sz="1450" dirty="0"/>
          </a:p>
        </p:txBody>
      </p:sp>
      <p:pic>
        <p:nvPicPr>
          <p:cNvPr id="10" name="Image 3" descr="preencoded.png"/>
          <p:cNvPicPr>
            <a:picLocks noChangeAspect="1"/>
          </p:cNvPicPr>
          <p:nvPr/>
        </p:nvPicPr>
        <p:blipFill>
          <a:blip r:embed="rId6"/>
          <a:stretch>
            <a:fillRect/>
          </a:stretch>
        </p:blipFill>
        <p:spPr>
          <a:xfrm>
            <a:off x="6137434" y="6366629"/>
            <a:ext cx="465058" cy="465058"/>
          </a:xfrm>
          <a:prstGeom prst="rect">
            <a:avLst/>
          </a:prstGeom>
        </p:spPr>
      </p:pic>
      <p:sp>
        <p:nvSpPr>
          <p:cNvPr id="11" name="Text 5"/>
          <p:cNvSpPr/>
          <p:nvPr/>
        </p:nvSpPr>
        <p:spPr>
          <a:xfrm>
            <a:off x="6137434" y="7017663"/>
            <a:ext cx="2518648" cy="290632"/>
          </a:xfrm>
          <a:prstGeom prst="rect">
            <a:avLst/>
          </a:prstGeom>
          <a:noFill/>
          <a:ln/>
        </p:spPr>
        <p:txBody>
          <a:bodyPr wrap="none" lIns="0" tIns="0" rIns="0" bIns="0" rtlCol="0" anchor="t"/>
          <a:lstStyle/>
          <a:p>
            <a:pPr marL="0" indent="0" algn="l">
              <a:lnSpc>
                <a:spcPts val="2250"/>
              </a:lnSpc>
              <a:buNone/>
            </a:pPr>
            <a:r>
              <a:rPr lang="en-US" sz="1800" dirty="0">
                <a:solidFill>
                  <a:srgbClr val="454240"/>
                </a:solidFill>
                <a:latin typeface="Libre Baskerville" pitchFamily="34" charset="0"/>
                <a:ea typeface="Libre Baskerville" pitchFamily="34" charset="-122"/>
                <a:cs typeface="Libre Baskerville" pitchFamily="34" charset="-120"/>
              </a:rPr>
              <a:t>Compressed Updates</a:t>
            </a:r>
            <a:endParaRPr lang="en-US" sz="1800" dirty="0"/>
          </a:p>
        </p:txBody>
      </p:sp>
      <p:sp>
        <p:nvSpPr>
          <p:cNvPr id="12" name="Text 6"/>
          <p:cNvSpPr/>
          <p:nvPr/>
        </p:nvSpPr>
        <p:spPr>
          <a:xfrm>
            <a:off x="6137434" y="7419856"/>
            <a:ext cx="7841933" cy="297656"/>
          </a:xfrm>
          <a:prstGeom prst="rect">
            <a:avLst/>
          </a:prstGeom>
          <a:noFill/>
          <a:ln/>
        </p:spPr>
        <p:txBody>
          <a:bodyPr wrap="none" lIns="0" tIns="0" rIns="0" bIns="0" rtlCol="0" anchor="t"/>
          <a:lstStyle/>
          <a:p>
            <a:pPr marL="0" indent="0" algn="l">
              <a:lnSpc>
                <a:spcPts val="2300"/>
              </a:lnSpc>
              <a:buNone/>
            </a:pPr>
            <a:r>
              <a:rPr lang="en-US" sz="1450" dirty="0">
                <a:solidFill>
                  <a:srgbClr val="454240"/>
                </a:solidFill>
                <a:latin typeface="DM Sans" pitchFamily="34" charset="0"/>
                <a:ea typeface="DM Sans" pitchFamily="34" charset="-122"/>
                <a:cs typeface="DM Sans" pitchFamily="34" charset="-120"/>
              </a:rPr>
              <a:t>Reduce model update size using gradient sparsification or quantization techniques.</a:t>
            </a:r>
            <a:endParaRPr lang="en-US" sz="1450" dirty="0"/>
          </a:p>
        </p:txBody>
      </p:sp>
      <p:sp>
        <p:nvSpPr>
          <p:cNvPr id="13" name="Rectangle 12">
            <a:extLst>
              <a:ext uri="{FF2B5EF4-FFF2-40B4-BE49-F238E27FC236}">
                <a16:creationId xmlns:a16="http://schemas.microsoft.com/office/drawing/2014/main" id="{82A03A93-9E0A-FA53-C442-7FCDA6CA87EB}"/>
              </a:ext>
            </a:extLst>
          </p:cNvPr>
          <p:cNvSpPr/>
          <p:nvPr/>
        </p:nvSpPr>
        <p:spPr>
          <a:xfrm>
            <a:off x="12612029" y="7717512"/>
            <a:ext cx="1918010" cy="400575"/>
          </a:xfrm>
          <a:prstGeom prst="rect">
            <a:avLst/>
          </a:prstGeom>
          <a:solidFill>
            <a:srgbClr val="FFFDFA"/>
          </a:solidFill>
          <a:ln>
            <a:solidFill>
              <a:srgbClr val="FFFD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97374"/>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Improving Security and Robustness</a:t>
            </a:r>
            <a:endParaRPr lang="en-US" sz="4450" dirty="0"/>
          </a:p>
        </p:txBody>
      </p:sp>
      <p:sp>
        <p:nvSpPr>
          <p:cNvPr id="4" name="Shape 1"/>
          <p:cNvSpPr/>
          <p:nvPr/>
        </p:nvSpPr>
        <p:spPr>
          <a:xfrm>
            <a:off x="793790" y="2655094"/>
            <a:ext cx="3664863" cy="2765227"/>
          </a:xfrm>
          <a:prstGeom prst="roundRect">
            <a:avLst>
              <a:gd name="adj" fmla="val 3445"/>
            </a:avLst>
          </a:prstGeom>
          <a:solidFill>
            <a:srgbClr val="F7EDD4"/>
          </a:solidFill>
          <a:ln w="7620">
            <a:solidFill>
              <a:srgbClr val="DDD3BA"/>
            </a:solidFill>
            <a:prstDash val="solid"/>
          </a:ln>
        </p:spPr>
        <p:txBody>
          <a:bodyPr/>
          <a:lstStyle/>
          <a:p>
            <a:endParaRPr lang="en-GB"/>
          </a:p>
        </p:txBody>
      </p:sp>
      <p:sp>
        <p:nvSpPr>
          <p:cNvPr id="5" name="Text 2"/>
          <p:cNvSpPr/>
          <p:nvPr/>
        </p:nvSpPr>
        <p:spPr>
          <a:xfrm>
            <a:off x="1028224" y="2889528"/>
            <a:ext cx="3195995" cy="708660"/>
          </a:xfrm>
          <a:prstGeom prst="rect">
            <a:avLst/>
          </a:prstGeom>
          <a:noFill/>
          <a:ln/>
        </p:spPr>
        <p:txBody>
          <a:bodyPr wrap="square" lIns="0" tIns="0" rIns="0" bIns="0" rtlCol="0" anchor="t"/>
          <a:lstStyle/>
          <a:p>
            <a:pPr marL="0" indent="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Zero-Knowledge Proofs</a:t>
            </a:r>
            <a:endParaRPr lang="en-US" sz="2200" dirty="0"/>
          </a:p>
        </p:txBody>
      </p:sp>
      <p:sp>
        <p:nvSpPr>
          <p:cNvPr id="6" name="Text 3"/>
          <p:cNvSpPr/>
          <p:nvPr/>
        </p:nvSpPr>
        <p:spPr>
          <a:xfrm>
            <a:off x="1028224" y="3734276"/>
            <a:ext cx="3195995" cy="1451610"/>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Validate model updates without revealing their contents, enhancing privacy while maintaining trust.</a:t>
            </a:r>
            <a:endParaRPr lang="en-US" sz="1750" dirty="0"/>
          </a:p>
        </p:txBody>
      </p:sp>
      <p:sp>
        <p:nvSpPr>
          <p:cNvPr id="7" name="Shape 4"/>
          <p:cNvSpPr/>
          <p:nvPr/>
        </p:nvSpPr>
        <p:spPr>
          <a:xfrm>
            <a:off x="4685467" y="2655094"/>
            <a:ext cx="3664863" cy="2765227"/>
          </a:xfrm>
          <a:prstGeom prst="roundRect">
            <a:avLst>
              <a:gd name="adj" fmla="val 3445"/>
            </a:avLst>
          </a:prstGeom>
          <a:solidFill>
            <a:srgbClr val="F7EDD4"/>
          </a:solidFill>
          <a:ln w="7620">
            <a:solidFill>
              <a:srgbClr val="DDD3BA"/>
            </a:solidFill>
            <a:prstDash val="solid"/>
          </a:ln>
        </p:spPr>
        <p:txBody>
          <a:bodyPr/>
          <a:lstStyle/>
          <a:p>
            <a:endParaRPr lang="en-GB"/>
          </a:p>
        </p:txBody>
      </p:sp>
      <p:sp>
        <p:nvSpPr>
          <p:cNvPr id="8" name="Text 5"/>
          <p:cNvSpPr/>
          <p:nvPr/>
        </p:nvSpPr>
        <p:spPr>
          <a:xfrm>
            <a:off x="4919901" y="2889528"/>
            <a:ext cx="3195995" cy="708660"/>
          </a:xfrm>
          <a:prstGeom prst="rect">
            <a:avLst/>
          </a:prstGeom>
          <a:noFill/>
          <a:ln/>
        </p:spPr>
        <p:txBody>
          <a:bodyPr wrap="square" lIns="0" tIns="0" rIns="0" bIns="0" rtlCol="0" anchor="t"/>
          <a:lstStyle/>
          <a:p>
            <a:pPr marL="0" indent="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Dynamic Smart Contracts</a:t>
            </a:r>
            <a:endParaRPr lang="en-US" sz="2200" dirty="0"/>
          </a:p>
        </p:txBody>
      </p:sp>
      <p:sp>
        <p:nvSpPr>
          <p:cNvPr id="9" name="Text 6"/>
          <p:cNvSpPr/>
          <p:nvPr/>
        </p:nvSpPr>
        <p:spPr>
          <a:xfrm>
            <a:off x="4919901" y="3734276"/>
            <a:ext cx="3195995" cy="1451610"/>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Adjust aggregation rules based on network activity and node reliability to ensure model robustness.</a:t>
            </a:r>
            <a:endParaRPr lang="en-US" sz="1750" dirty="0"/>
          </a:p>
        </p:txBody>
      </p:sp>
      <p:sp>
        <p:nvSpPr>
          <p:cNvPr id="10" name="Shape 7"/>
          <p:cNvSpPr/>
          <p:nvPr/>
        </p:nvSpPr>
        <p:spPr>
          <a:xfrm>
            <a:off x="793790" y="5647134"/>
            <a:ext cx="7556421" cy="1685092"/>
          </a:xfrm>
          <a:prstGeom prst="roundRect">
            <a:avLst>
              <a:gd name="adj" fmla="val 5654"/>
            </a:avLst>
          </a:prstGeom>
          <a:solidFill>
            <a:srgbClr val="F7EDD4"/>
          </a:solidFill>
          <a:ln w="7620">
            <a:solidFill>
              <a:srgbClr val="DDD3BA"/>
            </a:solidFill>
            <a:prstDash val="solid"/>
          </a:ln>
        </p:spPr>
        <p:txBody>
          <a:bodyPr/>
          <a:lstStyle/>
          <a:p>
            <a:endParaRPr lang="en-GB"/>
          </a:p>
        </p:txBody>
      </p:sp>
      <p:sp>
        <p:nvSpPr>
          <p:cNvPr id="11" name="Text 8"/>
          <p:cNvSpPr/>
          <p:nvPr/>
        </p:nvSpPr>
        <p:spPr>
          <a:xfrm>
            <a:off x="1028224" y="5881568"/>
            <a:ext cx="2835235" cy="354330"/>
          </a:xfrm>
          <a:prstGeom prst="rect">
            <a:avLst/>
          </a:prstGeom>
          <a:noFill/>
          <a:ln/>
        </p:spPr>
        <p:txBody>
          <a:bodyPr wrap="none" lIns="0" tIns="0" rIns="0" bIns="0" rtlCol="0" anchor="t"/>
          <a:lstStyle/>
          <a:p>
            <a:pPr marL="0" indent="0">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Adversarial Testing</a:t>
            </a:r>
            <a:endParaRPr lang="en-US" sz="2200" dirty="0"/>
          </a:p>
        </p:txBody>
      </p:sp>
      <p:sp>
        <p:nvSpPr>
          <p:cNvPr id="12" name="Text 9"/>
          <p:cNvSpPr/>
          <p:nvPr/>
        </p:nvSpPr>
        <p:spPr>
          <a:xfrm>
            <a:off x="1028224" y="6371987"/>
            <a:ext cx="7087553" cy="725805"/>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Simulate and test the framework against potential attacks to ensure system resilience.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459825"/>
            <a:ext cx="6862167" cy="708779"/>
          </a:xfrm>
          <a:prstGeom prst="rect">
            <a:avLst/>
          </a:prstGeom>
          <a:noFill/>
          <a:ln/>
        </p:spPr>
        <p:txBody>
          <a:bodyPr wrap="none" lIns="0" tIns="0" rIns="0" bIns="0" rtlCol="0" anchor="t"/>
          <a:lstStyle/>
          <a:p>
            <a:pPr marL="0" indent="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Handling Non-IID Data</a:t>
            </a:r>
            <a:endParaRPr lang="en-US" sz="4450" dirty="0"/>
          </a:p>
        </p:txBody>
      </p:sp>
      <p:sp>
        <p:nvSpPr>
          <p:cNvPr id="3" name="Shape 1"/>
          <p:cNvSpPr/>
          <p:nvPr/>
        </p:nvSpPr>
        <p:spPr>
          <a:xfrm>
            <a:off x="793790" y="2622233"/>
            <a:ext cx="2173724" cy="1306949"/>
          </a:xfrm>
          <a:prstGeom prst="roundRect">
            <a:avLst>
              <a:gd name="adj" fmla="val 7289"/>
            </a:avLst>
          </a:prstGeom>
          <a:solidFill>
            <a:srgbClr val="F7EDD4"/>
          </a:solidFill>
          <a:ln w="7620">
            <a:solidFill>
              <a:srgbClr val="DDD3BA"/>
            </a:solidFill>
            <a:prstDash val="solid"/>
          </a:ln>
        </p:spPr>
        <p:txBody>
          <a:bodyPr/>
          <a:lstStyle/>
          <a:p>
            <a:endParaRPr lang="en-GB"/>
          </a:p>
        </p:txBody>
      </p:sp>
      <p:sp>
        <p:nvSpPr>
          <p:cNvPr id="4" name="Text 2"/>
          <p:cNvSpPr/>
          <p:nvPr/>
        </p:nvSpPr>
        <p:spPr>
          <a:xfrm>
            <a:off x="1028224" y="3048953"/>
            <a:ext cx="126444" cy="453509"/>
          </a:xfrm>
          <a:prstGeom prst="rect">
            <a:avLst/>
          </a:prstGeom>
          <a:noFill/>
          <a:ln/>
        </p:spPr>
        <p:txBody>
          <a:bodyPr wrap="none" lIns="0" tIns="0" rIns="0" bIns="0" rtlCol="0" anchor="t"/>
          <a:lstStyle/>
          <a:p>
            <a:pPr marL="0" indent="0" algn="ctr">
              <a:lnSpc>
                <a:spcPts val="3550"/>
              </a:lnSpc>
              <a:buNone/>
            </a:pPr>
            <a:r>
              <a:rPr lang="en-US" sz="2200" dirty="0">
                <a:solidFill>
                  <a:srgbClr val="454240"/>
                </a:solidFill>
                <a:latin typeface="Libre Baskerville" pitchFamily="34" charset="0"/>
                <a:ea typeface="Libre Baskerville" pitchFamily="34" charset="-122"/>
                <a:cs typeface="Libre Baskerville" pitchFamily="34" charset="-120"/>
              </a:rPr>
              <a:t>1</a:t>
            </a:r>
            <a:endParaRPr lang="en-US" sz="2200" dirty="0"/>
          </a:p>
        </p:txBody>
      </p:sp>
      <p:sp>
        <p:nvSpPr>
          <p:cNvPr id="5" name="Text 3"/>
          <p:cNvSpPr/>
          <p:nvPr/>
        </p:nvSpPr>
        <p:spPr>
          <a:xfrm>
            <a:off x="3194328" y="2849047"/>
            <a:ext cx="4320302"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Clustered Federated Learning</a:t>
            </a:r>
            <a:endParaRPr lang="en-US" sz="2200" dirty="0"/>
          </a:p>
        </p:txBody>
      </p:sp>
      <p:sp>
        <p:nvSpPr>
          <p:cNvPr id="6" name="Text 4"/>
          <p:cNvSpPr/>
          <p:nvPr/>
        </p:nvSpPr>
        <p:spPr>
          <a:xfrm>
            <a:off x="3194328" y="3339465"/>
            <a:ext cx="6764179"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Group nodes with similar data distributions for localized training.</a:t>
            </a:r>
            <a:endParaRPr lang="en-US" sz="1750" dirty="0"/>
          </a:p>
        </p:txBody>
      </p:sp>
      <p:sp>
        <p:nvSpPr>
          <p:cNvPr id="7" name="Shape 5"/>
          <p:cNvSpPr/>
          <p:nvPr/>
        </p:nvSpPr>
        <p:spPr>
          <a:xfrm>
            <a:off x="3080861" y="3913942"/>
            <a:ext cx="10642402" cy="15240"/>
          </a:xfrm>
          <a:prstGeom prst="roundRect">
            <a:avLst>
              <a:gd name="adj" fmla="val 625116"/>
            </a:avLst>
          </a:prstGeom>
          <a:solidFill>
            <a:srgbClr val="DDD3BA"/>
          </a:solidFill>
          <a:ln/>
        </p:spPr>
        <p:txBody>
          <a:bodyPr/>
          <a:lstStyle/>
          <a:p>
            <a:endParaRPr lang="en-GB"/>
          </a:p>
        </p:txBody>
      </p:sp>
      <p:sp>
        <p:nvSpPr>
          <p:cNvPr id="8" name="Shape 6"/>
          <p:cNvSpPr/>
          <p:nvPr/>
        </p:nvSpPr>
        <p:spPr>
          <a:xfrm>
            <a:off x="793790" y="4042529"/>
            <a:ext cx="4347567" cy="1306949"/>
          </a:xfrm>
          <a:prstGeom prst="roundRect">
            <a:avLst>
              <a:gd name="adj" fmla="val 7289"/>
            </a:avLst>
          </a:prstGeom>
          <a:solidFill>
            <a:srgbClr val="F7EDD4"/>
          </a:solidFill>
          <a:ln w="7620">
            <a:solidFill>
              <a:srgbClr val="DDD3BA"/>
            </a:solidFill>
            <a:prstDash val="solid"/>
          </a:ln>
        </p:spPr>
        <p:txBody>
          <a:bodyPr/>
          <a:lstStyle/>
          <a:p>
            <a:endParaRPr lang="en-GB"/>
          </a:p>
        </p:txBody>
      </p:sp>
      <p:sp>
        <p:nvSpPr>
          <p:cNvPr id="9" name="Text 7"/>
          <p:cNvSpPr/>
          <p:nvPr/>
        </p:nvSpPr>
        <p:spPr>
          <a:xfrm>
            <a:off x="1028224" y="4469249"/>
            <a:ext cx="174665" cy="453509"/>
          </a:xfrm>
          <a:prstGeom prst="rect">
            <a:avLst/>
          </a:prstGeom>
          <a:noFill/>
          <a:ln/>
        </p:spPr>
        <p:txBody>
          <a:bodyPr wrap="none" lIns="0" tIns="0" rIns="0" bIns="0" rtlCol="0" anchor="t"/>
          <a:lstStyle/>
          <a:p>
            <a:pPr marL="0" indent="0" algn="ctr">
              <a:lnSpc>
                <a:spcPts val="3550"/>
              </a:lnSpc>
              <a:buNone/>
            </a:pPr>
            <a:r>
              <a:rPr lang="en-US" sz="2200" dirty="0">
                <a:solidFill>
                  <a:srgbClr val="454240"/>
                </a:solidFill>
                <a:latin typeface="Libre Baskerville" pitchFamily="34" charset="0"/>
                <a:ea typeface="Libre Baskerville" pitchFamily="34" charset="-122"/>
                <a:cs typeface="Libre Baskerville" pitchFamily="34" charset="-120"/>
              </a:rPr>
              <a:t>2</a:t>
            </a:r>
            <a:endParaRPr lang="en-US" sz="2200" dirty="0"/>
          </a:p>
        </p:txBody>
      </p:sp>
      <p:sp>
        <p:nvSpPr>
          <p:cNvPr id="10" name="Text 8"/>
          <p:cNvSpPr/>
          <p:nvPr/>
        </p:nvSpPr>
        <p:spPr>
          <a:xfrm>
            <a:off x="5368171" y="42693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Meta-Learning</a:t>
            </a:r>
            <a:endParaRPr lang="en-US" sz="2200" dirty="0"/>
          </a:p>
        </p:txBody>
      </p:sp>
      <p:sp>
        <p:nvSpPr>
          <p:cNvPr id="11" name="Text 9"/>
          <p:cNvSpPr/>
          <p:nvPr/>
        </p:nvSpPr>
        <p:spPr>
          <a:xfrm>
            <a:off x="5368171" y="4759762"/>
            <a:ext cx="7208520"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Teach global models to adapt dynamically to local data distributions.</a:t>
            </a:r>
            <a:endParaRPr lang="en-US" sz="1750" dirty="0"/>
          </a:p>
        </p:txBody>
      </p:sp>
      <p:sp>
        <p:nvSpPr>
          <p:cNvPr id="12" name="Shape 10"/>
          <p:cNvSpPr/>
          <p:nvPr/>
        </p:nvSpPr>
        <p:spPr>
          <a:xfrm>
            <a:off x="5254704" y="5334238"/>
            <a:ext cx="8468558" cy="15240"/>
          </a:xfrm>
          <a:prstGeom prst="roundRect">
            <a:avLst>
              <a:gd name="adj" fmla="val 625116"/>
            </a:avLst>
          </a:prstGeom>
          <a:solidFill>
            <a:srgbClr val="DDD3BA"/>
          </a:solidFill>
          <a:ln/>
        </p:spPr>
        <p:txBody>
          <a:bodyPr/>
          <a:lstStyle/>
          <a:p>
            <a:endParaRPr lang="en-GB"/>
          </a:p>
        </p:txBody>
      </p:sp>
      <p:sp>
        <p:nvSpPr>
          <p:cNvPr id="13" name="Shape 11"/>
          <p:cNvSpPr/>
          <p:nvPr/>
        </p:nvSpPr>
        <p:spPr>
          <a:xfrm>
            <a:off x="793790" y="5462826"/>
            <a:ext cx="6521410" cy="1306949"/>
          </a:xfrm>
          <a:prstGeom prst="roundRect">
            <a:avLst>
              <a:gd name="adj" fmla="val 7289"/>
            </a:avLst>
          </a:prstGeom>
          <a:solidFill>
            <a:srgbClr val="F7EDD4"/>
          </a:solidFill>
          <a:ln w="7620">
            <a:solidFill>
              <a:srgbClr val="DDD3BA"/>
            </a:solidFill>
            <a:prstDash val="solid"/>
          </a:ln>
        </p:spPr>
        <p:txBody>
          <a:bodyPr/>
          <a:lstStyle/>
          <a:p>
            <a:endParaRPr lang="en-GB"/>
          </a:p>
        </p:txBody>
      </p:sp>
      <p:sp>
        <p:nvSpPr>
          <p:cNvPr id="14" name="Text 12"/>
          <p:cNvSpPr/>
          <p:nvPr/>
        </p:nvSpPr>
        <p:spPr>
          <a:xfrm>
            <a:off x="1028224" y="5889546"/>
            <a:ext cx="174665" cy="453509"/>
          </a:xfrm>
          <a:prstGeom prst="rect">
            <a:avLst/>
          </a:prstGeom>
          <a:noFill/>
          <a:ln/>
        </p:spPr>
        <p:txBody>
          <a:bodyPr wrap="none" lIns="0" tIns="0" rIns="0" bIns="0" rtlCol="0" anchor="t"/>
          <a:lstStyle/>
          <a:p>
            <a:pPr marL="0" indent="0" algn="ctr">
              <a:lnSpc>
                <a:spcPts val="3550"/>
              </a:lnSpc>
              <a:buNone/>
            </a:pPr>
            <a:r>
              <a:rPr lang="en-US" sz="2200" dirty="0">
                <a:solidFill>
                  <a:srgbClr val="454240"/>
                </a:solidFill>
                <a:latin typeface="Libre Baskerville" pitchFamily="34" charset="0"/>
                <a:ea typeface="Libre Baskerville" pitchFamily="34" charset="-122"/>
                <a:cs typeface="Libre Baskerville" pitchFamily="34" charset="-120"/>
              </a:rPr>
              <a:t>3</a:t>
            </a:r>
            <a:endParaRPr lang="en-US" sz="2200" dirty="0"/>
          </a:p>
        </p:txBody>
      </p:sp>
      <p:sp>
        <p:nvSpPr>
          <p:cNvPr id="15" name="Text 13"/>
          <p:cNvSpPr/>
          <p:nvPr/>
        </p:nvSpPr>
        <p:spPr>
          <a:xfrm>
            <a:off x="7542014" y="5689640"/>
            <a:ext cx="3862626"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Improved Model Accuracy</a:t>
            </a:r>
            <a:endParaRPr lang="en-US" sz="2200" dirty="0"/>
          </a:p>
        </p:txBody>
      </p:sp>
      <p:sp>
        <p:nvSpPr>
          <p:cNvPr id="16" name="Text 14"/>
          <p:cNvSpPr/>
          <p:nvPr/>
        </p:nvSpPr>
        <p:spPr>
          <a:xfrm>
            <a:off x="7542014" y="6180058"/>
            <a:ext cx="601706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Enhanced generalizability and reduced training iterations.</a:t>
            </a:r>
            <a:endParaRPr lang="en-US" sz="1750" dirty="0"/>
          </a:p>
        </p:txBody>
      </p:sp>
      <p:sp>
        <p:nvSpPr>
          <p:cNvPr id="17" name="Rectangle 16">
            <a:extLst>
              <a:ext uri="{FF2B5EF4-FFF2-40B4-BE49-F238E27FC236}">
                <a16:creationId xmlns:a16="http://schemas.microsoft.com/office/drawing/2014/main" id="{4B00A045-6B32-ED37-C225-6870D43FB3A9}"/>
              </a:ext>
            </a:extLst>
          </p:cNvPr>
          <p:cNvSpPr/>
          <p:nvPr/>
        </p:nvSpPr>
        <p:spPr>
          <a:xfrm>
            <a:off x="12612029" y="7672038"/>
            <a:ext cx="1918010" cy="446049"/>
          </a:xfrm>
          <a:prstGeom prst="rect">
            <a:avLst/>
          </a:prstGeom>
          <a:solidFill>
            <a:srgbClr val="FFFDFA"/>
          </a:solidFill>
          <a:ln>
            <a:solidFill>
              <a:srgbClr val="FFFD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70560" y="563642"/>
            <a:ext cx="7740967" cy="598646"/>
          </a:xfrm>
          <a:prstGeom prst="rect">
            <a:avLst/>
          </a:prstGeom>
          <a:noFill/>
          <a:ln/>
        </p:spPr>
        <p:txBody>
          <a:bodyPr wrap="none" lIns="0" tIns="0" rIns="0" bIns="0" rtlCol="0" anchor="t"/>
          <a:lstStyle/>
          <a:p>
            <a:pPr marL="0" indent="0">
              <a:lnSpc>
                <a:spcPts val="4700"/>
              </a:lnSpc>
              <a:buNone/>
            </a:pPr>
            <a:r>
              <a:rPr lang="en-US" sz="3750" dirty="0">
                <a:solidFill>
                  <a:srgbClr val="5C4E3D"/>
                </a:solidFill>
                <a:latin typeface="Libre Baskerville" pitchFamily="34" charset="0"/>
                <a:ea typeface="Libre Baskerville" pitchFamily="34" charset="-122"/>
                <a:cs typeface="Libre Baskerville" pitchFamily="34" charset="-120"/>
              </a:rPr>
              <a:t>Technical Implementation Plan</a:t>
            </a:r>
            <a:endParaRPr lang="en-US" sz="3750" dirty="0"/>
          </a:p>
        </p:txBody>
      </p:sp>
      <p:sp>
        <p:nvSpPr>
          <p:cNvPr id="4" name="Shape 1"/>
          <p:cNvSpPr/>
          <p:nvPr/>
        </p:nvSpPr>
        <p:spPr>
          <a:xfrm>
            <a:off x="946428" y="1449586"/>
            <a:ext cx="22860" cy="6216372"/>
          </a:xfrm>
          <a:prstGeom prst="roundRect">
            <a:avLst>
              <a:gd name="adj" fmla="val 352022"/>
            </a:avLst>
          </a:prstGeom>
          <a:solidFill>
            <a:srgbClr val="DDD3BA"/>
          </a:solidFill>
          <a:ln/>
        </p:spPr>
        <p:txBody>
          <a:bodyPr/>
          <a:lstStyle/>
          <a:p>
            <a:endParaRPr lang="en-GB"/>
          </a:p>
        </p:txBody>
      </p:sp>
      <p:sp>
        <p:nvSpPr>
          <p:cNvPr id="5" name="Shape 2"/>
          <p:cNvSpPr/>
          <p:nvPr/>
        </p:nvSpPr>
        <p:spPr>
          <a:xfrm>
            <a:off x="1150501" y="1869162"/>
            <a:ext cx="670560" cy="22860"/>
          </a:xfrm>
          <a:prstGeom prst="roundRect">
            <a:avLst>
              <a:gd name="adj" fmla="val 352022"/>
            </a:avLst>
          </a:prstGeom>
          <a:solidFill>
            <a:srgbClr val="DDD3BA"/>
          </a:solidFill>
          <a:ln/>
        </p:spPr>
        <p:txBody>
          <a:bodyPr/>
          <a:lstStyle/>
          <a:p>
            <a:endParaRPr lang="en-GB"/>
          </a:p>
        </p:txBody>
      </p:sp>
      <p:sp>
        <p:nvSpPr>
          <p:cNvPr id="6" name="Shape 3"/>
          <p:cNvSpPr/>
          <p:nvPr/>
        </p:nvSpPr>
        <p:spPr>
          <a:xfrm>
            <a:off x="742355" y="1665089"/>
            <a:ext cx="431006" cy="431006"/>
          </a:xfrm>
          <a:prstGeom prst="roundRect">
            <a:avLst>
              <a:gd name="adj" fmla="val 18671"/>
            </a:avLst>
          </a:prstGeom>
          <a:solidFill>
            <a:srgbClr val="F7EDD4"/>
          </a:solidFill>
          <a:ln w="7620">
            <a:solidFill>
              <a:srgbClr val="DDD3BA"/>
            </a:solidFill>
            <a:prstDash val="solid"/>
          </a:ln>
        </p:spPr>
        <p:txBody>
          <a:bodyPr/>
          <a:lstStyle/>
          <a:p>
            <a:endParaRPr lang="en-GB"/>
          </a:p>
        </p:txBody>
      </p:sp>
      <p:sp>
        <p:nvSpPr>
          <p:cNvPr id="7" name="Text 4"/>
          <p:cNvSpPr/>
          <p:nvPr/>
        </p:nvSpPr>
        <p:spPr>
          <a:xfrm>
            <a:off x="893683" y="1736884"/>
            <a:ext cx="128230" cy="287417"/>
          </a:xfrm>
          <a:prstGeom prst="rect">
            <a:avLst/>
          </a:prstGeom>
          <a:noFill/>
          <a:ln/>
        </p:spPr>
        <p:txBody>
          <a:bodyPr wrap="none" lIns="0" tIns="0" rIns="0" bIns="0" rtlCol="0" anchor="t"/>
          <a:lstStyle/>
          <a:p>
            <a:pPr marL="0" indent="0" algn="ctr">
              <a:lnSpc>
                <a:spcPts val="2250"/>
              </a:lnSpc>
              <a:buNone/>
            </a:pPr>
            <a:r>
              <a:rPr lang="en-US" sz="2250" dirty="0">
                <a:solidFill>
                  <a:srgbClr val="454240"/>
                </a:solidFill>
                <a:latin typeface="Libre Baskerville" pitchFamily="34" charset="0"/>
                <a:ea typeface="Libre Baskerville" pitchFamily="34" charset="-122"/>
                <a:cs typeface="Libre Baskerville" pitchFamily="34" charset="-120"/>
              </a:rPr>
              <a:t>1</a:t>
            </a:r>
            <a:endParaRPr lang="en-US" sz="2250" dirty="0"/>
          </a:p>
        </p:txBody>
      </p:sp>
      <p:sp>
        <p:nvSpPr>
          <p:cNvPr id="8" name="Text 5"/>
          <p:cNvSpPr/>
          <p:nvPr/>
        </p:nvSpPr>
        <p:spPr>
          <a:xfrm>
            <a:off x="2011561" y="1641158"/>
            <a:ext cx="3657362" cy="299442"/>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Multi-Tier Blockchain System</a:t>
            </a:r>
            <a:endParaRPr lang="en-US" sz="1850" dirty="0"/>
          </a:p>
        </p:txBody>
      </p:sp>
      <p:sp>
        <p:nvSpPr>
          <p:cNvPr id="9" name="Text 6"/>
          <p:cNvSpPr/>
          <p:nvPr/>
        </p:nvSpPr>
        <p:spPr>
          <a:xfrm>
            <a:off x="2011561" y="2055495"/>
            <a:ext cx="6461879" cy="612934"/>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Implement a two-tier blockchain architecture with permissioned and public layers for optimized performance and compliance.</a:t>
            </a:r>
            <a:endParaRPr lang="en-US" sz="1500" dirty="0"/>
          </a:p>
        </p:txBody>
      </p:sp>
      <p:sp>
        <p:nvSpPr>
          <p:cNvPr id="10" name="Shape 7"/>
          <p:cNvSpPr/>
          <p:nvPr/>
        </p:nvSpPr>
        <p:spPr>
          <a:xfrm>
            <a:off x="1150501" y="3471148"/>
            <a:ext cx="670560" cy="22860"/>
          </a:xfrm>
          <a:prstGeom prst="roundRect">
            <a:avLst>
              <a:gd name="adj" fmla="val 352022"/>
            </a:avLst>
          </a:prstGeom>
          <a:solidFill>
            <a:srgbClr val="DDD3BA"/>
          </a:solidFill>
          <a:ln/>
        </p:spPr>
        <p:txBody>
          <a:bodyPr/>
          <a:lstStyle/>
          <a:p>
            <a:endParaRPr lang="en-GB"/>
          </a:p>
        </p:txBody>
      </p:sp>
      <p:sp>
        <p:nvSpPr>
          <p:cNvPr id="11" name="Shape 8"/>
          <p:cNvSpPr/>
          <p:nvPr/>
        </p:nvSpPr>
        <p:spPr>
          <a:xfrm>
            <a:off x="742355" y="3267075"/>
            <a:ext cx="431006" cy="431006"/>
          </a:xfrm>
          <a:prstGeom prst="roundRect">
            <a:avLst>
              <a:gd name="adj" fmla="val 18671"/>
            </a:avLst>
          </a:prstGeom>
          <a:solidFill>
            <a:srgbClr val="F7EDD4"/>
          </a:solidFill>
          <a:ln w="7620">
            <a:solidFill>
              <a:srgbClr val="DDD3BA"/>
            </a:solidFill>
            <a:prstDash val="solid"/>
          </a:ln>
        </p:spPr>
        <p:txBody>
          <a:bodyPr/>
          <a:lstStyle/>
          <a:p>
            <a:endParaRPr lang="en-GB"/>
          </a:p>
        </p:txBody>
      </p:sp>
      <p:sp>
        <p:nvSpPr>
          <p:cNvPr id="12" name="Text 9"/>
          <p:cNvSpPr/>
          <p:nvPr/>
        </p:nvSpPr>
        <p:spPr>
          <a:xfrm>
            <a:off x="869275" y="3338870"/>
            <a:ext cx="177046" cy="287417"/>
          </a:xfrm>
          <a:prstGeom prst="rect">
            <a:avLst/>
          </a:prstGeom>
          <a:noFill/>
          <a:ln/>
        </p:spPr>
        <p:txBody>
          <a:bodyPr wrap="none" lIns="0" tIns="0" rIns="0" bIns="0" rtlCol="0" anchor="t"/>
          <a:lstStyle/>
          <a:p>
            <a:pPr marL="0" indent="0" algn="ctr">
              <a:lnSpc>
                <a:spcPts val="2250"/>
              </a:lnSpc>
              <a:buNone/>
            </a:pPr>
            <a:r>
              <a:rPr lang="en-US" sz="2250" dirty="0">
                <a:solidFill>
                  <a:srgbClr val="454240"/>
                </a:solidFill>
                <a:latin typeface="Libre Baskerville" pitchFamily="34" charset="0"/>
                <a:ea typeface="Libre Baskerville" pitchFamily="34" charset="-122"/>
                <a:cs typeface="Libre Baskerville" pitchFamily="34" charset="-120"/>
              </a:rPr>
              <a:t>2</a:t>
            </a:r>
            <a:endParaRPr lang="en-US" sz="2250" dirty="0"/>
          </a:p>
        </p:txBody>
      </p:sp>
      <p:sp>
        <p:nvSpPr>
          <p:cNvPr id="13" name="Text 10"/>
          <p:cNvSpPr/>
          <p:nvPr/>
        </p:nvSpPr>
        <p:spPr>
          <a:xfrm>
            <a:off x="2011561" y="3243143"/>
            <a:ext cx="3535085" cy="299442"/>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Dynamic Model Aggregation</a:t>
            </a:r>
            <a:endParaRPr lang="en-US" sz="1850" dirty="0"/>
          </a:p>
        </p:txBody>
      </p:sp>
      <p:sp>
        <p:nvSpPr>
          <p:cNvPr id="14" name="Text 11"/>
          <p:cNvSpPr/>
          <p:nvPr/>
        </p:nvSpPr>
        <p:spPr>
          <a:xfrm>
            <a:off x="2011561" y="3657481"/>
            <a:ext cx="6461879" cy="612934"/>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Use smart contracts to adjust aggregation rules based on node reliability and data quality.</a:t>
            </a:r>
            <a:endParaRPr lang="en-US" sz="1500" dirty="0"/>
          </a:p>
        </p:txBody>
      </p:sp>
      <p:sp>
        <p:nvSpPr>
          <p:cNvPr id="15" name="Shape 12"/>
          <p:cNvSpPr/>
          <p:nvPr/>
        </p:nvSpPr>
        <p:spPr>
          <a:xfrm>
            <a:off x="1150501" y="5073134"/>
            <a:ext cx="670560" cy="22860"/>
          </a:xfrm>
          <a:prstGeom prst="roundRect">
            <a:avLst>
              <a:gd name="adj" fmla="val 352022"/>
            </a:avLst>
          </a:prstGeom>
          <a:solidFill>
            <a:srgbClr val="DDD3BA"/>
          </a:solidFill>
          <a:ln/>
        </p:spPr>
        <p:txBody>
          <a:bodyPr/>
          <a:lstStyle/>
          <a:p>
            <a:endParaRPr lang="en-GB"/>
          </a:p>
        </p:txBody>
      </p:sp>
      <p:sp>
        <p:nvSpPr>
          <p:cNvPr id="16" name="Shape 13"/>
          <p:cNvSpPr/>
          <p:nvPr/>
        </p:nvSpPr>
        <p:spPr>
          <a:xfrm>
            <a:off x="742355" y="4869061"/>
            <a:ext cx="431006" cy="431006"/>
          </a:xfrm>
          <a:prstGeom prst="roundRect">
            <a:avLst>
              <a:gd name="adj" fmla="val 18671"/>
            </a:avLst>
          </a:prstGeom>
          <a:solidFill>
            <a:srgbClr val="F7EDD4"/>
          </a:solidFill>
          <a:ln w="7620">
            <a:solidFill>
              <a:srgbClr val="DDD3BA"/>
            </a:solidFill>
            <a:prstDash val="solid"/>
          </a:ln>
        </p:spPr>
        <p:txBody>
          <a:bodyPr/>
          <a:lstStyle/>
          <a:p>
            <a:endParaRPr lang="en-GB"/>
          </a:p>
        </p:txBody>
      </p:sp>
      <p:sp>
        <p:nvSpPr>
          <p:cNvPr id="17" name="Text 14"/>
          <p:cNvSpPr/>
          <p:nvPr/>
        </p:nvSpPr>
        <p:spPr>
          <a:xfrm>
            <a:off x="869275" y="4940856"/>
            <a:ext cx="177046" cy="287417"/>
          </a:xfrm>
          <a:prstGeom prst="rect">
            <a:avLst/>
          </a:prstGeom>
          <a:noFill/>
          <a:ln/>
        </p:spPr>
        <p:txBody>
          <a:bodyPr wrap="none" lIns="0" tIns="0" rIns="0" bIns="0" rtlCol="0" anchor="t"/>
          <a:lstStyle/>
          <a:p>
            <a:pPr marL="0" indent="0" algn="ctr">
              <a:lnSpc>
                <a:spcPts val="2250"/>
              </a:lnSpc>
              <a:buNone/>
            </a:pPr>
            <a:r>
              <a:rPr lang="en-US" sz="2250" dirty="0">
                <a:solidFill>
                  <a:srgbClr val="454240"/>
                </a:solidFill>
                <a:latin typeface="Libre Baskerville" pitchFamily="34" charset="0"/>
                <a:ea typeface="Libre Baskerville" pitchFamily="34" charset="-122"/>
                <a:cs typeface="Libre Baskerville" pitchFamily="34" charset="-120"/>
              </a:rPr>
              <a:t>3</a:t>
            </a:r>
            <a:endParaRPr lang="en-US" sz="2250" dirty="0"/>
          </a:p>
        </p:txBody>
      </p:sp>
      <p:sp>
        <p:nvSpPr>
          <p:cNvPr id="18" name="Text 15"/>
          <p:cNvSpPr/>
          <p:nvPr/>
        </p:nvSpPr>
        <p:spPr>
          <a:xfrm>
            <a:off x="2011561" y="4845129"/>
            <a:ext cx="3973949" cy="299442"/>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Edge Processing and Encryption</a:t>
            </a:r>
            <a:endParaRPr lang="en-US" sz="1850" dirty="0"/>
          </a:p>
        </p:txBody>
      </p:sp>
      <p:sp>
        <p:nvSpPr>
          <p:cNvPr id="19" name="Text 16"/>
          <p:cNvSpPr/>
          <p:nvPr/>
        </p:nvSpPr>
        <p:spPr>
          <a:xfrm>
            <a:off x="2011561" y="5259467"/>
            <a:ext cx="6461879" cy="612934"/>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Preprocess data locally and encrypt sensitive features before sharing with the blockchain.</a:t>
            </a:r>
            <a:endParaRPr lang="en-US" sz="1500" dirty="0"/>
          </a:p>
        </p:txBody>
      </p:sp>
      <p:sp>
        <p:nvSpPr>
          <p:cNvPr id="20" name="Shape 17"/>
          <p:cNvSpPr/>
          <p:nvPr/>
        </p:nvSpPr>
        <p:spPr>
          <a:xfrm>
            <a:off x="1150501" y="6675120"/>
            <a:ext cx="670560" cy="22860"/>
          </a:xfrm>
          <a:prstGeom prst="roundRect">
            <a:avLst>
              <a:gd name="adj" fmla="val 352022"/>
            </a:avLst>
          </a:prstGeom>
          <a:solidFill>
            <a:srgbClr val="DDD3BA"/>
          </a:solidFill>
          <a:ln/>
        </p:spPr>
        <p:txBody>
          <a:bodyPr/>
          <a:lstStyle/>
          <a:p>
            <a:endParaRPr lang="en-GB"/>
          </a:p>
        </p:txBody>
      </p:sp>
      <p:sp>
        <p:nvSpPr>
          <p:cNvPr id="21" name="Shape 18"/>
          <p:cNvSpPr/>
          <p:nvPr/>
        </p:nvSpPr>
        <p:spPr>
          <a:xfrm>
            <a:off x="742355" y="6471047"/>
            <a:ext cx="431006" cy="431006"/>
          </a:xfrm>
          <a:prstGeom prst="roundRect">
            <a:avLst>
              <a:gd name="adj" fmla="val 18671"/>
            </a:avLst>
          </a:prstGeom>
          <a:solidFill>
            <a:srgbClr val="F7EDD4"/>
          </a:solidFill>
          <a:ln w="7620">
            <a:solidFill>
              <a:srgbClr val="DDD3BA"/>
            </a:solidFill>
            <a:prstDash val="solid"/>
          </a:ln>
        </p:spPr>
        <p:txBody>
          <a:bodyPr/>
          <a:lstStyle/>
          <a:p>
            <a:endParaRPr lang="en-GB"/>
          </a:p>
        </p:txBody>
      </p:sp>
      <p:sp>
        <p:nvSpPr>
          <p:cNvPr id="22" name="Text 19"/>
          <p:cNvSpPr/>
          <p:nvPr/>
        </p:nvSpPr>
        <p:spPr>
          <a:xfrm>
            <a:off x="873800" y="6542842"/>
            <a:ext cx="168116" cy="287417"/>
          </a:xfrm>
          <a:prstGeom prst="rect">
            <a:avLst/>
          </a:prstGeom>
          <a:noFill/>
          <a:ln/>
        </p:spPr>
        <p:txBody>
          <a:bodyPr wrap="none" lIns="0" tIns="0" rIns="0" bIns="0" rtlCol="0" anchor="t"/>
          <a:lstStyle/>
          <a:p>
            <a:pPr marL="0" indent="0" algn="ctr">
              <a:lnSpc>
                <a:spcPts val="2250"/>
              </a:lnSpc>
              <a:buNone/>
            </a:pPr>
            <a:r>
              <a:rPr lang="en-US" sz="2250" dirty="0">
                <a:solidFill>
                  <a:srgbClr val="454240"/>
                </a:solidFill>
                <a:latin typeface="Libre Baskerville" pitchFamily="34" charset="0"/>
                <a:ea typeface="Libre Baskerville" pitchFamily="34" charset="-122"/>
                <a:cs typeface="Libre Baskerville" pitchFamily="34" charset="-120"/>
              </a:rPr>
              <a:t>4</a:t>
            </a:r>
            <a:endParaRPr lang="en-US" sz="2250" dirty="0"/>
          </a:p>
        </p:txBody>
      </p:sp>
      <p:sp>
        <p:nvSpPr>
          <p:cNvPr id="23" name="Text 20"/>
          <p:cNvSpPr/>
          <p:nvPr/>
        </p:nvSpPr>
        <p:spPr>
          <a:xfrm>
            <a:off x="2011561" y="6447115"/>
            <a:ext cx="2394942" cy="299442"/>
          </a:xfrm>
          <a:prstGeom prst="rect">
            <a:avLst/>
          </a:prstGeom>
          <a:noFill/>
          <a:ln/>
        </p:spPr>
        <p:txBody>
          <a:bodyPr wrap="none" lIns="0" tIns="0" rIns="0" bIns="0" rtlCol="0" anchor="t"/>
          <a:lstStyle/>
          <a:p>
            <a:pPr marL="0" indent="0" algn="l">
              <a:lnSpc>
                <a:spcPts val="2350"/>
              </a:lnSpc>
              <a:buNone/>
            </a:pPr>
            <a:r>
              <a:rPr lang="en-US" sz="1850" dirty="0">
                <a:solidFill>
                  <a:srgbClr val="454240"/>
                </a:solidFill>
                <a:latin typeface="Libre Baskerville" pitchFamily="34" charset="0"/>
                <a:ea typeface="Libre Baskerville" pitchFamily="34" charset="-122"/>
                <a:cs typeface="Libre Baskerville" pitchFamily="34" charset="-120"/>
              </a:rPr>
              <a:t>Deployment Stages</a:t>
            </a:r>
            <a:endParaRPr lang="en-US" sz="1850" dirty="0"/>
          </a:p>
        </p:txBody>
      </p:sp>
      <p:sp>
        <p:nvSpPr>
          <p:cNvPr id="24" name="Text 21"/>
          <p:cNvSpPr/>
          <p:nvPr/>
        </p:nvSpPr>
        <p:spPr>
          <a:xfrm>
            <a:off x="2011561" y="6861453"/>
            <a:ext cx="6461879" cy="612934"/>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Progress from Proof of Concept to Full-Scale Deployment across multiple industries.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63059"/>
            <a:ext cx="9829086" cy="708779"/>
          </a:xfrm>
          <a:prstGeom prst="rect">
            <a:avLst/>
          </a:prstGeom>
          <a:noFill/>
          <a:ln/>
        </p:spPr>
        <p:txBody>
          <a:bodyPr wrap="none" lIns="0" tIns="0" rIns="0" bIns="0" rtlCol="0" anchor="t"/>
          <a:lstStyle/>
          <a:p>
            <a:pPr marL="0" indent="0">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Conclusion and Future Directions</a:t>
            </a:r>
            <a:endParaRPr lang="en-US" sz="4450" dirty="0"/>
          </a:p>
        </p:txBody>
      </p:sp>
      <p:pic>
        <p:nvPicPr>
          <p:cNvPr id="3" name="Image 0" descr="preencoded.png"/>
          <p:cNvPicPr>
            <a:picLocks noChangeAspect="1"/>
          </p:cNvPicPr>
          <p:nvPr/>
        </p:nvPicPr>
        <p:blipFill>
          <a:blip r:embed="rId3"/>
          <a:stretch>
            <a:fillRect/>
          </a:stretch>
        </p:blipFill>
        <p:spPr>
          <a:xfrm>
            <a:off x="2978348" y="1825466"/>
            <a:ext cx="2152055" cy="1306949"/>
          </a:xfrm>
          <a:prstGeom prst="rect">
            <a:avLst/>
          </a:prstGeom>
        </p:spPr>
      </p:pic>
      <p:sp>
        <p:nvSpPr>
          <p:cNvPr id="4" name="Text 1"/>
          <p:cNvSpPr/>
          <p:nvPr/>
        </p:nvSpPr>
        <p:spPr>
          <a:xfrm>
            <a:off x="3991094" y="2414111"/>
            <a:ext cx="126444" cy="453509"/>
          </a:xfrm>
          <a:prstGeom prst="rect">
            <a:avLst/>
          </a:prstGeom>
          <a:noFill/>
          <a:ln/>
        </p:spPr>
        <p:txBody>
          <a:bodyPr wrap="none" lIns="0" tIns="0" rIns="0" bIns="0" rtlCol="0" anchor="t"/>
          <a:lstStyle/>
          <a:p>
            <a:pPr marL="0" indent="0" algn="ctr">
              <a:lnSpc>
                <a:spcPts val="3550"/>
              </a:lnSpc>
              <a:buNone/>
            </a:pPr>
            <a:r>
              <a:rPr lang="en-US" sz="2200" dirty="0">
                <a:solidFill>
                  <a:srgbClr val="454240"/>
                </a:solidFill>
                <a:latin typeface="Libre Baskerville" pitchFamily="34" charset="0"/>
                <a:ea typeface="Libre Baskerville" pitchFamily="34" charset="-122"/>
                <a:cs typeface="Libre Baskerville" pitchFamily="34" charset="-120"/>
              </a:rPr>
              <a:t>1</a:t>
            </a:r>
            <a:endParaRPr lang="en-US" sz="2200" dirty="0"/>
          </a:p>
        </p:txBody>
      </p:sp>
      <p:sp>
        <p:nvSpPr>
          <p:cNvPr id="5" name="Text 2"/>
          <p:cNvSpPr/>
          <p:nvPr/>
        </p:nvSpPr>
        <p:spPr>
          <a:xfrm>
            <a:off x="5357217" y="2052280"/>
            <a:ext cx="3208973"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Enhanced Framework</a:t>
            </a:r>
            <a:endParaRPr lang="en-US" sz="2200" dirty="0"/>
          </a:p>
        </p:txBody>
      </p:sp>
      <p:sp>
        <p:nvSpPr>
          <p:cNvPr id="6" name="Text 3"/>
          <p:cNvSpPr/>
          <p:nvPr/>
        </p:nvSpPr>
        <p:spPr>
          <a:xfrm>
            <a:off x="5357217" y="2542699"/>
            <a:ext cx="5513784"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Scalable, efficient, and secure decentralized learning</a:t>
            </a:r>
            <a:endParaRPr lang="en-US" sz="1750" dirty="0"/>
          </a:p>
        </p:txBody>
      </p:sp>
      <p:sp>
        <p:nvSpPr>
          <p:cNvPr id="7" name="Shape 4"/>
          <p:cNvSpPr/>
          <p:nvPr/>
        </p:nvSpPr>
        <p:spPr>
          <a:xfrm>
            <a:off x="5187077" y="3145512"/>
            <a:ext cx="8592860" cy="15240"/>
          </a:xfrm>
          <a:prstGeom prst="roundRect">
            <a:avLst>
              <a:gd name="adj" fmla="val 625116"/>
            </a:avLst>
          </a:prstGeom>
          <a:solidFill>
            <a:srgbClr val="DDD3BA"/>
          </a:solidFill>
          <a:ln/>
        </p:spPr>
        <p:txBody>
          <a:bodyPr/>
          <a:lstStyle/>
          <a:p>
            <a:endParaRPr lang="en-GB"/>
          </a:p>
        </p:txBody>
      </p:sp>
      <p:pic>
        <p:nvPicPr>
          <p:cNvPr id="8" name="Image 1" descr="preencoded.png"/>
          <p:cNvPicPr>
            <a:picLocks noChangeAspect="1"/>
          </p:cNvPicPr>
          <p:nvPr/>
        </p:nvPicPr>
        <p:blipFill>
          <a:blip r:embed="rId4"/>
          <a:stretch>
            <a:fillRect/>
          </a:stretch>
        </p:blipFill>
        <p:spPr>
          <a:xfrm>
            <a:off x="1902381" y="3189089"/>
            <a:ext cx="4304109" cy="1306949"/>
          </a:xfrm>
          <a:prstGeom prst="rect">
            <a:avLst/>
          </a:prstGeom>
        </p:spPr>
      </p:pic>
      <p:sp>
        <p:nvSpPr>
          <p:cNvPr id="9" name="Text 5"/>
          <p:cNvSpPr/>
          <p:nvPr/>
        </p:nvSpPr>
        <p:spPr>
          <a:xfrm>
            <a:off x="3967043" y="3615809"/>
            <a:ext cx="174665" cy="453509"/>
          </a:xfrm>
          <a:prstGeom prst="rect">
            <a:avLst/>
          </a:prstGeom>
          <a:noFill/>
          <a:ln/>
        </p:spPr>
        <p:txBody>
          <a:bodyPr wrap="none" lIns="0" tIns="0" rIns="0" bIns="0" rtlCol="0" anchor="t"/>
          <a:lstStyle/>
          <a:p>
            <a:pPr marL="0" indent="0" algn="ctr">
              <a:lnSpc>
                <a:spcPts val="3550"/>
              </a:lnSpc>
              <a:buNone/>
            </a:pPr>
            <a:r>
              <a:rPr lang="en-US" sz="2200" dirty="0">
                <a:solidFill>
                  <a:srgbClr val="454240"/>
                </a:solidFill>
                <a:latin typeface="Libre Baskerville" pitchFamily="34" charset="0"/>
                <a:ea typeface="Libre Baskerville" pitchFamily="34" charset="-122"/>
                <a:cs typeface="Libre Baskerville" pitchFamily="34" charset="-120"/>
              </a:rPr>
              <a:t>2</a:t>
            </a:r>
            <a:endParaRPr lang="en-US" sz="2200" dirty="0"/>
          </a:p>
        </p:txBody>
      </p:sp>
      <p:sp>
        <p:nvSpPr>
          <p:cNvPr id="10" name="Text 6"/>
          <p:cNvSpPr/>
          <p:nvPr/>
        </p:nvSpPr>
        <p:spPr>
          <a:xfrm>
            <a:off x="6433304" y="34159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Broad Applicability</a:t>
            </a:r>
            <a:endParaRPr lang="en-US" sz="2200" dirty="0"/>
          </a:p>
        </p:txBody>
      </p:sp>
      <p:sp>
        <p:nvSpPr>
          <p:cNvPr id="11" name="Text 7"/>
          <p:cNvSpPr/>
          <p:nvPr/>
        </p:nvSpPr>
        <p:spPr>
          <a:xfrm>
            <a:off x="6433304" y="3906322"/>
            <a:ext cx="3776782"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Finance, healthcare, IoT, and beyond</a:t>
            </a:r>
            <a:endParaRPr lang="en-US" sz="1750" dirty="0"/>
          </a:p>
        </p:txBody>
      </p:sp>
      <p:sp>
        <p:nvSpPr>
          <p:cNvPr id="12" name="Shape 8"/>
          <p:cNvSpPr/>
          <p:nvPr/>
        </p:nvSpPr>
        <p:spPr>
          <a:xfrm>
            <a:off x="6263164" y="4509135"/>
            <a:ext cx="7516773" cy="15240"/>
          </a:xfrm>
          <a:prstGeom prst="roundRect">
            <a:avLst>
              <a:gd name="adj" fmla="val 625116"/>
            </a:avLst>
          </a:prstGeom>
          <a:solidFill>
            <a:srgbClr val="DDD3BA"/>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826294" y="4552712"/>
            <a:ext cx="6456164" cy="1306949"/>
          </a:xfrm>
          <a:prstGeom prst="rect">
            <a:avLst/>
          </a:prstGeom>
        </p:spPr>
      </p:pic>
      <p:sp>
        <p:nvSpPr>
          <p:cNvPr id="14" name="Text 9"/>
          <p:cNvSpPr/>
          <p:nvPr/>
        </p:nvSpPr>
        <p:spPr>
          <a:xfrm>
            <a:off x="3966924" y="4979432"/>
            <a:ext cx="174665" cy="453509"/>
          </a:xfrm>
          <a:prstGeom prst="rect">
            <a:avLst/>
          </a:prstGeom>
          <a:noFill/>
          <a:ln/>
        </p:spPr>
        <p:txBody>
          <a:bodyPr wrap="none" lIns="0" tIns="0" rIns="0" bIns="0" rtlCol="0" anchor="t"/>
          <a:lstStyle/>
          <a:p>
            <a:pPr marL="0" indent="0" algn="ctr">
              <a:lnSpc>
                <a:spcPts val="3550"/>
              </a:lnSpc>
              <a:buNone/>
            </a:pPr>
            <a:r>
              <a:rPr lang="en-US" sz="2200" dirty="0">
                <a:solidFill>
                  <a:srgbClr val="454240"/>
                </a:solidFill>
                <a:latin typeface="Libre Baskerville" pitchFamily="34" charset="0"/>
                <a:ea typeface="Libre Baskerville" pitchFamily="34" charset="-122"/>
                <a:cs typeface="Libre Baskerville" pitchFamily="34" charset="-120"/>
              </a:rPr>
              <a:t>3</a:t>
            </a:r>
            <a:endParaRPr lang="en-US" sz="2200" dirty="0"/>
          </a:p>
        </p:txBody>
      </p:sp>
      <p:sp>
        <p:nvSpPr>
          <p:cNvPr id="15" name="Text 10"/>
          <p:cNvSpPr/>
          <p:nvPr/>
        </p:nvSpPr>
        <p:spPr>
          <a:xfrm>
            <a:off x="7509272" y="477952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Real-World Impact</a:t>
            </a:r>
            <a:endParaRPr lang="en-US" sz="2200" dirty="0"/>
          </a:p>
        </p:txBody>
      </p:sp>
      <p:sp>
        <p:nvSpPr>
          <p:cNvPr id="16" name="Text 11"/>
          <p:cNvSpPr/>
          <p:nvPr/>
        </p:nvSpPr>
        <p:spPr>
          <a:xfrm>
            <a:off x="7509272" y="5269944"/>
            <a:ext cx="5909548"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Practical solutions for evolving technological landscapes</a:t>
            </a:r>
            <a:endParaRPr lang="en-US" sz="1750" dirty="0"/>
          </a:p>
        </p:txBody>
      </p:sp>
      <p:sp>
        <p:nvSpPr>
          <p:cNvPr id="17" name="Text 12"/>
          <p:cNvSpPr/>
          <p:nvPr/>
        </p:nvSpPr>
        <p:spPr>
          <a:xfrm>
            <a:off x="793790" y="6114812"/>
            <a:ext cx="13042821" cy="1451610"/>
          </a:xfrm>
          <a:prstGeom prst="rect">
            <a:avLst/>
          </a:prstGeom>
          <a:noFill/>
          <a:ln/>
        </p:spPr>
        <p:txBody>
          <a:bodyPr wrap="square" lIns="0" tIns="0" rIns="0" bIns="0" rtlCol="0" anchor="t"/>
          <a:lstStyle/>
          <a:p>
            <a:pPr marL="0" indent="0">
              <a:lnSpc>
                <a:spcPts val="2850"/>
              </a:lnSpc>
              <a:buNone/>
            </a:pPr>
            <a:r>
              <a:rPr lang="en-US" sz="1750" dirty="0">
                <a:solidFill>
                  <a:srgbClr val="454240"/>
                </a:solidFill>
                <a:latin typeface="DM Sans" pitchFamily="34" charset="0"/>
                <a:ea typeface="DM Sans" pitchFamily="34" charset="-122"/>
                <a:cs typeface="DM Sans" pitchFamily="34" charset="-120"/>
              </a:rPr>
              <a:t>By addressing scalability, computational efficiency, and domain adaptability, these enhancements elevate Blockchain-FL-HE frameworks to a new level of practicality and impact. The integration of advanced techniques ensures the framework remains relevant in evolving technological landscapes, enabling secure and efficient decentralized learning across diverse domains.</a:t>
            </a:r>
            <a:endParaRPr lang="en-US" sz="1750" dirty="0"/>
          </a:p>
        </p:txBody>
      </p:sp>
      <p:sp>
        <p:nvSpPr>
          <p:cNvPr id="18" name="Rectangle 17">
            <a:extLst>
              <a:ext uri="{FF2B5EF4-FFF2-40B4-BE49-F238E27FC236}">
                <a16:creationId xmlns:a16="http://schemas.microsoft.com/office/drawing/2014/main" id="{428B230C-B543-8322-232D-F4C0A426488B}"/>
              </a:ext>
            </a:extLst>
          </p:cNvPr>
          <p:cNvSpPr/>
          <p:nvPr/>
        </p:nvSpPr>
        <p:spPr>
          <a:xfrm>
            <a:off x="12612029" y="7672038"/>
            <a:ext cx="1918010" cy="446049"/>
          </a:xfrm>
          <a:prstGeom prst="rect">
            <a:avLst/>
          </a:prstGeom>
          <a:solidFill>
            <a:srgbClr val="FFFDFA"/>
          </a:solidFill>
          <a:ln>
            <a:solidFill>
              <a:srgbClr val="FFFD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4D73228578DF4DB485C574B69A0DE9" ma:contentTypeVersion="19" ma:contentTypeDescription="Create a new document." ma:contentTypeScope="" ma:versionID="07bbe69fc3f1fbca2bc802ccda49db93">
  <xsd:schema xmlns:xsd="http://www.w3.org/2001/XMLSchema" xmlns:xs="http://www.w3.org/2001/XMLSchema" xmlns:p="http://schemas.microsoft.com/office/2006/metadata/properties" xmlns:ns2="5433951f-06c3-4618-8b57-3de8e57a9660" xmlns:ns3="7998ff36-f67b-497d-9ba5-0737ce74e881" targetNamespace="http://schemas.microsoft.com/office/2006/metadata/properties" ma:root="true" ma:fieldsID="a5777dd8618320f8e0beb65f4027c6b3" ns2:_="" ns3:_="">
    <xsd:import namespace="5433951f-06c3-4618-8b57-3de8e57a9660"/>
    <xsd:import namespace="7998ff36-f67b-497d-9ba5-0737ce74e88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33951f-06c3-4618-8b57-3de8e57a96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6c391430-282c-4efc-a0b4-564a13fcb9c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998ff36-f67b-497d-9ba5-0737ce74e88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897c669-3ed7-4334-ac95-78863e79177a}" ma:internalName="TaxCatchAll" ma:showField="CatchAllData" ma:web="7998ff36-f67b-497d-9ba5-0737ce74e88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998ff36-f67b-497d-9ba5-0737ce74e881" xsi:nil="true"/>
    <lcf76f155ced4ddcb4097134ff3c332f xmlns="5433951f-06c3-4618-8b57-3de8e57a966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E6E7964-EE37-46BC-BC06-1C410F9996DB}"/>
</file>

<file path=customXml/itemProps2.xml><?xml version="1.0" encoding="utf-8"?>
<ds:datastoreItem xmlns:ds="http://schemas.openxmlformats.org/officeDocument/2006/customXml" ds:itemID="{9D005FD3-6502-46EE-B0D3-404741AE1B57}"/>
</file>

<file path=customXml/itemProps3.xml><?xml version="1.0" encoding="utf-8"?>
<ds:datastoreItem xmlns:ds="http://schemas.openxmlformats.org/officeDocument/2006/customXml" ds:itemID="{C591A164-2EE6-4A66-98BE-CD14152BA7B6}"/>
</file>

<file path=docProps/app.xml><?xml version="1.0" encoding="utf-8"?>
<Properties xmlns="http://schemas.openxmlformats.org/officeDocument/2006/extended-properties" xmlns:vt="http://schemas.openxmlformats.org/officeDocument/2006/docPropsVTypes">
  <TotalTime>1</TotalTime>
  <Words>548</Words>
  <Application>Microsoft Office PowerPoint</Application>
  <PresentationFormat>Custom</PresentationFormat>
  <Paragraphs>82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DM Sans</vt:lpstr>
      <vt:lpstr>Arial</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IBRAM MILAD ZAKI GHALI</cp:lastModifiedBy>
  <cp:revision>1</cp:revision>
  <dcterms:created xsi:type="dcterms:W3CDTF">2024-12-12T04:37:56Z</dcterms:created>
  <dcterms:modified xsi:type="dcterms:W3CDTF">2024-12-12T04:39:48Z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0x010100364D73228578DF4DB485C574B69A0DE9</vt:lpwstr>
  </property>
</Properties>
</file>